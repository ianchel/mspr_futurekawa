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sldIdLst>
    <p:sldId id="374" r:id="rId5"/>
    <p:sldId id="367" r:id="rId6"/>
    <p:sldId id="312" r:id="rId7"/>
    <p:sldId id="313" r:id="rId8"/>
    <p:sldId id="442" r:id="rId9"/>
    <p:sldId id="435" r:id="rId10"/>
    <p:sldId id="356" r:id="rId11"/>
    <p:sldId id="408" r:id="rId12"/>
    <p:sldId id="317" r:id="rId13"/>
    <p:sldId id="409" r:id="rId14"/>
    <p:sldId id="410" r:id="rId15"/>
    <p:sldId id="413" r:id="rId16"/>
    <p:sldId id="414" r:id="rId17"/>
    <p:sldId id="415" r:id="rId18"/>
    <p:sldId id="417" r:id="rId19"/>
    <p:sldId id="418" r:id="rId20"/>
    <p:sldId id="419" r:id="rId21"/>
    <p:sldId id="443" r:id="rId22"/>
    <p:sldId id="421" r:id="rId23"/>
    <p:sldId id="333" r:id="rId24"/>
    <p:sldId id="422" r:id="rId25"/>
    <p:sldId id="423" r:id="rId26"/>
    <p:sldId id="424" r:id="rId27"/>
    <p:sldId id="425" r:id="rId28"/>
    <p:sldId id="426" r:id="rId29"/>
    <p:sldId id="427" r:id="rId30"/>
    <p:sldId id="428" r:id="rId31"/>
    <p:sldId id="429" r:id="rId32"/>
    <p:sldId id="430" r:id="rId33"/>
    <p:sldId id="349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9758B3-A1E0-4993-89EE-159C5C69D55E}" v="39" dt="2026-07-08T13:16:51.7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877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A76D7-BF49-179D-5FF3-39423301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0EAE85-2992-06B4-F44F-FDD1123C8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54155-2DF8-E444-1056-29A144AC0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Voici</a:t>
            </a:r>
            <a:r>
              <a:rPr lang="en-US"/>
              <a:t> le MCD </a:t>
            </a:r>
            <a:r>
              <a:rPr lang="en-US" err="1"/>
              <a:t>complet</a:t>
            </a:r>
            <a:r>
              <a:rPr lang="en-US"/>
              <a:t>.</a:t>
            </a:r>
            <a:br>
              <a:rPr lang="en-US">
                <a:cs typeface="+mn-lt"/>
              </a:rPr>
            </a:br>
            <a:br>
              <a:rPr lang="en-US">
                <a:cs typeface="+mn-lt"/>
              </a:rPr>
            </a:br>
            <a:r>
              <a:rPr lang="en-US"/>
              <a:t>Le bloc mauve, </a:t>
            </a:r>
            <a:r>
              <a:rPr lang="en-US" err="1"/>
              <a:t>c'est</a:t>
            </a:r>
            <a:r>
              <a:rPr lang="en-US"/>
              <a:t> la </a:t>
            </a:r>
            <a:r>
              <a:rPr lang="en-US" err="1"/>
              <a:t>géographie</a:t>
            </a:r>
            <a:r>
              <a:rPr lang="en-US"/>
              <a:t> : on part de la </a:t>
            </a:r>
            <a:r>
              <a:rPr lang="en-US" err="1"/>
              <a:t>Région</a:t>
            </a:r>
            <a:r>
              <a:rPr lang="en-US"/>
              <a:t>, qui </a:t>
            </a:r>
            <a:r>
              <a:rPr lang="en-US" err="1"/>
              <a:t>contient</a:t>
            </a:r>
            <a:r>
              <a:rPr lang="en-US"/>
              <a:t> les Départements, qui </a:t>
            </a:r>
            <a:r>
              <a:rPr lang="en-US" err="1"/>
              <a:t>contiennent</a:t>
            </a:r>
            <a:r>
              <a:rPr lang="en-US"/>
              <a:t> les Cantons, </a:t>
            </a:r>
            <a:r>
              <a:rPr lang="en-US" err="1"/>
              <a:t>reliés</a:t>
            </a:r>
            <a:r>
              <a:rPr lang="en-US"/>
              <a:t> aux </a:t>
            </a:r>
            <a:r>
              <a:rPr lang="en-US" err="1"/>
              <a:t>Territoires</a:t>
            </a:r>
            <a:r>
              <a:rPr lang="en-US"/>
              <a:t>, </a:t>
            </a:r>
            <a:r>
              <a:rPr lang="en-US" err="1"/>
              <a:t>c'est</a:t>
            </a:r>
            <a:r>
              <a:rPr lang="en-US"/>
              <a:t>-à-dire les communes..</a:t>
            </a:r>
            <a:br>
              <a:rPr lang="en-US">
                <a:cs typeface="+mn-lt"/>
              </a:rPr>
            </a:br>
            <a:br>
              <a:rPr lang="en-US">
                <a:cs typeface="+mn-lt"/>
              </a:rPr>
            </a:br>
            <a:r>
              <a:rPr lang="en-US"/>
              <a:t>Le bloc vert, </a:t>
            </a:r>
            <a:r>
              <a:rPr lang="en-US" err="1"/>
              <a:t>c'est</a:t>
            </a:r>
            <a:r>
              <a:rPr lang="en-US"/>
              <a:t> </a:t>
            </a:r>
            <a:r>
              <a:rPr lang="en-US" err="1"/>
              <a:t>l'électoral</a:t>
            </a:r>
            <a:r>
              <a:rPr lang="en-US"/>
              <a:t> : les </a:t>
            </a:r>
            <a:r>
              <a:rPr lang="en-US" err="1"/>
              <a:t>entités</a:t>
            </a:r>
            <a:r>
              <a:rPr lang="en-US"/>
              <a:t> Élection, </a:t>
            </a:r>
            <a:r>
              <a:rPr lang="en-US" err="1"/>
              <a:t>Candidat</a:t>
            </a:r>
            <a:r>
              <a:rPr lang="en-US"/>
              <a:t> et Résultat. Elles stockent les vrais résultats de vote de 2022, qui nous servent à valider nos prédictions.</a:t>
            </a:r>
            <a:br>
              <a:rPr lang="en-US">
                <a:cs typeface="+mn-lt"/>
              </a:rPr>
            </a:br>
            <a:br>
              <a:rPr lang="en-US">
                <a:cs typeface="+mn-lt"/>
              </a:rPr>
            </a:br>
            <a:r>
              <a:rPr lang="en-US"/>
              <a:t>Le bloc orange, c'est le cœur du projet : l'Indicateur socio-économique. Il porte les variables d'évolution entre 2016 et 2022 — population, emploi, chômage, logement — et la cible que le modèle doit apprendre.</a:t>
            </a:r>
            <a:br>
              <a:rPr lang="en-US">
                <a:cs typeface="+mn-lt"/>
              </a:rPr>
            </a:br>
            <a:br>
              <a:rPr lang="en-US">
                <a:cs typeface="+mn-lt"/>
              </a:rPr>
            </a:br>
            <a:r>
              <a:rPr lang="en-US"/>
              <a:t>Et le bloc rouge, ce sont les sorties : le Modèle ML s'entraîne sur les indicateurs, génère des Prédictions par canton, et produit des Tendances projetées.</a:t>
            </a:r>
            <a:br>
              <a:rPr lang="en-US">
                <a:cs typeface="+mn-lt"/>
              </a:rPr>
            </a:br>
            <a:br>
              <a:rPr lang="en-US">
                <a:cs typeface="+mn-lt"/>
              </a:rPr>
            </a:br>
            <a:r>
              <a:rPr lang="en-US"/>
              <a:t>Ce schéma suit exactement le chemin de la donnée : du territoire jusqu'à la prévision.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--</a:t>
            </a:r>
            <a:r>
              <a:rPr lang="en-US" err="1">
                <a:ea typeface="Calibri"/>
                <a:cs typeface="Calibri"/>
              </a:rPr>
              <a:t>comme</a:t>
            </a:r>
            <a:r>
              <a:rPr lang="en-US">
                <a:ea typeface="Calibri"/>
                <a:cs typeface="Calibri"/>
              </a:rPr>
              <a:t> vous </a:t>
            </a:r>
            <a:r>
              <a:rPr lang="en-US" err="1">
                <a:ea typeface="Calibri"/>
                <a:cs typeface="Calibri"/>
              </a:rPr>
              <a:t>voyez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/>
              <a:t>L'entité</a:t>
            </a:r>
            <a:r>
              <a:rPr lang="en-US"/>
              <a:t> </a:t>
            </a:r>
            <a:r>
              <a:rPr lang="en-US" err="1"/>
              <a:t>Résultat</a:t>
            </a:r>
            <a:r>
              <a:rPr lang="en-US"/>
              <a:t> </a:t>
            </a:r>
            <a:r>
              <a:rPr lang="en-US" err="1"/>
              <a:t>sert</a:t>
            </a:r>
            <a:r>
              <a:rPr lang="en-US"/>
              <a:t> </a:t>
            </a:r>
            <a:r>
              <a:rPr lang="en-US" err="1"/>
              <a:t>justement</a:t>
            </a:r>
            <a:r>
              <a:rPr lang="en-US"/>
              <a:t> à </a:t>
            </a:r>
            <a:r>
              <a:rPr lang="en-US" err="1"/>
              <a:t>dénouer</a:t>
            </a:r>
            <a:r>
              <a:rPr lang="en-US"/>
              <a:t> </a:t>
            </a:r>
            <a:r>
              <a:rPr lang="en-US" err="1"/>
              <a:t>cette</a:t>
            </a:r>
            <a:r>
              <a:rPr lang="en-US"/>
              <a:t> relation </a:t>
            </a:r>
            <a:r>
              <a:rPr lang="en-US" err="1"/>
              <a:t>complexe</a:t>
            </a:r>
            <a:r>
              <a:rPr lang="en-US"/>
              <a:t>--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09B90-9890-131D-11DE-FB9A1F0F0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248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 Cette grille relie chaque classe économique à une orientation de vote : Crise → Extrême-Droite, Stable → Centre, Boom → Extrême-Gauche. C'est ce mapping qui nous permet de traduire les prédictions ML en scores électoraux par département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D942-6E0F-8D85-B011-E661AE80E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1915E-26E7-FCAC-E80B-0AE3D8C04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C29F1-DF6D-D08F-9848-1FE94D4A3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Ce qui </a:t>
            </a:r>
            <a:r>
              <a:rPr lang="en-US" err="1"/>
              <a:t>garantit</a:t>
            </a:r>
            <a:r>
              <a:rPr lang="en-US"/>
              <a:t> la </a:t>
            </a:r>
            <a:r>
              <a:rPr lang="en-US" err="1"/>
              <a:t>cohérence</a:t>
            </a:r>
            <a:r>
              <a:rPr lang="en-US"/>
              <a:t> du </a:t>
            </a:r>
            <a:r>
              <a:rPr lang="en-US" err="1"/>
              <a:t>modèle</a:t>
            </a:r>
            <a:r>
              <a:rPr lang="en-US"/>
              <a:t>, </a:t>
            </a:r>
            <a:r>
              <a:rPr lang="en-US" err="1"/>
              <a:t>C'est</a:t>
            </a:r>
            <a:r>
              <a:rPr lang="en-US"/>
              <a:t> les relation entre les </a:t>
            </a:r>
            <a:r>
              <a:rPr lang="en-US" err="1"/>
              <a:t>entites</a:t>
            </a:r>
            <a:r>
              <a:rPr lang="en-US"/>
              <a:t>.</a:t>
            </a:r>
            <a:br>
              <a:rPr lang="en-US">
                <a:cs typeface="+mn-lt"/>
              </a:rPr>
            </a:br>
            <a:r>
              <a:rPr lang="en-US"/>
              <a:t> </a:t>
            </a:r>
            <a:br>
              <a:rPr lang="en-US">
                <a:cs typeface="+mn-lt"/>
              </a:rPr>
            </a:br>
            <a:r>
              <a:rPr lang="en-US"/>
              <a:t>Premier type, un-à-</a:t>
            </a:r>
            <a:r>
              <a:rPr lang="en-US" err="1"/>
              <a:t>plusieurs</a:t>
            </a:r>
            <a:r>
              <a:rPr lang="en-US"/>
              <a:t>, pour la </a:t>
            </a:r>
            <a:r>
              <a:rPr lang="en-US" err="1"/>
              <a:t>géographie</a:t>
            </a:r>
            <a:r>
              <a:rPr lang="en-US"/>
              <a:t> : un département </a:t>
            </a:r>
            <a:r>
              <a:rPr lang="en-US" err="1"/>
              <a:t>regroupe</a:t>
            </a:r>
            <a:r>
              <a:rPr lang="en-US"/>
              <a:t> </a:t>
            </a:r>
            <a:r>
              <a:rPr lang="en-US" err="1"/>
              <a:t>plusieurs</a:t>
            </a:r>
            <a:r>
              <a:rPr lang="en-US"/>
              <a:t> cantons,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chaque</a:t>
            </a:r>
            <a:r>
              <a:rPr lang="en-US"/>
              <a:t> canton </a:t>
            </a:r>
            <a:r>
              <a:rPr lang="en-US" err="1"/>
              <a:t>n'appartient</a:t>
            </a:r>
            <a:r>
              <a:rPr lang="en-US"/>
              <a:t> </a:t>
            </a:r>
            <a:r>
              <a:rPr lang="en-US" err="1"/>
              <a:t>qu'à</a:t>
            </a:r>
            <a:r>
              <a:rPr lang="en-US"/>
              <a:t> un seul département. </a:t>
            </a:r>
            <a:r>
              <a:rPr lang="en-US" err="1"/>
              <a:t>Même</a:t>
            </a:r>
            <a:r>
              <a:rPr lang="en-US"/>
              <a:t> </a:t>
            </a:r>
            <a:r>
              <a:rPr lang="en-US" err="1"/>
              <a:t>principe</a:t>
            </a:r>
            <a:r>
              <a:rPr lang="en-US"/>
              <a:t> entre </a:t>
            </a:r>
            <a:r>
              <a:rPr lang="en-US" err="1"/>
              <a:t>Région</a:t>
            </a:r>
            <a:r>
              <a:rPr lang="en-US"/>
              <a:t> et Département. </a:t>
            </a:r>
            <a:r>
              <a:rPr lang="en-US" err="1"/>
              <a:t>C'est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qui nous </a:t>
            </a:r>
            <a:r>
              <a:rPr lang="en-US" err="1"/>
              <a:t>permet</a:t>
            </a:r>
            <a:r>
              <a:rPr lang="en-US"/>
              <a:t> de </a:t>
            </a:r>
            <a:r>
              <a:rPr lang="en-US" err="1"/>
              <a:t>remonter</a:t>
            </a:r>
            <a:r>
              <a:rPr lang="en-US"/>
              <a:t> du canton </a:t>
            </a:r>
            <a:r>
              <a:rPr lang="en-US" err="1"/>
              <a:t>jusqu'à</a:t>
            </a:r>
            <a:r>
              <a:rPr lang="en-US"/>
              <a:t> la </a:t>
            </a:r>
            <a:r>
              <a:rPr lang="en-US" err="1"/>
              <a:t>région</a:t>
            </a:r>
            <a:r>
              <a:rPr lang="en-US"/>
              <a:t>.</a:t>
            </a:r>
            <a:br>
              <a:rPr lang="en-US">
                <a:cs typeface="+mn-lt"/>
              </a:rPr>
            </a:br>
            <a:r>
              <a:rPr lang="en-US"/>
              <a:t> </a:t>
            </a:r>
            <a:br>
              <a:rPr lang="en-US">
                <a:cs typeface="+mn-lt"/>
              </a:rPr>
            </a:br>
            <a:r>
              <a:rPr lang="en-US"/>
              <a:t>Deuxième type, </a:t>
            </a:r>
            <a:r>
              <a:rPr lang="en-US" err="1"/>
              <a:t>aussi</a:t>
            </a:r>
            <a:r>
              <a:rPr lang="en-US"/>
              <a:t> un-à-</a:t>
            </a:r>
            <a:r>
              <a:rPr lang="en-US" err="1"/>
              <a:t>plusieurs</a:t>
            </a:r>
            <a:r>
              <a:rPr lang="en-US"/>
              <a:t>, pour les </a:t>
            </a:r>
            <a:r>
              <a:rPr lang="en-US" err="1"/>
              <a:t>mesures</a:t>
            </a:r>
            <a:r>
              <a:rPr lang="en-US"/>
              <a:t> dans le temps : un </a:t>
            </a:r>
            <a:r>
              <a:rPr lang="en-US" err="1"/>
              <a:t>même</a:t>
            </a:r>
            <a:r>
              <a:rPr lang="en-US"/>
              <a:t> </a:t>
            </a:r>
            <a:r>
              <a:rPr lang="en-US" err="1"/>
              <a:t>territoire</a:t>
            </a:r>
            <a:r>
              <a:rPr lang="en-US"/>
              <a:t> </a:t>
            </a:r>
            <a:r>
              <a:rPr lang="en-US" err="1"/>
              <a:t>possède</a:t>
            </a:r>
            <a:r>
              <a:rPr lang="en-US"/>
              <a:t> un </a:t>
            </a:r>
            <a:r>
              <a:rPr lang="en-US" err="1"/>
              <a:t>indicateur</a:t>
            </a:r>
            <a:r>
              <a:rPr lang="en-US"/>
              <a:t> par </a:t>
            </a:r>
            <a:r>
              <a:rPr lang="en-US" err="1"/>
              <a:t>millésime</a:t>
            </a:r>
            <a:r>
              <a:rPr lang="en-US"/>
              <a:t>, un pour 2016 et un pour 2022. </a:t>
            </a:r>
            <a:r>
              <a:rPr lang="en-US" err="1"/>
              <a:t>C'est</a:t>
            </a:r>
            <a:r>
              <a:rPr lang="en-US"/>
              <a:t> </a:t>
            </a:r>
            <a:r>
              <a:rPr lang="en-US" err="1"/>
              <a:t>exactement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double point de </a:t>
            </a:r>
            <a:r>
              <a:rPr lang="en-US" err="1"/>
              <a:t>mesure</a:t>
            </a:r>
            <a:r>
              <a:rPr lang="en-US"/>
              <a:t> qui rend possible le </a:t>
            </a:r>
            <a:r>
              <a:rPr lang="en-US" err="1"/>
              <a:t>calcul</a:t>
            </a:r>
            <a:r>
              <a:rPr lang="en-US"/>
              <a:t> des </a:t>
            </a:r>
            <a:r>
              <a:rPr lang="en-US" err="1"/>
              <a:t>évolutions</a:t>
            </a:r>
            <a:r>
              <a:rPr lang="en-US"/>
              <a:t> — le delta — qui est le </a:t>
            </a:r>
            <a:r>
              <a:rPr lang="en-US" err="1"/>
              <a:t>cœur</a:t>
            </a:r>
            <a:r>
              <a:rPr lang="en-US"/>
              <a:t> de </a:t>
            </a:r>
            <a:r>
              <a:rPr lang="en-US" err="1"/>
              <a:t>notre</a:t>
            </a:r>
            <a:r>
              <a:rPr lang="en-US"/>
              <a:t> </a:t>
            </a:r>
            <a:r>
              <a:rPr lang="en-US" err="1"/>
              <a:t>approche</a:t>
            </a:r>
            <a:r>
              <a:rPr lang="en-US"/>
              <a:t>.</a:t>
            </a:r>
            <a:br>
              <a:rPr lang="en-US">
                <a:cs typeface="+mn-lt"/>
              </a:rPr>
            </a:br>
            <a:r>
              <a:rPr lang="en-US"/>
              <a:t> </a:t>
            </a:r>
            <a:br>
              <a:rPr lang="en-US">
                <a:cs typeface="+mn-lt"/>
              </a:rPr>
            </a:br>
            <a:r>
              <a:rPr lang="en-US" err="1"/>
              <a:t>Troisième</a:t>
            </a:r>
            <a:r>
              <a:rPr lang="en-US"/>
              <a:t> type, </a:t>
            </a:r>
            <a:r>
              <a:rPr lang="en-US" err="1"/>
              <a:t>plusieurs</a:t>
            </a:r>
            <a:r>
              <a:rPr lang="en-US"/>
              <a:t>-à-</a:t>
            </a:r>
            <a:r>
              <a:rPr lang="en-US" err="1"/>
              <a:t>plusieurs</a:t>
            </a:r>
            <a:r>
              <a:rPr lang="en-US"/>
              <a:t>, pour les </a:t>
            </a:r>
            <a:r>
              <a:rPr lang="en-US" err="1"/>
              <a:t>résultats</a:t>
            </a:r>
            <a:r>
              <a:rPr lang="en-US"/>
              <a:t> </a:t>
            </a:r>
            <a:r>
              <a:rPr lang="en-US" err="1"/>
              <a:t>électoraux</a:t>
            </a:r>
            <a:r>
              <a:rPr lang="en-US"/>
              <a:t> : un </a:t>
            </a:r>
            <a:r>
              <a:rPr lang="en-US" err="1"/>
              <a:t>candidat</a:t>
            </a:r>
            <a:r>
              <a:rPr lang="en-US"/>
              <a:t> </a:t>
            </a:r>
            <a:r>
              <a:rPr lang="en-US" err="1"/>
              <a:t>obtient</a:t>
            </a:r>
            <a:r>
              <a:rPr lang="en-US"/>
              <a:t> des voix dans </a:t>
            </a:r>
            <a:r>
              <a:rPr lang="en-US" err="1"/>
              <a:t>plusieurs</a:t>
            </a:r>
            <a:r>
              <a:rPr lang="en-US"/>
              <a:t> cantons, et un canton vote pour </a:t>
            </a:r>
            <a:r>
              <a:rPr lang="en-US" err="1"/>
              <a:t>plusieurs</a:t>
            </a:r>
            <a:r>
              <a:rPr lang="en-US"/>
              <a:t> </a:t>
            </a:r>
            <a:r>
              <a:rPr lang="en-US" err="1"/>
              <a:t>candidats</a:t>
            </a:r>
            <a:r>
              <a:rPr lang="en-US"/>
              <a:t>.</a:t>
            </a:r>
            <a:endParaRPr lang="en-US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66264-EC2F-5615-27F3-604AA83C6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452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Notre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objectif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était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de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prédire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l'orientation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électorale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de la region Nouvelle-Aquitaine à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partir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des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indicateurs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socio-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économiques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. Pour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cela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, on a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construit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un pipeline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en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six étapes.</a:t>
            </a:r>
            <a:endParaRPr lang="en-US"/>
          </a:p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 </a:t>
            </a:r>
            <a:endParaRPr lang="en-US"/>
          </a:p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On commence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d'abord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par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notre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jeu de données de 40 000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lignes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, 171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colonnes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— dans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lequel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on extrait les 27 variables delta,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c'est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-à-dire les variations des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indicateurs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entre 2016 et 2022 :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évolution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de la population, du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chômage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, des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logements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, de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l'emploi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.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C'est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la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colonne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vertébrale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de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notre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approche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.</a:t>
            </a:r>
            <a:endParaRPr lang="en-US"/>
          </a:p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 </a:t>
            </a:r>
            <a:endParaRPr lang="en-US"/>
          </a:p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La variable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cible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est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construite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en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5 classes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économiques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— Crise,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Déclin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, Stable,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Croissance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, Boom — avec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une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distribution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réaliste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: 40% Stables, 10%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seulement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en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Boom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ou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en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Crise et 20% pour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declin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.</a:t>
            </a:r>
            <a:endParaRPr lang="en-US">
              <a:highlight>
                <a:srgbClr val="FFFFFF"/>
              </a:highlight>
            </a:endParaRPr>
          </a:p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 </a:t>
            </a:r>
            <a:endParaRPr lang="fr-FR"/>
          </a:p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 </a:t>
            </a:r>
            <a:endParaRPr lang="fr-FR"/>
          </a:p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On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divise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les données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en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80% pour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l'entraînement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et 20% pour le test et  On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normalise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ensuite avec un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StandardScaler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pour le model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LinearSVM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.</a:t>
            </a:r>
            <a:endParaRPr lang="fr-FR"/>
          </a:p>
          <a:p>
            <a:endParaRPr lang="en-US">
              <a:solidFill>
                <a:srgbClr val="242424"/>
              </a:solidFill>
              <a:highlight>
                <a:srgbClr val="FFFFFF"/>
              </a:highlight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9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MSPR TPRE814  ·  BLOC 4 — IOT ET SYSTÈMES D'INFORMATION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9144000" cy="201168"/>
          </a:xfrm>
          <a:prstGeom prst="rect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err="1">
                <a:solidFill>
                  <a:srgbClr val="3A2B6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600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Solution de </a:t>
            </a:r>
            <a:r>
              <a:rPr lang="en-US" sz="2400" b="1" err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suivi</a:t>
            </a:r>
            <a:r>
              <a:rPr lang="en-US" sz="2400" b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 des stocks et des conditions de stockage (IoT)</a:t>
            </a:r>
            <a:endParaRPr lang="en-US" sz="2400">
              <a:latin typeface="Bookman Old Style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880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technique · Prototype avancé · Brésil · Équateur · Colombie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91440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ÉLABORÉ PAR L'ÉQUIPE PROJET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Tarek Izerrouken   ·   Sofiane Chelghoum   ·   Yassine Moudjahid   ·   Kelly Tsanga   ·   Sara Haddad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914400" y="3913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Encadrante : Samah GHALLOUSSI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0" y="4315968"/>
            <a:ext cx="9144000" cy="201168"/>
          </a:xfrm>
          <a:prstGeom prst="rect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3" name="Shape 11"/>
          <p:cNvSpPr/>
          <p:nvPr/>
        </p:nvSpPr>
        <p:spPr>
          <a:xfrm>
            <a:off x="0" y="4517136"/>
            <a:ext cx="9144000" cy="626364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2"/>
          <p:cNvSpPr/>
          <p:nvPr/>
        </p:nvSpPr>
        <p:spPr>
          <a:xfrm>
            <a:off x="0" y="4517136"/>
            <a:ext cx="914400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 · Certification RNCP 35584 — Niveau 7 · MSPR TPRE814 Bloc 4</a:t>
            </a:r>
            <a:endParaRPr lang="en-US" sz="1150"/>
          </a:p>
        </p:txBody>
      </p:sp>
    </p:spTree>
    <p:extLst>
      <p:ext uri="{BB962C8B-B14F-4D97-AF65-F5344CB8AC3E}">
        <p14:creationId xmlns:p14="http://schemas.microsoft.com/office/powerpoint/2010/main" val="81139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</a:t>
            </a:r>
            <a:endParaRPr lang="en-US" sz="3000"/>
          </a:p>
        </p:txBody>
      </p:sp>
      <p:sp>
        <p:nvSpPr>
          <p:cNvPr id="16" name="Shape 13"/>
          <p:cNvSpPr/>
          <p:nvPr/>
        </p:nvSpPr>
        <p:spPr>
          <a:xfrm>
            <a:off x="1856232" y="2057400"/>
            <a:ext cx="1234440" cy="566928"/>
          </a:xfrm>
          <a:prstGeom prst="chevron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7" name="Text 14"/>
          <p:cNvSpPr/>
          <p:nvPr/>
        </p:nvSpPr>
        <p:spPr>
          <a:xfrm>
            <a:off x="1856232" y="20574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/>
          </a:p>
        </p:txBody>
      </p:sp>
      <p:sp>
        <p:nvSpPr>
          <p:cNvPr id="18" name="Shape 15"/>
          <p:cNvSpPr/>
          <p:nvPr/>
        </p:nvSpPr>
        <p:spPr>
          <a:xfrm>
            <a:off x="2473452" y="2624328"/>
            <a:ext cx="0" cy="502920"/>
          </a:xfrm>
          <a:prstGeom prst="line">
            <a:avLst/>
          </a:prstGeom>
          <a:noFill/>
          <a:ln w="15875">
            <a:solidFill>
              <a:srgbClr val="3968C0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9" name="Shape 16"/>
          <p:cNvSpPr/>
          <p:nvPr/>
        </p:nvSpPr>
        <p:spPr>
          <a:xfrm>
            <a:off x="2016252" y="3090672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968C0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0" name="Shape 17"/>
          <p:cNvSpPr/>
          <p:nvPr/>
        </p:nvSpPr>
        <p:spPr>
          <a:xfrm>
            <a:off x="2052828" y="3127248"/>
            <a:ext cx="841248" cy="841248"/>
          </a:xfrm>
          <a:prstGeom prst="ellipse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965" y="3354385"/>
            <a:ext cx="386974" cy="38697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764792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>
                <a:solidFill>
                  <a:srgbClr val="3968C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Présentation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3968C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du projet</a:t>
            </a:r>
            <a:endParaRPr lang="en-US" sz="1150"/>
          </a:p>
        </p:txBody>
      </p:sp>
      <p:sp>
        <p:nvSpPr>
          <p:cNvPr id="23" name="Shape 19"/>
          <p:cNvSpPr/>
          <p:nvPr/>
        </p:nvSpPr>
        <p:spPr>
          <a:xfrm>
            <a:off x="3255264" y="2057400"/>
            <a:ext cx="1234440" cy="566928"/>
          </a:xfrm>
          <a:prstGeom prst="chevron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4" name="Text 20"/>
          <p:cNvSpPr/>
          <p:nvPr/>
        </p:nvSpPr>
        <p:spPr>
          <a:xfrm>
            <a:off x="3255264" y="20574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/>
          </a:p>
        </p:txBody>
      </p:sp>
      <p:sp>
        <p:nvSpPr>
          <p:cNvPr id="25" name="Shape 21"/>
          <p:cNvSpPr/>
          <p:nvPr/>
        </p:nvSpPr>
        <p:spPr>
          <a:xfrm>
            <a:off x="3872484" y="2624328"/>
            <a:ext cx="0" cy="502920"/>
          </a:xfrm>
          <a:prstGeom prst="line">
            <a:avLst/>
          </a:prstGeom>
          <a:noFill/>
          <a:ln w="15875">
            <a:solidFill>
              <a:srgbClr val="E15A5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6" name="Shape 22"/>
          <p:cNvSpPr/>
          <p:nvPr/>
        </p:nvSpPr>
        <p:spPr>
          <a:xfrm>
            <a:off x="3415284" y="3090672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15A5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7" name="Shape 23"/>
          <p:cNvSpPr/>
          <p:nvPr/>
        </p:nvSpPr>
        <p:spPr>
          <a:xfrm>
            <a:off x="3451860" y="3127248"/>
            <a:ext cx="841248" cy="841248"/>
          </a:xfrm>
          <a:prstGeom prst="ellipse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997" y="3354385"/>
            <a:ext cx="386974" cy="38697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163824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>
                <a:solidFill>
                  <a:srgbClr val="E15A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Conception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E15A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la solution</a:t>
            </a:r>
            <a:endParaRPr lang="en-US" sz="1150"/>
          </a:p>
        </p:txBody>
      </p:sp>
      <p:sp>
        <p:nvSpPr>
          <p:cNvPr id="30" name="Shape 25"/>
          <p:cNvSpPr/>
          <p:nvPr/>
        </p:nvSpPr>
        <p:spPr>
          <a:xfrm>
            <a:off x="4654296" y="2057400"/>
            <a:ext cx="1234440" cy="566928"/>
          </a:xfrm>
          <a:prstGeom prst="chevron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1" name="Text 26"/>
          <p:cNvSpPr/>
          <p:nvPr/>
        </p:nvSpPr>
        <p:spPr>
          <a:xfrm>
            <a:off x="4654296" y="20574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/>
          </a:p>
        </p:txBody>
      </p:sp>
      <p:sp>
        <p:nvSpPr>
          <p:cNvPr id="32" name="Shape 27"/>
          <p:cNvSpPr/>
          <p:nvPr/>
        </p:nvSpPr>
        <p:spPr>
          <a:xfrm>
            <a:off x="5271516" y="2624328"/>
            <a:ext cx="0" cy="502920"/>
          </a:xfrm>
          <a:prstGeom prst="line">
            <a:avLst/>
          </a:prstGeom>
          <a:noFill/>
          <a:ln w="15875">
            <a:solidFill>
              <a:srgbClr val="DEA345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3" name="Shape 28"/>
          <p:cNvSpPr/>
          <p:nvPr/>
        </p:nvSpPr>
        <p:spPr>
          <a:xfrm>
            <a:off x="4814316" y="3090672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A345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4" name="Shape 29"/>
          <p:cNvSpPr/>
          <p:nvPr/>
        </p:nvSpPr>
        <p:spPr>
          <a:xfrm>
            <a:off x="4850892" y="3127248"/>
            <a:ext cx="841248" cy="841248"/>
          </a:xfrm>
          <a:prstGeom prst="ellipse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8029" y="3354385"/>
            <a:ext cx="386974" cy="38697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562856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>
                <a:solidFill>
                  <a:srgbClr val="DEA3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Qualité &amp;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DEA3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industrialisation</a:t>
            </a:r>
            <a:endParaRPr lang="en-US" sz="1150"/>
          </a:p>
        </p:txBody>
      </p:sp>
      <p:sp>
        <p:nvSpPr>
          <p:cNvPr id="37" name="Shape 31"/>
          <p:cNvSpPr/>
          <p:nvPr/>
        </p:nvSpPr>
        <p:spPr>
          <a:xfrm>
            <a:off x="6053328" y="2057400"/>
            <a:ext cx="1234440" cy="566928"/>
          </a:xfrm>
          <a:prstGeom prst="chevron">
            <a:avLst/>
          </a:prstGeom>
          <a:solidFill>
            <a:srgbClr val="1B7967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8" name="Text 32"/>
          <p:cNvSpPr/>
          <p:nvPr/>
        </p:nvSpPr>
        <p:spPr>
          <a:xfrm>
            <a:off x="6053328" y="20574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/>
          </a:p>
        </p:txBody>
      </p:sp>
      <p:sp>
        <p:nvSpPr>
          <p:cNvPr id="39" name="Shape 33"/>
          <p:cNvSpPr/>
          <p:nvPr/>
        </p:nvSpPr>
        <p:spPr>
          <a:xfrm>
            <a:off x="6670548" y="2624328"/>
            <a:ext cx="0" cy="502920"/>
          </a:xfrm>
          <a:prstGeom prst="line">
            <a:avLst/>
          </a:prstGeom>
          <a:noFill/>
          <a:ln w="15875">
            <a:solidFill>
              <a:srgbClr val="1B796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0" name="Shape 34"/>
          <p:cNvSpPr/>
          <p:nvPr/>
        </p:nvSpPr>
        <p:spPr>
          <a:xfrm>
            <a:off x="6213348" y="3090672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796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1" name="Shape 35"/>
          <p:cNvSpPr/>
          <p:nvPr/>
        </p:nvSpPr>
        <p:spPr>
          <a:xfrm>
            <a:off x="6249924" y="3127248"/>
            <a:ext cx="841248" cy="841248"/>
          </a:xfrm>
          <a:prstGeom prst="ellipse">
            <a:avLst/>
          </a:prstGeom>
          <a:solidFill>
            <a:srgbClr val="1B7967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61" y="3354385"/>
            <a:ext cx="386974" cy="38697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961888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Déploiement &amp; bilan</a:t>
            </a:r>
            <a:endParaRPr lang="en-US" sz="1150"/>
          </a:p>
        </p:txBody>
      </p:sp>
      <p:sp>
        <p:nvSpPr>
          <p:cNvPr id="51" name="Text 43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52" name="Text 44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50"/>
          </a:p>
        </p:txBody>
      </p:sp>
      <p:sp>
        <p:nvSpPr>
          <p:cNvPr id="53" name="Shape 45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4" name="Shape 46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5" name="Text 47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191088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0" y="1600200"/>
            <a:ext cx="2194560" cy="868680"/>
          </a:xfrm>
          <a:prstGeom prst="rect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1828800" y="1600200"/>
            <a:ext cx="914400" cy="86868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2194560" cy="868680"/>
          </a:xfrm>
          <a:prstGeom prst="rect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1828800" y="2606040"/>
            <a:ext cx="914400" cy="86868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828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>
                <a:solidFill>
                  <a:srgbClr val="22A8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960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960120" cy="960120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952" y="1493672"/>
            <a:ext cx="441655" cy="4416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17720" y="21717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>
                <a:solidFill>
                  <a:srgbClr val="22A8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PARTIE I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4572000" y="27432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err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Présentation</a:t>
            </a:r>
            <a:r>
              <a:rPr lang="en-US" sz="3600" b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du </a:t>
            </a:r>
            <a:r>
              <a:rPr lang="en-US" sz="3600" b="1" err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projet</a:t>
            </a:r>
            <a:endParaRPr lang="en-US" sz="3600"/>
          </a:p>
        </p:txBody>
      </p:sp>
      <p:sp>
        <p:nvSpPr>
          <p:cNvPr id="12" name="Text 9"/>
          <p:cNvSpPr/>
          <p:nvPr/>
        </p:nvSpPr>
        <p:spPr>
          <a:xfrm>
            <a:off x="4617720" y="39090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Recueillir</a:t>
            </a: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 métier et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cadrer</a:t>
            </a: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FutureKawa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8229600" y="4617720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1"/>
          <p:cNvSpPr/>
          <p:nvPr/>
        </p:nvSpPr>
        <p:spPr>
          <a:xfrm>
            <a:off x="8229600" y="461772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 : contexte &amp; enjeux métier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err="1">
                <a:solidFill>
                  <a:srgbClr val="1B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FutureKawa</a:t>
            </a:r>
            <a:r>
              <a:rPr lang="en-US" sz="1300" b="1">
                <a:solidFill>
                  <a:srgbClr val="1B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</a:t>
            </a:r>
            <a:r>
              <a:rPr lang="en-US" sz="1300" err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3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</a:t>
            </a:r>
            <a:r>
              <a:rPr lang="en-US" sz="13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internationale</a:t>
            </a:r>
            <a:r>
              <a:rPr lang="en-US" sz="13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err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caféiculture</a:t>
            </a:r>
            <a:r>
              <a:rPr lang="en-US" sz="13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de </a:t>
            </a:r>
            <a:r>
              <a:rPr lang="en-US" sz="1300" err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r>
              <a:rPr lang="en-US" sz="13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café vert, avec des plantations </a:t>
            </a:r>
            <a:r>
              <a:rPr lang="en-US" sz="1300" err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réparties</a:t>
            </a:r>
            <a:r>
              <a:rPr lang="en-US" sz="13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 </a:t>
            </a:r>
            <a:r>
              <a:rPr lang="en-US" sz="1300" err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Brésil</a:t>
            </a:r>
            <a:r>
              <a:rPr lang="en-US" sz="13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err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Équateur et </a:t>
            </a:r>
            <a:r>
              <a:rPr lang="en-US" sz="1300" err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Colombie</a:t>
            </a:r>
            <a:r>
              <a:rPr lang="en-US" sz="13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problème du stockage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de stockage variables d'un entrepôt à l'autre, sans suivi fiable.</a:t>
            </a:r>
            <a:endParaRPr lang="en-US" sz="130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encore semi-manuel : relevés papier, tableurs hétérogènes.</a:t>
            </a:r>
            <a:endParaRPr lang="en-US" sz="130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FIFO peu fiable et preuves de conformité difficiles à produire.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4983480" y="1554480"/>
            <a:ext cx="3657600" cy="91440"/>
          </a:xfrm>
          <a:prstGeom prst="rect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3" name="Shape 11"/>
          <p:cNvSpPr/>
          <p:nvPr/>
        </p:nvSpPr>
        <p:spPr>
          <a:xfrm>
            <a:off x="4983480" y="1645920"/>
            <a:ext cx="3657600" cy="324612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2"/>
          <p:cNvSpPr/>
          <p:nvPr/>
        </p:nvSpPr>
        <p:spPr>
          <a:xfrm>
            <a:off x="5257800" y="1810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22A8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CARTE D'IDENTITÉ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5257800" y="21579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BB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5257800" y="23500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Caféiculture &amp; logistique de café vert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5257800" y="26837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BB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IMPLANTATION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5257800" y="28757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Brésil · Équateur · Colombie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5257800" y="32095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BB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DE VALEUR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5257800" y="34015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→ lots → stockage → distribution B2B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5257800" y="37353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BB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COMMANDITAIRE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5257800" y="39273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des Opérations et de la Qualité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5257800" y="42611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BB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5257800" y="44531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aromatique liée aux conditions de conservation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8" name="Shape 26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9" name="Text 27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Problématique &amp; objectifs du projet</a:t>
            </a:r>
            <a:endParaRPr lang="en-US" sz="260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8138160" cy="685800"/>
          </a:xfrm>
          <a:prstGeom prst="rect">
            <a:avLst/>
          </a:prstGeom>
          <a:solidFill>
            <a:srgbClr val="F4F2F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0" name="Text 8"/>
          <p:cNvSpPr/>
          <p:nvPr/>
        </p:nvSpPr>
        <p:spPr>
          <a:xfrm>
            <a:off x="685800" y="162763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1B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 </a:t>
            </a:r>
            <a:r>
              <a:rPr lang="en-US" sz="125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garantir et prouver, pour des clients exigeants, que chaque lot de café vert a été conservé dans de bonnes conditions, du stockage jusqu'à l'expédition ?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1883664" cy="54864"/>
          </a:xfrm>
          <a:prstGeom prst="rect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2" name="Shape 10"/>
          <p:cNvSpPr/>
          <p:nvPr/>
        </p:nvSpPr>
        <p:spPr>
          <a:xfrm>
            <a:off x="502920" y="2569464"/>
            <a:ext cx="188366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566928" cy="56692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91" y="2941991"/>
            <a:ext cx="260787" cy="26078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20800" y="2788920"/>
            <a:ext cx="106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Centraliser le suivi</a:t>
            </a:r>
            <a:endParaRPr lang="en-US" sz="1150"/>
          </a:p>
        </p:txBody>
      </p:sp>
      <p:sp>
        <p:nvSpPr>
          <p:cNvPr id="16" name="Text 13"/>
          <p:cNvSpPr/>
          <p:nvPr/>
        </p:nvSpPr>
        <p:spPr>
          <a:xfrm>
            <a:off x="731520" y="347472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unifié des stocks par pays et par entrepôt.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2587752" y="2514600"/>
            <a:ext cx="1883664" cy="54864"/>
          </a:xfrm>
          <a:prstGeom prst="rect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Shape 15"/>
          <p:cNvSpPr/>
          <p:nvPr/>
        </p:nvSpPr>
        <p:spPr>
          <a:xfrm>
            <a:off x="2587752" y="2569464"/>
            <a:ext cx="188366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19" name="Shape 16"/>
          <p:cNvSpPr/>
          <p:nvPr/>
        </p:nvSpPr>
        <p:spPr>
          <a:xfrm>
            <a:off x="2816352" y="2788920"/>
            <a:ext cx="566928" cy="566928"/>
          </a:xfrm>
          <a:prstGeom prst="ellipse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9423" y="2941991"/>
            <a:ext cx="260787" cy="26078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03600" y="2788920"/>
            <a:ext cx="106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Garantir la traçabilité</a:t>
            </a:r>
            <a:endParaRPr lang="en-US" sz="1150"/>
          </a:p>
        </p:txBody>
      </p:sp>
      <p:sp>
        <p:nvSpPr>
          <p:cNvPr id="22" name="Text 18"/>
          <p:cNvSpPr/>
          <p:nvPr/>
        </p:nvSpPr>
        <p:spPr>
          <a:xfrm>
            <a:off x="2816352" y="347472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des lots depuis leur entrée en stockage.</a:t>
            </a:r>
            <a:endParaRPr lang="en-US" sz="1100"/>
          </a:p>
        </p:txBody>
      </p:sp>
      <p:sp>
        <p:nvSpPr>
          <p:cNvPr id="23" name="Shape 19"/>
          <p:cNvSpPr/>
          <p:nvPr/>
        </p:nvSpPr>
        <p:spPr>
          <a:xfrm>
            <a:off x="4672584" y="2514600"/>
            <a:ext cx="1883664" cy="54864"/>
          </a:xfrm>
          <a:prstGeom prst="rect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4" name="Shape 20"/>
          <p:cNvSpPr/>
          <p:nvPr/>
        </p:nvSpPr>
        <p:spPr>
          <a:xfrm>
            <a:off x="4672584" y="2569464"/>
            <a:ext cx="188366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25" name="Shape 21"/>
          <p:cNvSpPr/>
          <p:nvPr/>
        </p:nvSpPr>
        <p:spPr>
          <a:xfrm>
            <a:off x="4901184" y="2788920"/>
            <a:ext cx="566928" cy="566928"/>
          </a:xfrm>
          <a:prstGeom prst="ellipse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7" name="Text 22"/>
          <p:cNvSpPr/>
          <p:nvPr/>
        </p:nvSpPr>
        <p:spPr>
          <a:xfrm>
            <a:off x="5486400" y="2788920"/>
            <a:ext cx="106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Surveiller les conditions</a:t>
            </a:r>
            <a:endParaRPr lang="en-US" sz="1150"/>
          </a:p>
        </p:txBody>
      </p:sp>
      <p:sp>
        <p:nvSpPr>
          <p:cNvPr id="28" name="Text 23"/>
          <p:cNvSpPr/>
          <p:nvPr/>
        </p:nvSpPr>
        <p:spPr>
          <a:xfrm>
            <a:off x="4901184" y="347472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Relevés IoT température / humidité en continu.</a:t>
            </a:r>
            <a:endParaRPr lang="en-US" sz="1100"/>
          </a:p>
        </p:txBody>
      </p:sp>
      <p:sp>
        <p:nvSpPr>
          <p:cNvPr id="29" name="Shape 24"/>
          <p:cNvSpPr/>
          <p:nvPr/>
        </p:nvSpPr>
        <p:spPr>
          <a:xfrm>
            <a:off x="6757416" y="2514600"/>
            <a:ext cx="1883664" cy="54864"/>
          </a:xfrm>
          <a:prstGeom prst="rect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0" name="Shape 25"/>
          <p:cNvSpPr/>
          <p:nvPr/>
        </p:nvSpPr>
        <p:spPr>
          <a:xfrm>
            <a:off x="6757416" y="2569464"/>
            <a:ext cx="188366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31" name="Shape 26"/>
          <p:cNvSpPr/>
          <p:nvPr/>
        </p:nvSpPr>
        <p:spPr>
          <a:xfrm>
            <a:off x="6986016" y="2788920"/>
            <a:ext cx="566928" cy="566928"/>
          </a:xfrm>
          <a:prstGeom prst="ellipse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27"/>
          <p:cNvSpPr/>
          <p:nvPr/>
        </p:nvSpPr>
        <p:spPr>
          <a:xfrm>
            <a:off x="7569200" y="2788920"/>
            <a:ext cx="106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Détecter &amp; signaler</a:t>
            </a:r>
            <a:endParaRPr lang="en-US" sz="1150"/>
          </a:p>
        </p:txBody>
      </p:sp>
      <p:sp>
        <p:nvSpPr>
          <p:cNvPr id="34" name="Text 28"/>
          <p:cNvSpPr/>
          <p:nvPr/>
        </p:nvSpPr>
        <p:spPr>
          <a:xfrm>
            <a:off x="6986016" y="347472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Dérives de conditions et lots trop anciens.</a:t>
            </a:r>
            <a:endParaRPr lang="en-US" sz="1100"/>
          </a:p>
        </p:txBody>
      </p:sp>
      <p:sp>
        <p:nvSpPr>
          <p:cNvPr id="35" name="Text 29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6" name="Text 30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/>
          </a:p>
        </p:txBody>
      </p:sp>
      <p:sp>
        <p:nvSpPr>
          <p:cNvPr id="37" name="Shape 31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8" name="Shape 32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9" name="Text 33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pic>
        <p:nvPicPr>
          <p:cNvPr id="40" name="Graphic 40" descr="Thermomèt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4600" y="2946400"/>
            <a:ext cx="266700" cy="266700"/>
          </a:xfrm>
          <a:prstGeom prst="rect">
            <a:avLst/>
          </a:prstGeom>
        </p:spPr>
      </p:pic>
      <p:pic>
        <p:nvPicPr>
          <p:cNvPr id="41" name="Graphic 41" descr="Cloche d'aler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7400" y="2946400"/>
            <a:ext cx="2667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174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Collecte des besoins métier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Entretiens semi-directifs avec les parties prenantes : exploitation, entrepôt, qualité, Supply Chain, DSI.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25877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502920" cy="502920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3" name="Text 10"/>
          <p:cNvSpPr/>
          <p:nvPr/>
        </p:nvSpPr>
        <p:spPr>
          <a:xfrm>
            <a:off x="1280160" y="2121408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Centraliser le suivi</a:t>
            </a:r>
            <a:endParaRPr lang="en-US" sz="1300"/>
          </a:p>
        </p:txBody>
      </p:sp>
      <p:sp>
        <p:nvSpPr>
          <p:cNvPr id="14" name="Text 11"/>
          <p:cNvSpPr/>
          <p:nvPr/>
        </p:nvSpPr>
        <p:spPr>
          <a:xfrm>
            <a:off x="685800" y="2670048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centralisée par pays et par entrepôt.</a:t>
            </a:r>
            <a:endParaRPr lang="en-US" sz="1050"/>
          </a:p>
        </p:txBody>
      </p:sp>
      <p:sp>
        <p:nvSpPr>
          <p:cNvPr id="15" name="Shape 12"/>
          <p:cNvSpPr/>
          <p:nvPr/>
        </p:nvSpPr>
        <p:spPr>
          <a:xfrm>
            <a:off x="3273552" y="1920240"/>
            <a:ext cx="25877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16" name="Shape 13"/>
          <p:cNvSpPr/>
          <p:nvPr/>
        </p:nvSpPr>
        <p:spPr>
          <a:xfrm>
            <a:off x="3456432" y="2121408"/>
            <a:ext cx="502920" cy="502920"/>
          </a:xfrm>
          <a:prstGeom prst="ellipse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Text 14"/>
          <p:cNvSpPr/>
          <p:nvPr/>
        </p:nvSpPr>
        <p:spPr>
          <a:xfrm>
            <a:off x="4050792" y="2121408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Automatiser les relevés</a:t>
            </a:r>
            <a:endParaRPr lang="en-US" sz="1300"/>
          </a:p>
        </p:txBody>
      </p:sp>
      <p:sp>
        <p:nvSpPr>
          <p:cNvPr id="19" name="Text 15"/>
          <p:cNvSpPr/>
          <p:nvPr/>
        </p:nvSpPr>
        <p:spPr>
          <a:xfrm>
            <a:off x="3456432" y="2670048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IoT + broker MQTT, sans saisie manuelle.</a:t>
            </a:r>
            <a:endParaRPr lang="en-US" sz="1050"/>
          </a:p>
        </p:txBody>
      </p:sp>
      <p:sp>
        <p:nvSpPr>
          <p:cNvPr id="20" name="Shape 16"/>
          <p:cNvSpPr/>
          <p:nvPr/>
        </p:nvSpPr>
        <p:spPr>
          <a:xfrm>
            <a:off x="6044184" y="1920240"/>
            <a:ext cx="25877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21" name="Shape 17"/>
          <p:cNvSpPr/>
          <p:nvPr/>
        </p:nvSpPr>
        <p:spPr>
          <a:xfrm>
            <a:off x="6227064" y="2121408"/>
            <a:ext cx="502920" cy="502920"/>
          </a:xfrm>
          <a:prstGeom prst="ellipse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3" name="Text 18"/>
          <p:cNvSpPr/>
          <p:nvPr/>
        </p:nvSpPr>
        <p:spPr>
          <a:xfrm>
            <a:off x="6821424" y="2121408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Être alerté</a:t>
            </a:r>
            <a:endParaRPr lang="en-US" sz="1300"/>
          </a:p>
        </p:txBody>
      </p:sp>
      <p:sp>
        <p:nvSpPr>
          <p:cNvPr id="24" name="Text 19"/>
          <p:cNvSpPr/>
          <p:nvPr/>
        </p:nvSpPr>
        <p:spPr>
          <a:xfrm>
            <a:off x="6227064" y="2670048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d'alertes + e-mail : dérives et péremption.</a:t>
            </a:r>
            <a:endParaRPr lang="en-US" sz="1050"/>
          </a:p>
        </p:txBody>
      </p:sp>
      <p:sp>
        <p:nvSpPr>
          <p:cNvPr id="25" name="Shape 20"/>
          <p:cNvSpPr/>
          <p:nvPr/>
        </p:nvSpPr>
        <p:spPr>
          <a:xfrm>
            <a:off x="502920" y="3355848"/>
            <a:ext cx="25877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26" name="Shape 21"/>
          <p:cNvSpPr/>
          <p:nvPr/>
        </p:nvSpPr>
        <p:spPr>
          <a:xfrm>
            <a:off x="685800" y="3557016"/>
            <a:ext cx="502920" cy="502920"/>
          </a:xfrm>
          <a:prstGeom prst="ellipse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8" name="Text 22"/>
          <p:cNvSpPr/>
          <p:nvPr/>
        </p:nvSpPr>
        <p:spPr>
          <a:xfrm>
            <a:off x="1280160" y="3557016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Consulter l'historique</a:t>
            </a:r>
            <a:endParaRPr lang="en-US" sz="1300"/>
          </a:p>
        </p:txBody>
      </p:sp>
      <p:sp>
        <p:nvSpPr>
          <p:cNvPr id="29" name="Text 23"/>
          <p:cNvSpPr/>
          <p:nvPr/>
        </p:nvSpPr>
        <p:spPr>
          <a:xfrm>
            <a:off x="685800" y="4105656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Historisation des mesures, courbes température/humidité.</a:t>
            </a:r>
            <a:endParaRPr lang="en-US" sz="1050"/>
          </a:p>
        </p:txBody>
      </p:sp>
      <p:sp>
        <p:nvSpPr>
          <p:cNvPr id="30" name="Shape 24"/>
          <p:cNvSpPr/>
          <p:nvPr/>
        </p:nvSpPr>
        <p:spPr>
          <a:xfrm>
            <a:off x="3273552" y="3355848"/>
            <a:ext cx="25877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31" name="Shape 25"/>
          <p:cNvSpPr/>
          <p:nvPr/>
        </p:nvSpPr>
        <p:spPr>
          <a:xfrm>
            <a:off x="3456432" y="3557016"/>
            <a:ext cx="502920" cy="502920"/>
          </a:xfrm>
          <a:prstGeom prst="ellipse">
            <a:avLst/>
          </a:prstGeom>
          <a:solidFill>
            <a:srgbClr val="5A647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26"/>
          <p:cNvSpPr/>
          <p:nvPr/>
        </p:nvSpPr>
        <p:spPr>
          <a:xfrm>
            <a:off x="4050792" y="3557016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Sécuriser l'accès</a:t>
            </a:r>
            <a:endParaRPr lang="en-US" sz="1300"/>
          </a:p>
        </p:txBody>
      </p:sp>
      <p:sp>
        <p:nvSpPr>
          <p:cNvPr id="34" name="Text 27"/>
          <p:cNvSpPr/>
          <p:nvPr/>
        </p:nvSpPr>
        <p:spPr>
          <a:xfrm>
            <a:off x="3456432" y="4105656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 + RBAC, isolation par pays.</a:t>
            </a:r>
            <a:endParaRPr lang="en-US" sz="1050"/>
          </a:p>
        </p:txBody>
      </p:sp>
      <p:sp>
        <p:nvSpPr>
          <p:cNvPr id="35" name="Text 28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6" name="Text 29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/>
          </a:p>
        </p:txBody>
      </p:sp>
      <p:sp>
        <p:nvSpPr>
          <p:cNvPr id="37" name="Shape 30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8" name="Shape 31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9" name="Text 32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/>
          </a:p>
        </p:txBody>
      </p:sp>
      <p:pic>
        <p:nvPicPr>
          <p:cNvPr id="40" name="Graphic 40" descr="Tableau de bord / écran web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500" y="2260600"/>
            <a:ext cx="228600" cy="228600"/>
          </a:xfrm>
          <a:prstGeom prst="rect">
            <a:avLst/>
          </a:prstGeom>
        </p:spPr>
      </p:pic>
      <p:pic>
        <p:nvPicPr>
          <p:cNvPr id="41" name="Graphic 41" descr="Puce électronique / capteu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4100" y="2260600"/>
            <a:ext cx="228600" cy="228600"/>
          </a:xfrm>
          <a:prstGeom prst="rect">
            <a:avLst/>
          </a:prstGeom>
        </p:spPr>
      </p:pic>
      <p:pic>
        <p:nvPicPr>
          <p:cNvPr id="42" name="Graphic 42" descr="Cloche d'aler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2700" y="2260600"/>
            <a:ext cx="228600" cy="228600"/>
          </a:xfrm>
          <a:prstGeom prst="rect">
            <a:avLst/>
          </a:prstGeom>
        </p:spPr>
      </p:pic>
      <p:pic>
        <p:nvPicPr>
          <p:cNvPr id="43" name="Graphic 43" descr="Horloge / historiqu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" y="3695700"/>
            <a:ext cx="228600" cy="228600"/>
          </a:xfrm>
          <a:prstGeom prst="rect">
            <a:avLst/>
          </a:prstGeom>
        </p:spPr>
      </p:pic>
      <p:pic>
        <p:nvPicPr>
          <p:cNvPr id="44" name="Graphic 44" descr="Caden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94100" y="369570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72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Méthodologie de collecte des besoins</a:t>
            </a:r>
            <a:endParaRPr lang="en-US" sz="2600"/>
          </a:p>
        </p:txBody>
      </p:sp>
      <p:sp>
        <p:nvSpPr>
          <p:cNvPr id="9" name="Shape 7"/>
          <p:cNvSpPr/>
          <p:nvPr/>
        </p:nvSpPr>
        <p:spPr>
          <a:xfrm>
            <a:off x="1417320" y="1524000"/>
            <a:ext cx="384048" cy="384048"/>
          </a:xfrm>
          <a:prstGeom prst="ellipse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0" name="Text 8"/>
          <p:cNvSpPr/>
          <p:nvPr/>
        </p:nvSpPr>
        <p:spPr>
          <a:xfrm>
            <a:off x="1417320" y="1524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1965960" y="1485900"/>
            <a:ext cx="5760720" cy="457200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2" name="Text 10"/>
          <p:cNvSpPr/>
          <p:nvPr/>
        </p:nvSpPr>
        <p:spPr>
          <a:xfrm>
            <a:off x="2148840" y="14859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structuré en 4 catégories, avec les parties prenantes du projet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1417320" y="21844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2"/>
          <p:cNvSpPr/>
          <p:nvPr/>
        </p:nvSpPr>
        <p:spPr>
          <a:xfrm>
            <a:off x="1417320" y="218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1965960" y="2146300"/>
            <a:ext cx="5760720" cy="457200"/>
          </a:xfrm>
          <a:prstGeom prst="rect">
            <a:avLst/>
          </a:prstGeom>
          <a:solidFill>
            <a:srgbClr val="E4F4EF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6" name="Text 14"/>
          <p:cNvSpPr/>
          <p:nvPr/>
        </p:nvSpPr>
        <p:spPr>
          <a:xfrm>
            <a:off x="2148840" y="21463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problématiques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actuels (exploitation, entrepôt, qualité, siège) ; suivi manuel, réclamations, dérives non détectées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1417320" y="28448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Text 16"/>
          <p:cNvSpPr/>
          <p:nvPr/>
        </p:nvSpPr>
        <p:spPr>
          <a:xfrm>
            <a:off x="1417320" y="284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1965960" y="2806700"/>
            <a:ext cx="5760720" cy="457200"/>
          </a:xfrm>
          <a:prstGeom prst="rect">
            <a:avLst/>
          </a:prstGeom>
          <a:solidFill>
            <a:srgbClr val="FBF1DD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0" name="Text 18"/>
          <p:cNvSpPr/>
          <p:nvPr/>
        </p:nvSpPr>
        <p:spPr>
          <a:xfrm>
            <a:off x="2148840" y="28067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&amp; contraintes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automatiques, historique, vue multi-pays ; accès par rôle/pays, contraintes réseau terrain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1417320" y="35052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2" name="Text 20"/>
          <p:cNvSpPr/>
          <p:nvPr/>
        </p:nvSpPr>
        <p:spPr>
          <a:xfrm>
            <a:off x="1417320" y="3505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1965960" y="3467100"/>
            <a:ext cx="5760720" cy="457200"/>
          </a:xfrm>
          <a:prstGeom prst="rect">
            <a:avLst/>
          </a:prstGeom>
          <a:solidFill>
            <a:srgbClr val="ECE8F4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4" name="Text 22"/>
          <p:cNvSpPr/>
          <p:nvPr/>
        </p:nvSpPr>
        <p:spPr>
          <a:xfrm>
            <a:off x="2148840" y="34671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Retranscription &amp; priorisation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synthèse besoin → fonctionnalité → priorité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1417320" y="4165600"/>
            <a:ext cx="384048" cy="384048"/>
          </a:xfrm>
          <a:prstGeom prst="ellipse">
            <a:avLst/>
          </a:prstGeom>
          <a:solidFill>
            <a:srgbClr val="1B7967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4" name="Text 32"/>
          <p:cNvSpPr/>
          <p:nvPr/>
        </p:nvSpPr>
        <p:spPr>
          <a:xfrm>
            <a:off x="1417320" y="4165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</a:t>
            </a:r>
            <a:endParaRPr lang="en-US" sz="1400"/>
          </a:p>
        </p:txBody>
      </p:sp>
      <p:sp>
        <p:nvSpPr>
          <p:cNvPr id="35" name="Shape 33"/>
          <p:cNvSpPr/>
          <p:nvPr/>
        </p:nvSpPr>
        <p:spPr>
          <a:xfrm>
            <a:off x="1965960" y="4127500"/>
            <a:ext cx="5760720" cy="457200"/>
          </a:xfrm>
          <a:prstGeom prst="rect">
            <a:avLst/>
          </a:prstGeom>
          <a:solidFill>
            <a:srgbClr val="E9F3E4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6" name="Text 34"/>
          <p:cNvSpPr/>
          <p:nvPr/>
        </p:nvSpPr>
        <p:spPr>
          <a:xfrm>
            <a:off x="2148840" y="41275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fonctionnels prioritaires qui orientent l'architecture (partie II)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0" name="Shape 38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1" name="Text 39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838556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Organisation &amp; gestion de projet</a:t>
            </a:r>
            <a:endParaRPr lang="en-US" sz="2800"/>
          </a:p>
        </p:txBody>
      </p:sp>
      <p:sp>
        <p:nvSpPr>
          <p:cNvPr id="25" name="Text 23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8" name="Shape 26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9" name="Text 27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/>
          </a:p>
        </p:txBody>
      </p:sp>
      <p:sp>
        <p:nvSpPr>
          <p:cNvPr id="200" name="Subtitle"/>
          <p:cNvSpPr txBox="1"/>
          <p:nvPr/>
        </p:nvSpPr>
        <p:spPr>
          <a:xfrm>
            <a:off x="457200" y="1473200"/>
            <a:ext cx="822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5A5A66"/>
                </a:solidFill>
                <a:latin typeface="Calibri" pitchFamily="34" charset="0"/>
              </a:rPr>
              <a:t>Un pilotage en méthode agile via un tableau Trello</a:t>
            </a:r>
          </a:p>
        </p:txBody>
      </p:sp>
      <p:sp>
        <p:nvSpPr>
          <p:cNvPr id="202" name="Card Repartition"/>
          <p:cNvSpPr/>
          <p:nvPr/>
        </p:nvSpPr>
        <p:spPr>
          <a:xfrm>
            <a:off x="5588000" y="1879600"/>
            <a:ext cx="3048000" cy="8001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0C6E8"/>
            </a:solidFill>
          </a:ln>
        </p:spPr>
        <p:txBody>
          <a:bodyPr wrap="square" lIns="54864" tIns="27432" rIns="54864" bIns="27432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3A2B62"/>
                </a:solidFill>
                <a:latin typeface="Calibri" pitchFamily="34" charset="0"/>
              </a:rPr>
              <a:t>Répartition des tâches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Colonnes Kanban : à faire, en cours, en revue, terminé</a:t>
            </a:r>
          </a:p>
        </p:txBody>
      </p:sp>
      <p:sp>
        <p:nvSpPr>
          <p:cNvPr id="203" name="Card Priorisation"/>
          <p:cNvSpPr/>
          <p:nvPr/>
        </p:nvSpPr>
        <p:spPr>
          <a:xfrm>
            <a:off x="5588000" y="2781300"/>
            <a:ext cx="3048000" cy="8001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0C6E8"/>
            </a:solidFill>
          </a:ln>
        </p:spPr>
        <p:txBody>
          <a:bodyPr wrap="square" lIns="54864" tIns="27432" rIns="54864" bIns="27432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B7967"/>
                </a:solidFill>
                <a:latin typeface="Calibri" pitchFamily="34" charset="0"/>
              </a:rPr>
              <a:t>Priorisation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Backlog issu de la collecte des besoins (partie I)</a:t>
            </a:r>
          </a:p>
        </p:txBody>
      </p:sp>
      <p:sp>
        <p:nvSpPr>
          <p:cNvPr id="204" name="Card Suivi"/>
          <p:cNvSpPr/>
          <p:nvPr/>
        </p:nvSpPr>
        <p:spPr>
          <a:xfrm>
            <a:off x="5588000" y="3683000"/>
            <a:ext cx="3048000" cy="8001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0C6E8"/>
            </a:solidFill>
          </a:ln>
        </p:spPr>
        <p:txBody>
          <a:bodyPr wrap="square" lIns="54864" tIns="27432" rIns="54864" bIns="27432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3A2B62"/>
                </a:solidFill>
                <a:latin typeface="Calibri" pitchFamily="34" charset="0"/>
              </a:rPr>
              <a:t>Suivi &amp; collaboration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Cartes assignées par membre ; équipe synchronisée en continu</a:t>
            </a:r>
          </a:p>
        </p:txBody>
      </p:sp>
      <p:sp>
        <p:nvSpPr>
          <p:cNvPr id="205" name="Caption"/>
          <p:cNvSpPr txBox="1"/>
          <p:nvPr/>
        </p:nvSpPr>
        <p:spPr>
          <a:xfrm>
            <a:off x="508000" y="45593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400" i="1">
                <a:solidFill>
                  <a:srgbClr val="2B2B3A"/>
                </a:solidFill>
                <a:latin typeface="Calibri" pitchFamily="34" charset="0"/>
              </a:rPr>
              <a:t>Le tableau Trello matérialise l'organisation agile de l'équipe et la traçabilité de l'avancement du projet.</a:t>
            </a:r>
          </a:p>
        </p:txBody>
      </p:sp>
      <p:pic>
        <p:nvPicPr>
          <p:cNvPr id="9" name="Image 8" descr="Une image contenant texte, capture d’écran, Logiciel multimédia, logiciel&#10;&#10;Le contenu généré par l’IA peut être incorrect.">
            <a:extLst>
              <a:ext uri="{FF2B5EF4-FFF2-40B4-BE49-F238E27FC236}">
                <a16:creationId xmlns:a16="http://schemas.microsoft.com/office/drawing/2014/main" id="{BFC03994-49CE-0C1E-288C-F42123D47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86" y="2028273"/>
            <a:ext cx="4757057" cy="195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05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0" y="1600200"/>
            <a:ext cx="2194560" cy="868680"/>
          </a:xfrm>
          <a:prstGeom prst="rect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1828800" y="1600200"/>
            <a:ext cx="914400" cy="86868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2194560" cy="868680"/>
          </a:xfrm>
          <a:prstGeom prst="rect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1828800" y="2606040"/>
            <a:ext cx="914400" cy="86868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828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>
                <a:solidFill>
                  <a:srgbClr val="22A8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960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960120" cy="960120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952" y="1493672"/>
            <a:ext cx="441655" cy="4416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0" y="2230483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>
                <a:solidFill>
                  <a:srgbClr val="22A8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PARTIE II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4572000" y="27432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Conception de la solution</a:t>
            </a:r>
            <a:endParaRPr lang="en-US" sz="2800"/>
          </a:p>
        </p:txBody>
      </p:sp>
      <p:sp>
        <p:nvSpPr>
          <p:cNvPr id="12" name="Text 9"/>
          <p:cNvSpPr/>
          <p:nvPr/>
        </p:nvSpPr>
        <p:spPr>
          <a:xfrm>
            <a:off x="4617720" y="3703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globale</a:t>
            </a: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distribuée</a:t>
            </a: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 et module IoT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8229600" y="4617720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1"/>
          <p:cNvSpPr/>
          <p:nvPr/>
        </p:nvSpPr>
        <p:spPr>
          <a:xfrm>
            <a:off x="8229600" y="461772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Conception de la solution</a:t>
            </a:r>
            <a:endParaRPr lang="en-US" sz="15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Architecture globale distribuée</a:t>
            </a:r>
            <a:endParaRPr lang="en-US" sz="3000" err="1">
              <a:latin typeface="Bookman Old Style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0" name="Text 24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solution</a:t>
            </a:r>
            <a:endParaRPr lang="en-US" sz="850"/>
          </a:p>
        </p:txBody>
      </p:sp>
      <p:sp>
        <p:nvSpPr>
          <p:cNvPr id="31" name="Shape 25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2" name="Shape 26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27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100"/>
          </a:p>
        </p:txBody>
      </p:sp>
      <p:pic>
        <p:nvPicPr>
          <p:cNvPr id="34" name="Picture 33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005" y="1589996"/>
            <a:ext cx="6116870" cy="29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24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Conception de la solution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Composants et flux applicatifs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distribuée pays ↔ siège  </a:t>
            </a: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pays dispose d'un back-end autonome, le siège consolide l'ensemble.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1883664" cy="64008"/>
          </a:xfrm>
          <a:prstGeom prst="rect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1883664" cy="187452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2" name="Shape 10"/>
          <p:cNvSpPr/>
          <p:nvPr/>
        </p:nvSpPr>
        <p:spPr>
          <a:xfrm>
            <a:off x="1124712" y="2441448"/>
            <a:ext cx="640080" cy="640080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534" y="2614270"/>
            <a:ext cx="294437" cy="29443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2920" y="31546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Back-end pays (×3)</a:t>
            </a:r>
            <a:endParaRPr lang="en-US" sz="1350"/>
          </a:p>
        </p:txBody>
      </p:sp>
      <p:sp>
        <p:nvSpPr>
          <p:cNvPr id="15" name="Text 12"/>
          <p:cNvSpPr/>
          <p:nvPr/>
        </p:nvSpPr>
        <p:spPr>
          <a:xfrm>
            <a:off x="667512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/ Java 21 — ingestion IoT, API REST, moteur d'alertes, notification e-mail.</a:t>
            </a:r>
            <a:endParaRPr lang="en-US" sz="950"/>
          </a:p>
        </p:txBody>
      </p:sp>
      <p:sp>
        <p:nvSpPr>
          <p:cNvPr id="16" name="Shape 13"/>
          <p:cNvSpPr/>
          <p:nvPr/>
        </p:nvSpPr>
        <p:spPr>
          <a:xfrm>
            <a:off x="2587752" y="2148840"/>
            <a:ext cx="1883664" cy="64008"/>
          </a:xfrm>
          <a:prstGeom prst="rect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7" name="Shape 14"/>
          <p:cNvSpPr/>
          <p:nvPr/>
        </p:nvSpPr>
        <p:spPr>
          <a:xfrm>
            <a:off x="2587752" y="2212848"/>
            <a:ext cx="1883664" cy="187452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Shape 15"/>
          <p:cNvSpPr/>
          <p:nvPr/>
        </p:nvSpPr>
        <p:spPr>
          <a:xfrm>
            <a:off x="3209544" y="2441448"/>
            <a:ext cx="640080" cy="640080"/>
          </a:xfrm>
          <a:prstGeom prst="ellipse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366" y="2614270"/>
            <a:ext cx="294437" cy="29443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587752" y="31546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Back-end central</a:t>
            </a:r>
            <a:endParaRPr lang="en-US" sz="1350"/>
          </a:p>
        </p:txBody>
      </p:sp>
      <p:sp>
        <p:nvSpPr>
          <p:cNvPr id="21" name="Text 17"/>
          <p:cNvSpPr/>
          <p:nvPr/>
        </p:nvSpPr>
        <p:spPr>
          <a:xfrm>
            <a:off x="2752344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— consolidation multi-pays et authentification JWT, sans donnée métier.</a:t>
            </a:r>
            <a:endParaRPr lang="en-US" sz="950"/>
          </a:p>
        </p:txBody>
      </p:sp>
      <p:sp>
        <p:nvSpPr>
          <p:cNvPr id="22" name="Shape 18"/>
          <p:cNvSpPr/>
          <p:nvPr/>
        </p:nvSpPr>
        <p:spPr>
          <a:xfrm>
            <a:off x="4672584" y="2148840"/>
            <a:ext cx="1883664" cy="64008"/>
          </a:xfrm>
          <a:prstGeom prst="rect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3" name="Shape 19"/>
          <p:cNvSpPr/>
          <p:nvPr/>
        </p:nvSpPr>
        <p:spPr>
          <a:xfrm>
            <a:off x="4672584" y="2212848"/>
            <a:ext cx="1883664" cy="187452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4" name="Shape 20"/>
          <p:cNvSpPr/>
          <p:nvPr/>
        </p:nvSpPr>
        <p:spPr>
          <a:xfrm>
            <a:off x="5294376" y="2441448"/>
            <a:ext cx="640080" cy="640080"/>
          </a:xfrm>
          <a:prstGeom prst="ellipse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7198" y="2614270"/>
            <a:ext cx="294437" cy="29443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72584" y="31546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Front-end web</a:t>
            </a:r>
            <a:endParaRPr lang="en-US" sz="1350"/>
          </a:p>
        </p:txBody>
      </p:sp>
      <p:sp>
        <p:nvSpPr>
          <p:cNvPr id="27" name="Text 22"/>
          <p:cNvSpPr/>
          <p:nvPr/>
        </p:nvSpPr>
        <p:spPr>
          <a:xfrm>
            <a:off x="4837176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Vite (SPA) — stocks, courbes température/humidité, alertes.</a:t>
            </a:r>
            <a:endParaRPr lang="en-US" sz="950"/>
          </a:p>
        </p:txBody>
      </p:sp>
      <p:sp>
        <p:nvSpPr>
          <p:cNvPr id="28" name="Shape 23"/>
          <p:cNvSpPr/>
          <p:nvPr/>
        </p:nvSpPr>
        <p:spPr>
          <a:xfrm>
            <a:off x="6757416" y="2148840"/>
            <a:ext cx="1883664" cy="64008"/>
          </a:xfrm>
          <a:prstGeom prst="rect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9" name="Shape 24"/>
          <p:cNvSpPr/>
          <p:nvPr/>
        </p:nvSpPr>
        <p:spPr>
          <a:xfrm>
            <a:off x="6757416" y="2212848"/>
            <a:ext cx="1883664" cy="187452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0" name="Shape 25"/>
          <p:cNvSpPr/>
          <p:nvPr/>
        </p:nvSpPr>
        <p:spPr>
          <a:xfrm>
            <a:off x="7379208" y="2441448"/>
            <a:ext cx="640080" cy="640080"/>
          </a:xfrm>
          <a:prstGeom prst="ellipse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030" y="2614270"/>
            <a:ext cx="294437" cy="294437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757416" y="31546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Broker MQTT &amp; SMTP</a:t>
            </a:r>
            <a:endParaRPr lang="en-US" sz="1350"/>
          </a:p>
        </p:txBody>
      </p:sp>
      <p:sp>
        <p:nvSpPr>
          <p:cNvPr id="33" name="Text 27"/>
          <p:cNvSpPr/>
          <p:nvPr/>
        </p:nvSpPr>
        <p:spPr>
          <a:xfrm>
            <a:off x="6922008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Mosquitto (transport IoT) + service d'envoi d'e-mails d'alerte.</a:t>
            </a:r>
            <a:endParaRPr lang="en-US" sz="950"/>
          </a:p>
        </p:txBody>
      </p:sp>
      <p:sp>
        <p:nvSpPr>
          <p:cNvPr id="34" name="Text 28"/>
          <p:cNvSpPr/>
          <p:nvPr/>
        </p:nvSpPr>
        <p:spPr>
          <a:xfrm>
            <a:off x="502920" y="42062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flux principaux : montant (IoT → back-end pays) et consultation (front → central → pays), plus un flux d'alerte (back-end pays → SMTP).</a:t>
            </a:r>
            <a:endParaRPr lang="en-US" sz="1050"/>
          </a:p>
        </p:txBody>
      </p:sp>
      <p:sp>
        <p:nvSpPr>
          <p:cNvPr id="35" name="Text 29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6" name="Text 30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solution</a:t>
            </a:r>
            <a:endParaRPr lang="en-US" sz="850"/>
          </a:p>
        </p:txBody>
      </p:sp>
      <p:sp>
        <p:nvSpPr>
          <p:cNvPr id="37" name="Shape 31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8" name="Shape 32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9" name="Text 33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009837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409B34-13F0-1BC4-CB47-9C8852D80883}"/>
              </a:ext>
            </a:extLst>
          </p:cNvPr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974496C-FABB-DB73-9428-61E0F2C5E7FB}"/>
              </a:ext>
            </a:extLst>
          </p:cNvPr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7D22D82-948B-AE44-383C-18740E12CA72}"/>
              </a:ext>
            </a:extLst>
          </p:cNvPr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352935-AE1F-1DF4-DB7B-29BFFDD83378}"/>
              </a:ext>
            </a:extLst>
          </p:cNvPr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6BED530-2859-2DD7-1B38-D9D79DD9F73E}"/>
              </a:ext>
            </a:extLst>
          </p:cNvPr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AA584A4-BE24-7906-2918-D253D874383B}"/>
              </a:ext>
            </a:extLst>
          </p:cNvPr>
          <p:cNvSpPr/>
          <p:nvPr/>
        </p:nvSpPr>
        <p:spPr>
          <a:xfrm>
            <a:off x="302198" y="0"/>
            <a:ext cx="3485313" cy="58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Bookman Old Style"/>
              </a:rPr>
              <a:t>Le MCD du domaine « Pays »</a:t>
            </a:r>
            <a:endParaRPr lang="fr-FR"/>
          </a:p>
          <a:p>
            <a:endParaRPr lang="en-US" sz="1500" b="1">
              <a:solidFill>
                <a:srgbClr val="FFFFFF"/>
              </a:solidFill>
              <a:latin typeface="Bookman Old Style"/>
              <a:ea typeface="Calibri"/>
              <a:cs typeface="Calibri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21FEE126-7BEB-5C77-6CA7-E01F6F8FBB63}"/>
              </a:ext>
            </a:extLst>
          </p:cNvPr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9ACB2D69-4E81-DF67-16A2-78AFBDC79F7B}"/>
              </a:ext>
            </a:extLst>
          </p:cNvPr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solution</a:t>
            </a:r>
            <a:endParaRPr lang="en-US" sz="850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77F857A5-A506-BDED-FBE3-CE1288B75E59}"/>
              </a:ext>
            </a:extLst>
          </p:cNvPr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6A483A47-D96B-266E-219C-3FE47BEA5E43}"/>
              </a:ext>
            </a:extLst>
          </p:cNvPr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0DDDDE7C-7646-5237-3998-CB82317ADF9B}"/>
              </a:ext>
            </a:extLst>
          </p:cNvPr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  <a:endParaRPr lang="en-US" sz="110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0ABE7A06-17BE-4082-FBDC-AF0800FDDF35}"/>
              </a:ext>
            </a:extLst>
          </p:cNvPr>
          <p:cNvSpPr/>
          <p:nvPr/>
        </p:nvSpPr>
        <p:spPr>
          <a:xfrm>
            <a:off x="308275" y="979913"/>
            <a:ext cx="5669949" cy="3347008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9025650B-15B6-0DBF-2653-0E3FD25CDF3E}"/>
              </a:ext>
            </a:extLst>
          </p:cNvPr>
          <p:cNvSpPr/>
          <p:nvPr/>
        </p:nvSpPr>
        <p:spPr>
          <a:xfrm>
            <a:off x="390571" y="4333556"/>
            <a:ext cx="5177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i="1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du domaine Pays (IoT métier)</a:t>
            </a:r>
            <a:endParaRPr lang="en-US" sz="90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FCBDF999-84C2-8651-7F48-41EAD9074496}"/>
              </a:ext>
            </a:extLst>
          </p:cNvPr>
          <p:cNvSpPr/>
          <p:nvPr/>
        </p:nvSpPr>
        <p:spPr>
          <a:xfrm>
            <a:off x="6114492" y="985990"/>
            <a:ext cx="2880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Comment le lire</a:t>
            </a:r>
            <a:endParaRPr lang="en-US" sz="120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2FF284D0-FB31-C965-8137-68B3C456B20E}"/>
              </a:ext>
            </a:extLst>
          </p:cNvPr>
          <p:cNvSpPr/>
          <p:nvPr/>
        </p:nvSpPr>
        <p:spPr>
          <a:xfrm>
            <a:off x="6114492" y="1328890"/>
            <a:ext cx="2880360" cy="72009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756A2B87-BA15-28B9-3058-D76DCE703780}"/>
              </a:ext>
            </a:extLst>
          </p:cNvPr>
          <p:cNvSpPr/>
          <p:nvPr/>
        </p:nvSpPr>
        <p:spPr>
          <a:xfrm>
            <a:off x="6265368" y="1562062"/>
            <a:ext cx="233172" cy="233172"/>
          </a:xfrm>
          <a:prstGeom prst="ellipse">
            <a:avLst/>
          </a:prstGeom>
          <a:solidFill>
            <a:srgbClr val="8E44AD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20838EA2-6F66-7B63-1BE3-462F9F923AC1}"/>
              </a:ext>
            </a:extLst>
          </p:cNvPr>
          <p:cNvSpPr/>
          <p:nvPr/>
        </p:nvSpPr>
        <p:spPr>
          <a:xfrm>
            <a:off x="6608268" y="1411186"/>
            <a:ext cx="22631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8" b="1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Structure</a:t>
            </a:r>
            <a:endParaRPr lang="en-US" sz="1088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BEA043AD-236E-9355-35A6-7746CF24E077}"/>
              </a:ext>
            </a:extLst>
          </p:cNvPr>
          <p:cNvSpPr/>
          <p:nvPr/>
        </p:nvSpPr>
        <p:spPr>
          <a:xfrm>
            <a:off x="6608268" y="167179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63" err="1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→ Entrepot → Capteur : la hiérarchie physique du terrain.</a:t>
            </a:r>
            <a:endParaRPr lang="en-US" sz="863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A4288A45-F3B6-4CB9-ECED-931AF878765F}"/>
              </a:ext>
            </a:extLst>
          </p:cNvPr>
          <p:cNvSpPr/>
          <p:nvPr/>
        </p:nvSpPr>
        <p:spPr>
          <a:xfrm>
            <a:off x="6114492" y="2131276"/>
            <a:ext cx="2880360" cy="72009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7EDA4FAA-0725-0045-063D-EE5F8F7EA2DF}"/>
              </a:ext>
            </a:extLst>
          </p:cNvPr>
          <p:cNvSpPr/>
          <p:nvPr/>
        </p:nvSpPr>
        <p:spPr>
          <a:xfrm>
            <a:off x="6265368" y="2364448"/>
            <a:ext cx="233172" cy="233172"/>
          </a:xfrm>
          <a:prstGeom prst="ellipse">
            <a:avLst/>
          </a:prstGeom>
          <a:solidFill>
            <a:srgbClr val="1C9C8C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10B8D30D-2C28-E67C-837B-A893FC3AD2D6}"/>
              </a:ext>
            </a:extLst>
          </p:cNvPr>
          <p:cNvSpPr/>
          <p:nvPr/>
        </p:nvSpPr>
        <p:spPr>
          <a:xfrm>
            <a:off x="6608268" y="2213572"/>
            <a:ext cx="22631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8" b="1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Mesures</a:t>
            </a:r>
            <a:endParaRPr lang="en-US" sz="1088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F692CF59-727B-D689-EFDC-11EB9E8C4ECB}"/>
              </a:ext>
            </a:extLst>
          </p:cNvPr>
          <p:cNvSpPr/>
          <p:nvPr/>
        </p:nvSpPr>
        <p:spPr>
          <a:xfrm>
            <a:off x="6608268" y="247417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50">
                <a:solidFill>
                  <a:srgbClr val="5A6B82"/>
                </a:solidFill>
                <a:latin typeface="Calibri"/>
                <a:ea typeface="Calibri"/>
                <a:cs typeface="Calibri"/>
              </a:rPr>
              <a:t>Le capteur émet des mesures température/humidité horodatées.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6060B774-44FC-72F7-D62E-D1721B5D6DE7}"/>
              </a:ext>
            </a:extLst>
          </p:cNvPr>
          <p:cNvSpPr/>
          <p:nvPr/>
        </p:nvSpPr>
        <p:spPr>
          <a:xfrm>
            <a:off x="6114492" y="2933662"/>
            <a:ext cx="2880360" cy="72009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2AC511B9-EDA8-1502-74A9-66D2CCFCF963}"/>
              </a:ext>
            </a:extLst>
          </p:cNvPr>
          <p:cNvSpPr/>
          <p:nvPr/>
        </p:nvSpPr>
        <p:spPr>
          <a:xfrm>
            <a:off x="6265368" y="3166834"/>
            <a:ext cx="233172" cy="233172"/>
          </a:xfrm>
          <a:prstGeom prst="ellipse">
            <a:avLst/>
          </a:prstGeom>
          <a:solidFill>
            <a:srgbClr val="E08214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783BB0AE-A2A5-B4A7-DEE0-8EB654676583}"/>
              </a:ext>
            </a:extLst>
          </p:cNvPr>
          <p:cNvSpPr/>
          <p:nvPr/>
        </p:nvSpPr>
        <p:spPr>
          <a:xfrm>
            <a:off x="6608268" y="3015958"/>
            <a:ext cx="22631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8" b="1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Lots</a:t>
            </a:r>
            <a:endParaRPr lang="en-US" sz="1088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8EC002D6-131F-4EB0-3573-13988EE0488E}"/>
              </a:ext>
            </a:extLst>
          </p:cNvPr>
          <p:cNvSpPr/>
          <p:nvPr/>
        </p:nvSpPr>
        <p:spPr>
          <a:xfrm>
            <a:off x="6608268" y="327656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63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entrepôt stocke des lots ; chaque lot appartient à une exploitation.</a:t>
            </a:r>
            <a:endParaRPr lang="en-US" sz="863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29677224-9A62-2627-2EA5-16CF89977100}"/>
              </a:ext>
            </a:extLst>
          </p:cNvPr>
          <p:cNvSpPr/>
          <p:nvPr/>
        </p:nvSpPr>
        <p:spPr>
          <a:xfrm>
            <a:off x="6114492" y="3736048"/>
            <a:ext cx="2880360" cy="72009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1D1175A3-9230-2D7A-9998-74019C12EDCF}"/>
              </a:ext>
            </a:extLst>
          </p:cNvPr>
          <p:cNvSpPr/>
          <p:nvPr/>
        </p:nvSpPr>
        <p:spPr>
          <a:xfrm>
            <a:off x="6265368" y="3969220"/>
            <a:ext cx="233172" cy="23317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3FEB9DF2-0CFC-C1DF-E409-813031B43568}"/>
              </a:ext>
            </a:extLst>
          </p:cNvPr>
          <p:cNvSpPr/>
          <p:nvPr/>
        </p:nvSpPr>
        <p:spPr>
          <a:xfrm>
            <a:off x="6608268" y="3818344"/>
            <a:ext cx="22631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8" b="1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Alertes</a:t>
            </a:r>
            <a:endParaRPr lang="en-US" sz="1088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61705386-45E6-19BB-01C8-D997A0395D82}"/>
              </a:ext>
            </a:extLst>
          </p:cNvPr>
          <p:cNvSpPr/>
          <p:nvPr/>
        </p:nvSpPr>
        <p:spPr>
          <a:xfrm>
            <a:off x="6608268" y="4078948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63" err="1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alerte concerne un entrepôt ou un lot précis (dérive, péremption).</a:t>
            </a:r>
            <a:endParaRPr lang="en-US" sz="863"/>
          </a:p>
        </p:txBody>
      </p:sp>
      <p:pic>
        <p:nvPicPr>
          <p:cNvPr id="34" name="Picture 33" descr="mcd_p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811" y="979913"/>
            <a:ext cx="2276876" cy="334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79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Conception de la solution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Dispositif d'alertes — seuils par pays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alerte automatique est levée dans deux cas : conditions hors plage, ou péremption du lot.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Logique de déclenchement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hors plage : température ou humidité hors bande acceptable.</a:t>
            </a:r>
            <a:endParaRPr lang="en-US" sz="120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Péremption : lot stocké depuis plus de 365 jours.</a:t>
            </a:r>
            <a:endParaRPr lang="en-US" sz="120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: ± 3 °C en température, ± 2 % en humidité.</a:t>
            </a:r>
            <a:endParaRPr lang="en-US" sz="120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paramétrés par profil pays.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892040" y="1600200"/>
            <a:ext cx="1783080" cy="64008"/>
          </a:xfrm>
          <a:prstGeom prst="rect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3" name="Shape 11"/>
          <p:cNvSpPr/>
          <p:nvPr/>
        </p:nvSpPr>
        <p:spPr>
          <a:xfrm>
            <a:off x="4892040" y="1664208"/>
            <a:ext cx="1783080" cy="105156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2"/>
          <p:cNvSpPr/>
          <p:nvPr/>
        </p:nvSpPr>
        <p:spPr>
          <a:xfrm>
            <a:off x="4892040" y="17099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29 °C</a:t>
            </a:r>
            <a:endParaRPr lang="en-US" sz="3400"/>
          </a:p>
        </p:txBody>
      </p:sp>
      <p:sp>
        <p:nvSpPr>
          <p:cNvPr id="15" name="Text 13"/>
          <p:cNvSpPr/>
          <p:nvPr/>
        </p:nvSpPr>
        <p:spPr>
          <a:xfrm>
            <a:off x="4892040" y="2313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Brésil — idéal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6839712" y="1600200"/>
            <a:ext cx="1783080" cy="64008"/>
          </a:xfrm>
          <a:prstGeom prst="rect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7" name="Shape 15"/>
          <p:cNvSpPr/>
          <p:nvPr/>
        </p:nvSpPr>
        <p:spPr>
          <a:xfrm>
            <a:off x="6839712" y="1664208"/>
            <a:ext cx="1783080" cy="105156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Text 16"/>
          <p:cNvSpPr/>
          <p:nvPr/>
        </p:nvSpPr>
        <p:spPr>
          <a:xfrm>
            <a:off x="6839712" y="17099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 °C</a:t>
            </a:r>
            <a:endParaRPr lang="en-US" sz="3400"/>
          </a:p>
        </p:txBody>
      </p:sp>
      <p:sp>
        <p:nvSpPr>
          <p:cNvPr id="19" name="Text 17"/>
          <p:cNvSpPr/>
          <p:nvPr/>
        </p:nvSpPr>
        <p:spPr>
          <a:xfrm>
            <a:off x="6839712" y="2313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Équateur — idéal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892040" y="2816352"/>
            <a:ext cx="1783080" cy="64008"/>
          </a:xfrm>
          <a:prstGeom prst="rect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1" name="Shape 19"/>
          <p:cNvSpPr/>
          <p:nvPr/>
        </p:nvSpPr>
        <p:spPr>
          <a:xfrm>
            <a:off x="4892040" y="2880360"/>
            <a:ext cx="1783080" cy="105156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2" name="Text 20"/>
          <p:cNvSpPr/>
          <p:nvPr/>
        </p:nvSpPr>
        <p:spPr>
          <a:xfrm>
            <a:off x="4892040" y="29260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26 °C</a:t>
            </a:r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4892040" y="35295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Colombie — idéal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6839712" y="2816352"/>
            <a:ext cx="1783080" cy="64008"/>
          </a:xfrm>
          <a:prstGeom prst="rect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5" name="Shape 23"/>
          <p:cNvSpPr/>
          <p:nvPr/>
        </p:nvSpPr>
        <p:spPr>
          <a:xfrm>
            <a:off x="6839712" y="2880360"/>
            <a:ext cx="1783080" cy="105156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6" name="Text 24"/>
          <p:cNvSpPr/>
          <p:nvPr/>
        </p:nvSpPr>
        <p:spPr>
          <a:xfrm>
            <a:off x="6839712" y="29260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365 j</a:t>
            </a:r>
            <a:endParaRPr lang="en-US" sz="3400"/>
          </a:p>
        </p:txBody>
      </p:sp>
      <p:sp>
        <p:nvSpPr>
          <p:cNvPr id="27" name="Text 25"/>
          <p:cNvSpPr/>
          <p:nvPr/>
        </p:nvSpPr>
        <p:spPr>
          <a:xfrm>
            <a:off x="6839712" y="35295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péremption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4892040" y="4114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i="1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Humidité idéale : Brésil 55 % · Équateur 60 % · Colombie 80 %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solution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2" name="Shape 30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31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237359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Conception de la solution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Logique de décision — anti-fausse-alerte</a:t>
            </a:r>
            <a:endParaRPr lang="en-US" sz="2600"/>
          </a:p>
        </p:txBody>
      </p:sp>
      <p:sp>
        <p:nvSpPr>
          <p:cNvPr id="9" name="Shape 7"/>
          <p:cNvSpPr/>
          <p:nvPr/>
        </p:nvSpPr>
        <p:spPr>
          <a:xfrm>
            <a:off x="1417320" y="1524000"/>
            <a:ext cx="384048" cy="384048"/>
          </a:xfrm>
          <a:prstGeom prst="ellipse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0" name="Text 8"/>
          <p:cNvSpPr/>
          <p:nvPr/>
        </p:nvSpPr>
        <p:spPr>
          <a:xfrm>
            <a:off x="1417320" y="1524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1965960" y="1485900"/>
            <a:ext cx="5760720" cy="457200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2" name="Text 10"/>
          <p:cNvSpPr/>
          <p:nvPr/>
        </p:nvSpPr>
        <p:spPr>
          <a:xfrm>
            <a:off x="2148840" y="14859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reçue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back-end pays compare température et humidité aux seuils du pays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1417320" y="21844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2"/>
          <p:cNvSpPr/>
          <p:nvPr/>
        </p:nvSpPr>
        <p:spPr>
          <a:xfrm>
            <a:off x="1417320" y="218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1965960" y="2146300"/>
            <a:ext cx="5760720" cy="457200"/>
          </a:xfrm>
          <a:prstGeom prst="rect">
            <a:avLst/>
          </a:prstGeom>
          <a:solidFill>
            <a:srgbClr val="E4F4EF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6" name="Text 14"/>
          <p:cNvSpPr/>
          <p:nvPr/>
        </p:nvSpPr>
        <p:spPr>
          <a:xfrm>
            <a:off x="2148840" y="21463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Anti-flapping &amp; hystérésis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isolée hors plage ignorée ; compteur d'anomalies incrémenté à chaque mesure consécutive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1417320" y="28448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Text 16"/>
          <p:cNvSpPr/>
          <p:nvPr/>
        </p:nvSpPr>
        <p:spPr>
          <a:xfrm>
            <a:off x="1417320" y="284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1965960" y="2806700"/>
            <a:ext cx="5760720" cy="457200"/>
          </a:xfrm>
          <a:prstGeom prst="rect">
            <a:avLst/>
          </a:prstGeom>
          <a:solidFill>
            <a:srgbClr val="FBF1DD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0" name="Text 18"/>
          <p:cNvSpPr/>
          <p:nvPr/>
        </p:nvSpPr>
        <p:spPr>
          <a:xfrm>
            <a:off x="2148840" y="28067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mesures hors plage consécutives → alerte ACTIVE + 1 e-mail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1417320" y="35052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2" name="Text 20"/>
          <p:cNvSpPr/>
          <p:nvPr/>
        </p:nvSpPr>
        <p:spPr>
          <a:xfrm>
            <a:off x="1417320" y="3505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1965960" y="3467100"/>
            <a:ext cx="5760720" cy="457200"/>
          </a:xfrm>
          <a:prstGeom prst="rect">
            <a:avLst/>
          </a:prstGeom>
          <a:solidFill>
            <a:srgbClr val="ECE8F4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4" name="Text 22"/>
          <p:cNvSpPr/>
          <p:nvPr/>
        </p:nvSpPr>
        <p:spPr>
          <a:xfrm>
            <a:off x="2148840" y="34671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&amp; acquittement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Renotification toutes les 30 min si actif ; un opérateur acquitte → ACQUITTEE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1417320" y="4165600"/>
            <a:ext cx="384048" cy="384048"/>
          </a:xfrm>
          <a:prstGeom prst="ellipse">
            <a:avLst/>
          </a:prstGeom>
          <a:solidFill>
            <a:srgbClr val="1B7967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4" name="Text 32"/>
          <p:cNvSpPr/>
          <p:nvPr/>
        </p:nvSpPr>
        <p:spPr>
          <a:xfrm>
            <a:off x="1417320" y="4165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</a:t>
            </a:r>
            <a:endParaRPr lang="en-US" sz="1400"/>
          </a:p>
        </p:txBody>
      </p:sp>
      <p:sp>
        <p:nvSpPr>
          <p:cNvPr id="35" name="Shape 33"/>
          <p:cNvSpPr/>
          <p:nvPr/>
        </p:nvSpPr>
        <p:spPr>
          <a:xfrm>
            <a:off x="1965960" y="4127500"/>
            <a:ext cx="5760720" cy="457200"/>
          </a:xfrm>
          <a:prstGeom prst="rect">
            <a:avLst/>
          </a:prstGeom>
          <a:solidFill>
            <a:srgbClr val="E9F3E4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6" name="Text 34"/>
          <p:cNvSpPr/>
          <p:nvPr/>
        </p:nvSpPr>
        <p:spPr>
          <a:xfrm>
            <a:off x="2148840" y="41275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mesures normales consécutives → RESOLUE automatiquement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solution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0" name="Shape 38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1" name="Text 39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837534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Conception de la solution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Sécurité, robustesse et tolérance aux pannes</a:t>
            </a:r>
            <a:endParaRPr lang="en-US" sz="230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813816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back-end central centralise la sécurité ; plusieurs mécanismes assurent en parallèle la robustesse de la solution.</a:t>
            </a:r>
            <a:endParaRPr lang="en-US" sz="1150"/>
          </a:p>
        </p:txBody>
      </p:sp>
      <p:sp>
        <p:nvSpPr>
          <p:cNvPr id="45" name="Text 43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solution</a:t>
            </a:r>
            <a:endParaRPr lang="en-US" sz="850"/>
          </a:p>
        </p:txBody>
      </p:sp>
      <p:sp>
        <p:nvSpPr>
          <p:cNvPr id="47" name="Shape 45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8" name="Shape 46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9" name="Text 47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  <a:endParaRPr lang="en-US" sz="1100"/>
          </a:p>
        </p:txBody>
      </p:sp>
      <p:sp>
        <p:nvSpPr>
          <p:cNvPr id="100" name="Label Sécurité"/>
          <p:cNvSpPr txBox="1"/>
          <p:nvPr/>
        </p:nvSpPr>
        <p:spPr>
          <a:xfrm>
            <a:off x="508000" y="20701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400" b="1">
                <a:solidFill>
                  <a:srgbClr val="1B7967"/>
                </a:solidFill>
                <a:latin typeface="Calibri" pitchFamily="34" charset="0"/>
              </a:rPr>
              <a:t>SÉCURITÉ</a:t>
            </a:r>
          </a:p>
        </p:txBody>
      </p:sp>
      <p:sp>
        <p:nvSpPr>
          <p:cNvPr id="101" name="Label Robustesse"/>
          <p:cNvSpPr txBox="1"/>
          <p:nvPr/>
        </p:nvSpPr>
        <p:spPr>
          <a:xfrm>
            <a:off x="508000" y="33909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400" b="1">
                <a:solidFill>
                  <a:srgbClr val="1B7967"/>
                </a:solidFill>
                <a:latin typeface="Calibri" pitchFamily="34" charset="0"/>
              </a:rPr>
              <a:t>ROBUSTESSE</a:t>
            </a:r>
          </a:p>
        </p:txBody>
      </p:sp>
      <p:sp>
        <p:nvSpPr>
          <p:cNvPr id="102" name="Card Sec 0"/>
          <p:cNvSpPr/>
          <p:nvPr/>
        </p:nvSpPr>
        <p:spPr>
          <a:xfrm>
            <a:off x="508000" y="2298700"/>
            <a:ext cx="1892300" cy="1041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9DCE3"/>
            </a:solidFill>
          </a:ln>
        </p:spPr>
        <p:txBody>
          <a:bodyPr wrap="square" lIns="64008" tIns="45720" rIns="64008" bIns="4572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8BBE4F"/>
                </a:solidFill>
                <a:latin typeface="Calibri" pitchFamily="34" charset="0"/>
              </a:rPr>
              <a:t>JWT · Authentification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Jeton d'accès 15 min + refresh révocable</a:t>
            </a:r>
          </a:p>
        </p:txBody>
      </p:sp>
      <p:sp>
        <p:nvSpPr>
          <p:cNvPr id="103" name="Card Sec 1"/>
          <p:cNvSpPr/>
          <p:nvPr/>
        </p:nvSpPr>
        <p:spPr>
          <a:xfrm>
            <a:off x="2578100" y="2298700"/>
            <a:ext cx="1892300" cy="1041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9DCE3"/>
            </a:solidFill>
          </a:ln>
        </p:spPr>
        <p:txBody>
          <a:bodyPr wrap="square" lIns="64008" tIns="45720" rIns="64008" bIns="4572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22A890"/>
                </a:solidFill>
                <a:latin typeface="Calibri" pitchFamily="34" charset="0"/>
              </a:rPr>
              <a:t>RBAC · Contrôle d'accès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Rôles porteurs de permissions</a:t>
            </a:r>
          </a:p>
        </p:txBody>
      </p:sp>
      <p:sp>
        <p:nvSpPr>
          <p:cNvPr id="104" name="Card Sec 2"/>
          <p:cNvSpPr/>
          <p:nvPr/>
        </p:nvSpPr>
        <p:spPr>
          <a:xfrm>
            <a:off x="4648200" y="2298700"/>
            <a:ext cx="1892300" cy="1041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9DCE3"/>
            </a:solidFill>
          </a:ln>
        </p:spPr>
        <p:txBody>
          <a:bodyPr wrap="square" lIns="64008" tIns="45720" rIns="64008" bIns="4572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DEA345"/>
                </a:solidFill>
                <a:latin typeface="Calibri" pitchFamily="34" charset="0"/>
              </a:rPr>
              <a:t>Isolation par pays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Cloisonnement strict, 403 si refusé</a:t>
            </a:r>
          </a:p>
        </p:txBody>
      </p:sp>
      <p:sp>
        <p:nvSpPr>
          <p:cNvPr id="105" name="Card Sec 3"/>
          <p:cNvSpPr/>
          <p:nvPr/>
        </p:nvSpPr>
        <p:spPr>
          <a:xfrm>
            <a:off x="6718300" y="2298700"/>
            <a:ext cx="1892300" cy="1041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9DCE3"/>
            </a:solidFill>
          </a:ln>
        </p:spPr>
        <p:txBody>
          <a:bodyPr wrap="square" lIns="64008" tIns="45720" rIns="64008" bIns="4572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E15A5A"/>
                </a:solidFill>
                <a:latin typeface="Calibri" pitchFamily="34" charset="0"/>
              </a:rPr>
              <a:t>Protection &amp; audit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Mots de passe hashés, actions consignées</a:t>
            </a:r>
          </a:p>
        </p:txBody>
      </p:sp>
      <p:sp>
        <p:nvSpPr>
          <p:cNvPr id="106" name="Card Rob 0"/>
          <p:cNvSpPr/>
          <p:nvPr/>
        </p:nvSpPr>
        <p:spPr>
          <a:xfrm>
            <a:off x="508000" y="3619500"/>
            <a:ext cx="1892300" cy="1041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9DCE3"/>
            </a:solidFill>
          </a:ln>
        </p:spPr>
        <p:txBody>
          <a:bodyPr wrap="square" lIns="64008" tIns="45720" rIns="64008" bIns="4572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2B2B3A"/>
                </a:solidFill>
                <a:latin typeface="Calibri" pitchFamily="34" charset="0"/>
              </a:rPr>
              <a:t>Conteneurisation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Docker Compose, orchestrable sur Kubernetes</a:t>
            </a:r>
          </a:p>
        </p:txBody>
      </p:sp>
      <p:sp>
        <p:nvSpPr>
          <p:cNvPr id="107" name="Card Rob 1"/>
          <p:cNvSpPr/>
          <p:nvPr/>
        </p:nvSpPr>
        <p:spPr>
          <a:xfrm>
            <a:off x="2578100" y="3619500"/>
            <a:ext cx="1892300" cy="1041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9DCE3"/>
            </a:solidFill>
          </a:ln>
        </p:spPr>
        <p:txBody>
          <a:bodyPr wrap="square" lIns="64008" tIns="45720" rIns="64008" bIns="4572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2B2B3A"/>
                </a:solidFill>
                <a:latin typeface="Calibri" pitchFamily="34" charset="0"/>
              </a:rPr>
              <a:t>Auto-réparation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Sondes liveness/readiness, redémarrage automatique</a:t>
            </a:r>
          </a:p>
        </p:txBody>
      </p:sp>
      <p:sp>
        <p:nvSpPr>
          <p:cNvPr id="108" name="Card Rob 2"/>
          <p:cNvSpPr/>
          <p:nvPr/>
        </p:nvSpPr>
        <p:spPr>
          <a:xfrm>
            <a:off x="4648200" y="3619500"/>
            <a:ext cx="1892300" cy="1041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9DCE3"/>
            </a:solidFill>
          </a:ln>
        </p:spPr>
        <p:txBody>
          <a:bodyPr wrap="square" lIns="64008" tIns="45720" rIns="64008" bIns="4572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2B2B3A"/>
                </a:solidFill>
                <a:latin typeface="Calibri" pitchFamily="34" charset="0"/>
              </a:rPr>
              <a:t>Reconnexion MQTT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Reconnexion automatique après coupure réseau</a:t>
            </a:r>
          </a:p>
        </p:txBody>
      </p:sp>
      <p:sp>
        <p:nvSpPr>
          <p:cNvPr id="109" name="Card Rob 3"/>
          <p:cNvSpPr/>
          <p:nvPr/>
        </p:nvSpPr>
        <p:spPr>
          <a:xfrm>
            <a:off x="6718300" y="3619500"/>
            <a:ext cx="1892300" cy="1041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9DCE3"/>
            </a:solidFill>
          </a:ln>
        </p:spPr>
        <p:txBody>
          <a:bodyPr wrap="square" lIns="64008" tIns="45720" rIns="64008" bIns="4572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2B2B3A"/>
                </a:solidFill>
                <a:latin typeface="Calibri" pitchFamily="34" charset="0"/>
              </a:rPr>
              <a:t>Anti-fausse-alerte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Hystérésis : pas d'incident sur variation passagère</a:t>
            </a:r>
          </a:p>
        </p:txBody>
      </p:sp>
    </p:spTree>
    <p:extLst>
      <p:ext uri="{BB962C8B-B14F-4D97-AF65-F5344CB8AC3E}">
        <p14:creationId xmlns:p14="http://schemas.microsoft.com/office/powerpoint/2010/main" val="3866742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AA8663-0105-D150-E921-C9038D1D36DA}"/>
              </a:ext>
            </a:extLst>
          </p:cNvPr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1D011CD-5F88-1269-3102-7351BBDD2C2A}"/>
              </a:ext>
            </a:extLst>
          </p:cNvPr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B5DD16-9251-F4F0-0968-480FC48CD106}"/>
              </a:ext>
            </a:extLst>
          </p:cNvPr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15A2539-CDBD-BF89-05C7-E96DBEFA6F0A}"/>
              </a:ext>
            </a:extLst>
          </p:cNvPr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15D9ECE-846D-F3EE-6590-D80D8A1957E4}"/>
              </a:ext>
            </a:extLst>
          </p:cNvPr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4DE6049-7294-B6AE-1AEC-5CA3A7B7F83D}"/>
              </a:ext>
            </a:extLst>
          </p:cNvPr>
          <p:cNvSpPr/>
          <p:nvPr/>
        </p:nvSpPr>
        <p:spPr>
          <a:xfrm>
            <a:off x="302198" y="0"/>
            <a:ext cx="3485313" cy="58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Bookman Old Style"/>
              </a:rPr>
              <a:t>Choix matériel du module IoT</a:t>
            </a: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8775F9C0-F2CD-0A6B-0D14-10A664CA27CC}"/>
              </a:ext>
            </a:extLst>
          </p:cNvPr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C7431DD3-C812-E7F4-0540-786D3B8DC6FC}"/>
              </a:ext>
            </a:extLst>
          </p:cNvPr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solution</a:t>
            </a:r>
            <a:endParaRPr lang="en-US" sz="850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5D6808C2-5390-BD1E-43BF-F2E07857A9EF}"/>
              </a:ext>
            </a:extLst>
          </p:cNvPr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78113E6-F8C4-0B7C-A0A4-1CE991CDA698}"/>
              </a:ext>
            </a:extLst>
          </p:cNvPr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13F2BACF-D430-7759-E0A7-D3BF3D75385B}"/>
              </a:ext>
            </a:extLst>
          </p:cNvPr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  <a:endParaRPr lang="en-US" sz="110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4230F59-0070-2139-D56A-8B92B2D5ADD0}"/>
              </a:ext>
            </a:extLst>
          </p:cNvPr>
          <p:cNvSpPr/>
          <p:nvPr/>
        </p:nvSpPr>
        <p:spPr>
          <a:xfrm>
            <a:off x="361578" y="900461"/>
            <a:ext cx="8161020" cy="1083564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952B785A-FD29-477A-E77F-D137FDD7FF5B}"/>
              </a:ext>
            </a:extLst>
          </p:cNvPr>
          <p:cNvSpPr/>
          <p:nvPr/>
        </p:nvSpPr>
        <p:spPr>
          <a:xfrm>
            <a:off x="567318" y="1133633"/>
            <a:ext cx="1244600" cy="61722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DE342116-0758-5F42-97A3-E84FC41C0AC1}"/>
              </a:ext>
            </a:extLst>
          </p:cNvPr>
          <p:cNvSpPr/>
          <p:nvPr/>
        </p:nvSpPr>
        <p:spPr>
          <a:xfrm>
            <a:off x="567318" y="1133633"/>
            <a:ext cx="12446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MCU</a:t>
            </a:r>
            <a:endParaRPr lang="en-US" sz="180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C00AE593-47F1-2645-3F35-69A44397DA05}"/>
              </a:ext>
            </a:extLst>
          </p:cNvPr>
          <p:cNvSpPr/>
          <p:nvPr/>
        </p:nvSpPr>
        <p:spPr>
          <a:xfrm>
            <a:off x="1836048" y="1071911"/>
            <a:ext cx="6446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NodeMCU v2 (ESP8266, ESP-12E)</a:t>
            </a:r>
            <a:endParaRPr lang="en-US" sz="135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3FCEB8E8-BF07-E1D3-5579-3C838AED7722}"/>
              </a:ext>
            </a:extLst>
          </p:cNvPr>
          <p:cNvSpPr/>
          <p:nvPr/>
        </p:nvSpPr>
        <p:spPr>
          <a:xfrm>
            <a:off x="1836048" y="1421669"/>
            <a:ext cx="65151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13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intégré, logique 3,3 V, faible coût, largement documenté.</a:t>
            </a:r>
            <a:endParaRPr lang="en-US" sz="1013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61CC6E6F-59E3-9683-F703-CEB82D862749}"/>
              </a:ext>
            </a:extLst>
          </p:cNvPr>
          <p:cNvSpPr/>
          <p:nvPr/>
        </p:nvSpPr>
        <p:spPr>
          <a:xfrm>
            <a:off x="361578" y="2107469"/>
            <a:ext cx="8161020" cy="1083564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FEE7FC21-C134-BB0F-EA6E-AC9354BD30E3}"/>
              </a:ext>
            </a:extLst>
          </p:cNvPr>
          <p:cNvSpPr/>
          <p:nvPr/>
        </p:nvSpPr>
        <p:spPr>
          <a:xfrm>
            <a:off x="567318" y="2340641"/>
            <a:ext cx="1244600" cy="617220"/>
          </a:xfrm>
          <a:prstGeom prst="roundRect">
            <a:avLst>
              <a:gd name="adj" fmla="val 11111"/>
            </a:avLst>
          </a:prstGeom>
          <a:solidFill>
            <a:srgbClr val="1C9C8C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DD2F3EDB-3E65-6E81-2AD0-21E4A3AABE69}"/>
              </a:ext>
            </a:extLst>
          </p:cNvPr>
          <p:cNvSpPr/>
          <p:nvPr/>
        </p:nvSpPr>
        <p:spPr>
          <a:xfrm>
            <a:off x="567318" y="2340641"/>
            <a:ext cx="12446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CAPTEUR</a:t>
            </a:r>
            <a:endParaRPr lang="en-US" sz="180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ABC067CB-3B2F-FE93-F42A-242EE800D92D}"/>
              </a:ext>
            </a:extLst>
          </p:cNvPr>
          <p:cNvSpPr/>
          <p:nvPr/>
        </p:nvSpPr>
        <p:spPr>
          <a:xfrm>
            <a:off x="1836048" y="2278919"/>
            <a:ext cx="6446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DHT22</a:t>
            </a:r>
            <a:endParaRPr lang="en-US" sz="135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AB5C0CF7-CB41-8815-525D-8B57181E7308}"/>
              </a:ext>
            </a:extLst>
          </p:cNvPr>
          <p:cNvSpPr/>
          <p:nvPr/>
        </p:nvSpPr>
        <p:spPr>
          <a:xfrm>
            <a:off x="1836048" y="2628677"/>
            <a:ext cx="65151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13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−40 à +80 °C, humidité 0-100 %, précision ± 0,5 °C.</a:t>
            </a:r>
            <a:endParaRPr lang="en-US" sz="1013"/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7C73EE7D-13F4-E0EF-C7F0-11E62D8ED7C5}"/>
              </a:ext>
            </a:extLst>
          </p:cNvPr>
          <p:cNvSpPr/>
          <p:nvPr/>
        </p:nvSpPr>
        <p:spPr>
          <a:xfrm>
            <a:off x="361578" y="3314477"/>
            <a:ext cx="8161020" cy="1083564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711297BC-408E-46A7-D884-6E6D7C668EA2}"/>
              </a:ext>
            </a:extLst>
          </p:cNvPr>
          <p:cNvSpPr/>
          <p:nvPr/>
        </p:nvSpPr>
        <p:spPr>
          <a:xfrm>
            <a:off x="567318" y="3547649"/>
            <a:ext cx="1244600" cy="617220"/>
          </a:xfrm>
          <a:prstGeom prst="roundRect">
            <a:avLst>
              <a:gd name="adj" fmla="val 11111"/>
            </a:avLst>
          </a:prstGeom>
          <a:solidFill>
            <a:srgbClr val="1C9C8C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D025F4E8-C1FD-716F-BB2F-547DF1328BCE}"/>
              </a:ext>
            </a:extLst>
          </p:cNvPr>
          <p:cNvSpPr/>
          <p:nvPr/>
        </p:nvSpPr>
        <p:spPr>
          <a:xfrm>
            <a:off x="567318" y="3547649"/>
            <a:ext cx="12446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ÉCRAN</a:t>
            </a:r>
            <a:endParaRPr lang="en-US" sz="1800">
              <a:latin typeface="Bookman Old Style"/>
            </a:endParaRP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16E01297-D375-5627-DDBA-AF185E90D8DF}"/>
              </a:ext>
            </a:extLst>
          </p:cNvPr>
          <p:cNvSpPr/>
          <p:nvPr/>
        </p:nvSpPr>
        <p:spPr>
          <a:xfrm>
            <a:off x="1836048" y="3485927"/>
            <a:ext cx="6446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OLED SSD1306</a:t>
            </a:r>
            <a:endParaRPr lang="en-US" sz="135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0D577932-EF12-474D-DE2E-E67A41C87D17}"/>
              </a:ext>
            </a:extLst>
          </p:cNvPr>
          <p:cNvSpPr/>
          <p:nvPr/>
        </p:nvSpPr>
        <p:spPr>
          <a:xfrm>
            <a:off x="1836048" y="3835685"/>
            <a:ext cx="65151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13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0,96" 128×64 I2C — affichage local des mesures et de l'état.</a:t>
            </a:r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2908586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Conception de la solution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Protocole MQTT — topics et pilotage à distance</a:t>
            </a:r>
            <a:endParaRPr lang="en-US" sz="2600"/>
          </a:p>
        </p:txBody>
      </p:sp>
      <p:sp>
        <p:nvSpPr>
          <p:cNvPr id="9" name="Shape 7"/>
          <p:cNvSpPr/>
          <p:nvPr/>
        </p:nvSpPr>
        <p:spPr>
          <a:xfrm>
            <a:off x="1417320" y="1524000"/>
            <a:ext cx="384048" cy="384048"/>
          </a:xfrm>
          <a:prstGeom prst="ellipse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0" name="Text 8"/>
          <p:cNvSpPr/>
          <p:nvPr/>
        </p:nvSpPr>
        <p:spPr>
          <a:xfrm>
            <a:off x="1417320" y="1524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1965960" y="1485900"/>
            <a:ext cx="5760720" cy="457200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2" name="Text 10"/>
          <p:cNvSpPr/>
          <p:nvPr/>
        </p:nvSpPr>
        <p:spPr>
          <a:xfrm>
            <a:off x="2148840" y="14859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hiérarchique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futurekawa/&lt;pays&gt;/+/mesures — le back-end pays s'abonne avec un joker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1417320" y="21844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2"/>
          <p:cNvSpPr/>
          <p:nvPr/>
        </p:nvSpPr>
        <p:spPr>
          <a:xfrm>
            <a:off x="1417320" y="218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1965960" y="2146300"/>
            <a:ext cx="5760720" cy="457200"/>
          </a:xfrm>
          <a:prstGeom prst="rect">
            <a:avLst/>
          </a:prstGeom>
          <a:solidFill>
            <a:srgbClr val="E4F4EF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6" name="Text 14"/>
          <p:cNvSpPr/>
          <p:nvPr/>
        </p:nvSpPr>
        <p:spPr>
          <a:xfrm>
            <a:off x="2148840" y="21463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&amp; fréquence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{capteurId, température, humidité} ; fréquence paramétrable, plancher de 2 s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1417320" y="28448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Text 16"/>
          <p:cNvSpPr/>
          <p:nvPr/>
        </p:nvSpPr>
        <p:spPr>
          <a:xfrm>
            <a:off x="1417320" y="284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1965960" y="2806700"/>
            <a:ext cx="5760720" cy="457200"/>
          </a:xfrm>
          <a:prstGeom prst="rect">
            <a:avLst/>
          </a:prstGeom>
          <a:solidFill>
            <a:srgbClr val="FBF1DD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0" name="Text 18"/>
          <p:cNvSpPr/>
          <p:nvPr/>
        </p:nvSpPr>
        <p:spPr>
          <a:xfrm>
            <a:off x="2148840" y="28067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à distance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(topic, capteur, libellés) + commande start/stop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1417320" y="35052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2" name="Text 20"/>
          <p:cNvSpPr/>
          <p:nvPr/>
        </p:nvSpPr>
        <p:spPr>
          <a:xfrm>
            <a:off x="1417320" y="3505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1965960" y="3467100"/>
            <a:ext cx="5760720" cy="457200"/>
          </a:xfrm>
          <a:prstGeom prst="rect">
            <a:avLst/>
          </a:prstGeom>
          <a:solidFill>
            <a:srgbClr val="ECE8F4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4" name="Text 22"/>
          <p:cNvSpPr/>
          <p:nvPr/>
        </p:nvSpPr>
        <p:spPr>
          <a:xfrm>
            <a:off x="2148840" y="34671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Découplage firmware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même binaire sert n'importe quel entrepôt, la cible est injectée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1417320" y="4165600"/>
            <a:ext cx="384048" cy="384048"/>
          </a:xfrm>
          <a:prstGeom prst="ellipse">
            <a:avLst/>
          </a:prstGeom>
          <a:solidFill>
            <a:srgbClr val="1B7967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4" name="Text 32"/>
          <p:cNvSpPr/>
          <p:nvPr/>
        </p:nvSpPr>
        <p:spPr>
          <a:xfrm>
            <a:off x="1417320" y="4165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</a:t>
            </a:r>
            <a:endParaRPr lang="en-US" sz="1400"/>
          </a:p>
        </p:txBody>
      </p:sp>
      <p:sp>
        <p:nvSpPr>
          <p:cNvPr id="35" name="Shape 33"/>
          <p:cNvSpPr/>
          <p:nvPr/>
        </p:nvSpPr>
        <p:spPr>
          <a:xfrm>
            <a:off x="1965960" y="4127500"/>
            <a:ext cx="5760720" cy="457200"/>
          </a:xfrm>
          <a:prstGeom prst="rect">
            <a:avLst/>
          </a:prstGeom>
          <a:solidFill>
            <a:srgbClr val="E9F3E4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6" name="Text 34"/>
          <p:cNvSpPr/>
          <p:nvPr/>
        </p:nvSpPr>
        <p:spPr>
          <a:xfrm>
            <a:off x="2148840" y="41275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simple et reproductible du module de terrain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solution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0" name="Shape 38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1" name="Text 39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176240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Conception de la solution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Reconnexion et gestion des erreurs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robustesse « terrain » du module IoT repose sur plusieurs garde-fous.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25877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502920" cy="502920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3" name="Text 10"/>
          <p:cNvSpPr/>
          <p:nvPr/>
        </p:nvSpPr>
        <p:spPr>
          <a:xfrm>
            <a:off x="1280160" y="2121408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Reconnexion Wi-Fi</a:t>
            </a:r>
            <a:endParaRPr lang="en-US" sz="1300"/>
          </a:p>
        </p:txBody>
      </p:sp>
      <p:sp>
        <p:nvSpPr>
          <p:cNvPr id="14" name="Text 11"/>
          <p:cNvSpPr/>
          <p:nvPr/>
        </p:nvSpPr>
        <p:spPr>
          <a:xfrm>
            <a:off x="685800" y="2670048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 de la connexion avec temporisation, sans blocage définitif.</a:t>
            </a:r>
            <a:endParaRPr lang="en-US" sz="1050"/>
          </a:p>
        </p:txBody>
      </p:sp>
      <p:sp>
        <p:nvSpPr>
          <p:cNvPr id="15" name="Shape 12"/>
          <p:cNvSpPr/>
          <p:nvPr/>
        </p:nvSpPr>
        <p:spPr>
          <a:xfrm>
            <a:off x="3273552" y="1920240"/>
            <a:ext cx="25877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16" name="Shape 13"/>
          <p:cNvSpPr/>
          <p:nvPr/>
        </p:nvSpPr>
        <p:spPr>
          <a:xfrm>
            <a:off x="3456432" y="2121408"/>
            <a:ext cx="502920" cy="502920"/>
          </a:xfrm>
          <a:prstGeom prst="ellipse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Text 14"/>
          <p:cNvSpPr/>
          <p:nvPr/>
        </p:nvSpPr>
        <p:spPr>
          <a:xfrm>
            <a:off x="4050792" y="2121408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Reconnexion MQTT</a:t>
            </a:r>
            <a:endParaRPr lang="en-US" sz="1300"/>
          </a:p>
        </p:txBody>
      </p:sp>
      <p:sp>
        <p:nvSpPr>
          <p:cNvPr id="19" name="Text 15"/>
          <p:cNvSpPr/>
          <p:nvPr/>
        </p:nvSpPr>
        <p:spPr>
          <a:xfrm>
            <a:off x="3456432" y="2670048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au broker vérifiée et rétablie à chaque cycle.</a:t>
            </a:r>
            <a:endParaRPr lang="en-US" sz="1050"/>
          </a:p>
        </p:txBody>
      </p:sp>
      <p:sp>
        <p:nvSpPr>
          <p:cNvPr id="20" name="Shape 16"/>
          <p:cNvSpPr/>
          <p:nvPr/>
        </p:nvSpPr>
        <p:spPr>
          <a:xfrm>
            <a:off x="6044184" y="1920240"/>
            <a:ext cx="25877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21" name="Shape 17"/>
          <p:cNvSpPr/>
          <p:nvPr/>
        </p:nvSpPr>
        <p:spPr>
          <a:xfrm>
            <a:off x="6227064" y="2121408"/>
            <a:ext cx="502920" cy="502920"/>
          </a:xfrm>
          <a:prstGeom prst="ellipse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3" name="Text 18"/>
          <p:cNvSpPr/>
          <p:nvPr/>
        </p:nvSpPr>
        <p:spPr>
          <a:xfrm>
            <a:off x="6821424" y="2121408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Lecture invalide</a:t>
            </a:r>
            <a:endParaRPr lang="en-US" sz="1300"/>
          </a:p>
        </p:txBody>
      </p:sp>
      <p:sp>
        <p:nvSpPr>
          <p:cNvPr id="24" name="Text 19"/>
          <p:cNvSpPr/>
          <p:nvPr/>
        </p:nvSpPr>
        <p:spPr>
          <a:xfrm>
            <a:off x="6227064" y="2670048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NaN du DHT22 ignorée, erreur affichée sur l'OLED.</a:t>
            </a:r>
            <a:endParaRPr lang="en-US" sz="1050"/>
          </a:p>
        </p:txBody>
      </p:sp>
      <p:sp>
        <p:nvSpPr>
          <p:cNvPr id="25" name="Shape 20"/>
          <p:cNvSpPr/>
          <p:nvPr/>
        </p:nvSpPr>
        <p:spPr>
          <a:xfrm>
            <a:off x="502920" y="3355848"/>
            <a:ext cx="25877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26" name="Shape 21"/>
          <p:cNvSpPr/>
          <p:nvPr/>
        </p:nvSpPr>
        <p:spPr>
          <a:xfrm>
            <a:off x="685800" y="3557016"/>
            <a:ext cx="502920" cy="502920"/>
          </a:xfrm>
          <a:prstGeom prst="ellipse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8" name="Text 22"/>
          <p:cNvSpPr/>
          <p:nvPr/>
        </p:nvSpPr>
        <p:spPr>
          <a:xfrm>
            <a:off x="1280160" y="3557016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Publication conditionnelle</a:t>
            </a:r>
            <a:endParaRPr lang="en-US" sz="1300"/>
          </a:p>
        </p:txBody>
      </p:sp>
      <p:sp>
        <p:nvSpPr>
          <p:cNvPr id="29" name="Text 23"/>
          <p:cNvSpPr/>
          <p:nvPr/>
        </p:nvSpPr>
        <p:spPr>
          <a:xfrm>
            <a:off x="685800" y="4105656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uniquement si actif, configuré et topic renseigné.</a:t>
            </a:r>
            <a:endParaRPr lang="en-US" sz="1050"/>
          </a:p>
        </p:txBody>
      </p:sp>
      <p:sp>
        <p:nvSpPr>
          <p:cNvPr id="30" name="Shape 24"/>
          <p:cNvSpPr/>
          <p:nvPr/>
        </p:nvSpPr>
        <p:spPr>
          <a:xfrm>
            <a:off x="3273552" y="3355848"/>
            <a:ext cx="25877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31" name="Shape 25"/>
          <p:cNvSpPr/>
          <p:nvPr/>
        </p:nvSpPr>
        <p:spPr>
          <a:xfrm>
            <a:off x="3456432" y="3557016"/>
            <a:ext cx="502920" cy="502920"/>
          </a:xfrm>
          <a:prstGeom prst="ellipse">
            <a:avLst/>
          </a:prstGeom>
          <a:solidFill>
            <a:srgbClr val="5A647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26"/>
          <p:cNvSpPr/>
          <p:nvPr/>
        </p:nvSpPr>
        <p:spPr>
          <a:xfrm>
            <a:off x="4050792" y="3557016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Plancher de fréquence</a:t>
            </a:r>
            <a:endParaRPr lang="en-US" sz="1300"/>
          </a:p>
        </p:txBody>
      </p:sp>
      <p:sp>
        <p:nvSpPr>
          <p:cNvPr id="34" name="Text 27"/>
          <p:cNvSpPr/>
          <p:nvPr/>
        </p:nvSpPr>
        <p:spPr>
          <a:xfrm>
            <a:off x="3456432" y="4105656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minimale de 2 s pour protéger le broker.</a:t>
            </a:r>
            <a:endParaRPr lang="en-US" sz="1050"/>
          </a:p>
        </p:txBody>
      </p:sp>
      <p:sp>
        <p:nvSpPr>
          <p:cNvPr id="35" name="Text 28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6" name="Text 29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solution</a:t>
            </a:r>
            <a:endParaRPr lang="en-US" sz="850"/>
          </a:p>
        </p:txBody>
      </p:sp>
      <p:sp>
        <p:nvSpPr>
          <p:cNvPr id="37" name="Shape 30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8" name="Shape 31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9" name="Text 32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/>
          </a:p>
        </p:txBody>
      </p:sp>
      <p:pic>
        <p:nvPicPr>
          <p:cNvPr id="40" name="Graphic 40" descr="Wi-F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500" y="2260600"/>
            <a:ext cx="228600" cy="228600"/>
          </a:xfrm>
          <a:prstGeom prst="rect">
            <a:avLst/>
          </a:prstGeom>
        </p:spPr>
      </p:pic>
      <p:pic>
        <p:nvPicPr>
          <p:cNvPr id="42" name="Graphic 42" descr="Triangle d'avertisse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2700" y="2260600"/>
            <a:ext cx="228600" cy="228600"/>
          </a:xfrm>
          <a:prstGeom prst="rect">
            <a:avLst/>
          </a:prstGeom>
        </p:spPr>
      </p:pic>
      <p:pic>
        <p:nvPicPr>
          <p:cNvPr id="43" name="Graphic 43" descr="Avion en papier / public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" y="3695700"/>
            <a:ext cx="228600" cy="228600"/>
          </a:xfrm>
          <a:prstGeom prst="rect">
            <a:avLst/>
          </a:prstGeom>
        </p:spPr>
      </p:pic>
      <p:pic>
        <p:nvPicPr>
          <p:cNvPr id="44" name="Graphic 44" descr="Chronomètre / fréque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4100" y="3695700"/>
            <a:ext cx="228600" cy="228600"/>
          </a:xfrm>
          <a:prstGeom prst="rect">
            <a:avLst/>
          </a:prstGeom>
        </p:spPr>
      </p:pic>
      <p:pic>
        <p:nvPicPr>
          <p:cNvPr id="45" name="Graphic 45" descr="Flèches circulaires de rafraîchissement / reconnex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94100" y="226060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722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55F56A-5074-21B4-83DD-4FA8E7B28A89}"/>
              </a:ext>
            </a:extLst>
          </p:cNvPr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EDCD28-876B-3C8B-5DB6-562A302747A7}"/>
              </a:ext>
            </a:extLst>
          </p:cNvPr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96C195C-4E00-C7A1-609B-F6648A35CF96}"/>
              </a:ext>
            </a:extLst>
          </p:cNvPr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5A76CCD-287B-A041-83F0-D51CDF391B43}"/>
              </a:ext>
            </a:extLst>
          </p:cNvPr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F819086-35C5-B500-9B9D-A23B5904798A}"/>
              </a:ext>
            </a:extLst>
          </p:cNvPr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6D3AEEF-6E25-6267-2881-ADA9910FBAA9}"/>
              </a:ext>
            </a:extLst>
          </p:cNvPr>
          <p:cNvSpPr/>
          <p:nvPr/>
        </p:nvSpPr>
        <p:spPr>
          <a:xfrm>
            <a:off x="302198" y="0"/>
            <a:ext cx="3485313" cy="58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err="1">
                <a:solidFill>
                  <a:srgbClr val="FFFFFF"/>
                </a:solidFill>
                <a:latin typeface="Bookman Old Style"/>
              </a:rPr>
              <a:t>Limites et risques du module IoT</a:t>
            </a:r>
            <a:endParaRPr lang="en-US" sz="1400">
              <a:solidFill>
                <a:srgbClr val="000000"/>
              </a:solidFill>
              <a:latin typeface="Bookman Old Style"/>
            </a:endParaRPr>
          </a:p>
          <a:p>
            <a:endParaRPr lang="en-US" sz="1050" b="1">
              <a:solidFill>
                <a:srgbClr val="FFFFFF"/>
              </a:solidFill>
              <a:latin typeface="Bookman Old Style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8EE2CD52-224E-720F-341F-A120A19D374C}"/>
              </a:ext>
            </a:extLst>
          </p:cNvPr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AC675372-C9B3-D292-770B-D3398AF846BE}"/>
              </a:ext>
            </a:extLst>
          </p:cNvPr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solution</a:t>
            </a:r>
            <a:endParaRPr lang="en-US" sz="850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04207210-19D6-0ACE-4245-9B78FC35D69E}"/>
              </a:ext>
            </a:extLst>
          </p:cNvPr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D40FD9C5-9114-6A91-7E29-18170EFE36B1}"/>
              </a:ext>
            </a:extLst>
          </p:cNvPr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91C2086B-5F2F-C200-AEF3-AF78CC6804EF}"/>
              </a:ext>
            </a:extLst>
          </p:cNvPr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  <a:endParaRPr lang="en-US" sz="110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264038A2-5579-5835-B463-58803612891E}"/>
              </a:ext>
            </a:extLst>
          </p:cNvPr>
          <p:cNvSpPr/>
          <p:nvPr/>
        </p:nvSpPr>
        <p:spPr>
          <a:xfrm>
            <a:off x="319538" y="817106"/>
            <a:ext cx="8229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err="1">
                <a:latin typeface="Calibri"/>
                <a:ea typeface="Calibri"/>
                <a:cs typeface="Calibri"/>
              </a:rPr>
              <a:t>Limites assumées dans ce prototype, et pistes identifiées pour la production.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E1E7F9D-1E21-B294-4518-5D1557FBC7A3}"/>
              </a:ext>
            </a:extLst>
          </p:cNvPr>
          <p:cNvSpPr/>
          <p:nvPr/>
        </p:nvSpPr>
        <p:spPr>
          <a:xfrm>
            <a:off x="305822" y="1194296"/>
            <a:ext cx="5143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latin typeface="Bookman Old Style"/>
                <a:ea typeface="Bookman Old Style" pitchFamily="34" charset="-122"/>
                <a:cs typeface="Bookman Old Style" pitchFamily="34" charset="-120"/>
              </a:rPr>
              <a:t>Limites techniques</a:t>
            </a:r>
            <a:endParaRPr lang="en-US" sz="1200">
              <a:latin typeface="Bookman Old Style"/>
              <a:ea typeface="Calibri"/>
              <a:cs typeface="Calibri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263EB7A3-B58B-8190-8EF0-5D0433E73C3C}"/>
              </a:ext>
            </a:extLst>
          </p:cNvPr>
          <p:cNvSpPr/>
          <p:nvPr/>
        </p:nvSpPr>
        <p:spPr>
          <a:xfrm>
            <a:off x="305822" y="1516622"/>
            <a:ext cx="5143500" cy="562356"/>
          </a:xfrm>
          <a:prstGeom prst="roundRect">
            <a:avLst>
              <a:gd name="adj" fmla="val 8537"/>
            </a:avLst>
          </a:prstGeom>
          <a:solidFill>
            <a:srgbClr val="1E3A5F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FE6C8807-F67C-6BD8-E2BF-B708C8C76B23}"/>
              </a:ext>
            </a:extLst>
          </p:cNvPr>
          <p:cNvSpPr/>
          <p:nvPr/>
        </p:nvSpPr>
        <p:spPr>
          <a:xfrm>
            <a:off x="305822" y="1516622"/>
            <a:ext cx="68580" cy="562356"/>
          </a:xfrm>
          <a:prstGeom prst="rect">
            <a:avLst/>
          </a:prstGeom>
          <a:solidFill>
            <a:srgbClr val="1C9C8C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CB61457-46C4-D1F9-4022-F14CEA230FD6}"/>
              </a:ext>
            </a:extLst>
          </p:cNvPr>
          <p:cNvSpPr/>
          <p:nvPr/>
        </p:nvSpPr>
        <p:spPr>
          <a:xfrm>
            <a:off x="511562" y="1571486"/>
            <a:ext cx="14401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rgbClr val="BFE6E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DHT22</a:t>
            </a:r>
            <a:endParaRPr lang="en-US" sz="105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C0C448B-7F2D-A7FE-9EB6-83AF84B62E74}"/>
              </a:ext>
            </a:extLst>
          </p:cNvPr>
          <p:cNvSpPr/>
          <p:nvPr/>
        </p:nvSpPr>
        <p:spPr>
          <a:xfrm>
            <a:off x="1986032" y="1571486"/>
            <a:ext cx="3429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et cadence limitées (~0,5 Hz) : suffisant pour des dérives lentes.</a:t>
            </a:r>
            <a:endParaRPr lang="en-US" sz="90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0D407610-4075-709D-482B-606BE769B0EF}"/>
              </a:ext>
            </a:extLst>
          </p:cNvPr>
          <p:cNvSpPr/>
          <p:nvPr/>
        </p:nvSpPr>
        <p:spPr>
          <a:xfrm>
            <a:off x="305822" y="2133842"/>
            <a:ext cx="5143500" cy="562356"/>
          </a:xfrm>
          <a:prstGeom prst="roundRect">
            <a:avLst>
              <a:gd name="adj" fmla="val 8537"/>
            </a:avLst>
          </a:prstGeom>
          <a:solidFill>
            <a:srgbClr val="1E3A5F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F84418E8-9CF8-54F1-2A7B-7D251075D823}"/>
              </a:ext>
            </a:extLst>
          </p:cNvPr>
          <p:cNvSpPr/>
          <p:nvPr/>
        </p:nvSpPr>
        <p:spPr>
          <a:xfrm>
            <a:off x="305822" y="2133842"/>
            <a:ext cx="68580" cy="562356"/>
          </a:xfrm>
          <a:prstGeom prst="rect">
            <a:avLst/>
          </a:prstGeom>
          <a:solidFill>
            <a:srgbClr val="1C9C8C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6E43D8C-CF30-607F-D066-445B1EC6BBF7}"/>
              </a:ext>
            </a:extLst>
          </p:cNvPr>
          <p:cNvSpPr/>
          <p:nvPr/>
        </p:nvSpPr>
        <p:spPr>
          <a:xfrm>
            <a:off x="511562" y="2188706"/>
            <a:ext cx="14401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rgbClr val="BFE6E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Capteur unique</a:t>
            </a:r>
            <a:endParaRPr lang="en-US" sz="105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089E4781-7285-4F02-CE25-61C3856B5931}"/>
              </a:ext>
            </a:extLst>
          </p:cNvPr>
          <p:cNvSpPr/>
          <p:nvPr/>
        </p:nvSpPr>
        <p:spPr>
          <a:xfrm>
            <a:off x="1986032" y="2188706"/>
            <a:ext cx="3429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défaillance unique par entrepôt, sans redondance.</a:t>
            </a:r>
            <a:endParaRPr lang="en-US" sz="90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7F619A50-3EF5-9870-51EF-7EB7BBE9D31D}"/>
              </a:ext>
            </a:extLst>
          </p:cNvPr>
          <p:cNvSpPr/>
          <p:nvPr/>
        </p:nvSpPr>
        <p:spPr>
          <a:xfrm>
            <a:off x="305822" y="2751062"/>
            <a:ext cx="5143500" cy="562356"/>
          </a:xfrm>
          <a:prstGeom prst="roundRect">
            <a:avLst>
              <a:gd name="adj" fmla="val 8537"/>
            </a:avLst>
          </a:prstGeom>
          <a:solidFill>
            <a:srgbClr val="1E3A5F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61016D3C-8BD4-971E-8802-ECA1F6AF7C4A}"/>
              </a:ext>
            </a:extLst>
          </p:cNvPr>
          <p:cNvSpPr/>
          <p:nvPr/>
        </p:nvSpPr>
        <p:spPr>
          <a:xfrm>
            <a:off x="305822" y="2751062"/>
            <a:ext cx="68580" cy="562356"/>
          </a:xfrm>
          <a:prstGeom prst="rect">
            <a:avLst/>
          </a:prstGeom>
          <a:solidFill>
            <a:srgbClr val="1C9C8C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D66B273E-C48C-84C8-B2D1-3035B5307CD5}"/>
              </a:ext>
            </a:extLst>
          </p:cNvPr>
          <p:cNvSpPr/>
          <p:nvPr/>
        </p:nvSpPr>
        <p:spPr>
          <a:xfrm>
            <a:off x="511562" y="2805926"/>
            <a:ext cx="14401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rgbClr val="BFE6E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Pas de tampon local</a:t>
            </a:r>
            <a:endParaRPr lang="en-US" sz="105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A1CD6C43-05F7-D250-1495-5E004C209B02}"/>
              </a:ext>
            </a:extLst>
          </p:cNvPr>
          <p:cNvSpPr/>
          <p:nvPr/>
        </p:nvSpPr>
        <p:spPr>
          <a:xfrm>
            <a:off x="1986032" y="2805926"/>
            <a:ext cx="3429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Coupure réseau prolongée = mesures perdues, non mémorisées.</a:t>
            </a:r>
            <a:endParaRPr lang="en-US" sz="90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87C24FA0-2603-EEBB-7167-75A6C183E05C}"/>
              </a:ext>
            </a:extLst>
          </p:cNvPr>
          <p:cNvSpPr/>
          <p:nvPr/>
        </p:nvSpPr>
        <p:spPr>
          <a:xfrm>
            <a:off x="5620772" y="1194296"/>
            <a:ext cx="3086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err="1">
                <a:latin typeface="Bookman Old Style"/>
                <a:ea typeface="Bookman Old Style" pitchFamily="34" charset="-122"/>
                <a:cs typeface="Bookman Old Style" pitchFamily="34" charset="-120"/>
              </a:rPr>
              <a:t>Risques &amp; pistes</a:t>
            </a:r>
            <a:endParaRPr lang="en-US" sz="1400">
              <a:latin typeface="Bookman Old Style"/>
            </a:endParaRPr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11628706-6929-02E8-D31F-FF7F4DA88407}"/>
              </a:ext>
            </a:extLst>
          </p:cNvPr>
          <p:cNvSpPr/>
          <p:nvPr/>
        </p:nvSpPr>
        <p:spPr>
          <a:xfrm>
            <a:off x="5620772" y="1516622"/>
            <a:ext cx="3086100" cy="548640"/>
          </a:xfrm>
          <a:prstGeom prst="roundRect">
            <a:avLst>
              <a:gd name="adj" fmla="val 8750"/>
            </a:avLst>
          </a:prstGeom>
          <a:solidFill>
            <a:srgbClr val="1E3A5F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34AAC085-F5E4-5A1F-9231-0A35D92E44A2}"/>
              </a:ext>
            </a:extLst>
          </p:cNvPr>
          <p:cNvSpPr/>
          <p:nvPr/>
        </p:nvSpPr>
        <p:spPr>
          <a:xfrm>
            <a:off x="5757932" y="1544054"/>
            <a:ext cx="2811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BFE6E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Sécurité MQTT</a:t>
            </a:r>
            <a:endParaRPr lang="en-US" sz="90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65F0F26E-4806-598E-6C2A-09BEC24268B8}"/>
              </a:ext>
            </a:extLst>
          </p:cNvPr>
          <p:cNvSpPr/>
          <p:nvPr/>
        </p:nvSpPr>
        <p:spPr>
          <a:xfrm>
            <a:off x="5757932" y="1777226"/>
            <a:ext cx="2811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en accès anonyme pour la démonstration</a:t>
            </a:r>
            <a:endParaRPr lang="en-US" sz="825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70D1223B-BA16-91E2-9C55-EC75C35D2D11}"/>
              </a:ext>
            </a:extLst>
          </p:cNvPr>
          <p:cNvSpPr/>
          <p:nvPr/>
        </p:nvSpPr>
        <p:spPr>
          <a:xfrm>
            <a:off x="5620772" y="2120126"/>
            <a:ext cx="3086100" cy="548640"/>
          </a:xfrm>
          <a:prstGeom prst="roundRect">
            <a:avLst>
              <a:gd name="adj" fmla="val 8750"/>
            </a:avLst>
          </a:prstGeom>
          <a:solidFill>
            <a:srgbClr val="1E3A5F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EC632926-CD14-4E7D-27D9-A2174F3375D6}"/>
              </a:ext>
            </a:extLst>
          </p:cNvPr>
          <p:cNvSpPr/>
          <p:nvPr/>
        </p:nvSpPr>
        <p:spPr>
          <a:xfrm>
            <a:off x="5757932" y="2147558"/>
            <a:ext cx="2811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BFE6E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Dépendance Wi-Fi</a:t>
            </a:r>
            <a:endParaRPr lang="en-US" sz="90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CE9013CF-5618-3E42-5CD8-DFA769F61064}"/>
              </a:ext>
            </a:extLst>
          </p:cNvPr>
          <p:cNvSpPr/>
          <p:nvPr/>
        </p:nvSpPr>
        <p:spPr>
          <a:xfrm>
            <a:off x="5757932" y="2380730"/>
            <a:ext cx="2811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Entrepôts mal couverts : prévoir un repli LoRa</a:t>
            </a:r>
            <a:endParaRPr lang="en-US" sz="825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B7786DBE-D437-DD01-F607-34F53A4D77E9}"/>
              </a:ext>
            </a:extLst>
          </p:cNvPr>
          <p:cNvSpPr/>
          <p:nvPr/>
        </p:nvSpPr>
        <p:spPr>
          <a:xfrm>
            <a:off x="5620772" y="2723630"/>
            <a:ext cx="3086100" cy="548640"/>
          </a:xfrm>
          <a:prstGeom prst="roundRect">
            <a:avLst>
              <a:gd name="adj" fmla="val 8750"/>
            </a:avLst>
          </a:prstGeom>
          <a:solidFill>
            <a:srgbClr val="1E3A5F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04DCA972-4811-E274-E73C-52969DF45EBD}"/>
              </a:ext>
            </a:extLst>
          </p:cNvPr>
          <p:cNvSpPr/>
          <p:nvPr/>
        </p:nvSpPr>
        <p:spPr>
          <a:xfrm>
            <a:off x="5757932" y="2751062"/>
            <a:ext cx="2811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BFE6E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Chiffrement</a:t>
            </a:r>
            <a:endParaRPr lang="en-US" sz="900"/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B329F249-452C-2989-2C77-5ABAECFDF38A}"/>
              </a:ext>
            </a:extLst>
          </p:cNvPr>
          <p:cNvSpPr/>
          <p:nvPr/>
        </p:nvSpPr>
        <p:spPr>
          <a:xfrm>
            <a:off x="5757932" y="2984234"/>
            <a:ext cx="2811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à ajouter en production</a:t>
            </a:r>
            <a:endParaRPr lang="en-US" sz="825"/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F38A3716-91DA-A9EB-1EC3-0EDCE5C1AFC5}"/>
              </a:ext>
            </a:extLst>
          </p:cNvPr>
          <p:cNvSpPr/>
          <p:nvPr/>
        </p:nvSpPr>
        <p:spPr>
          <a:xfrm>
            <a:off x="5620772" y="3327134"/>
            <a:ext cx="3086100" cy="548640"/>
          </a:xfrm>
          <a:prstGeom prst="roundRect">
            <a:avLst>
              <a:gd name="adj" fmla="val 8750"/>
            </a:avLst>
          </a:prstGeom>
          <a:solidFill>
            <a:srgbClr val="1E3A5F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CC095CBC-5218-D9C5-C7DC-B450A70B1710}"/>
              </a:ext>
            </a:extLst>
          </p:cNvPr>
          <p:cNvSpPr/>
          <p:nvPr/>
        </p:nvSpPr>
        <p:spPr>
          <a:xfrm>
            <a:off x="5757932" y="3354566"/>
            <a:ext cx="2811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BFE6E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Redondance</a:t>
            </a:r>
            <a:endParaRPr lang="en-US" sz="900"/>
          </a:p>
        </p:txBody>
      </p:sp>
      <p:sp>
        <p:nvSpPr>
          <p:cNvPr id="54" name="Text 28">
            <a:extLst>
              <a:ext uri="{FF2B5EF4-FFF2-40B4-BE49-F238E27FC236}">
                <a16:creationId xmlns:a16="http://schemas.microsoft.com/office/drawing/2014/main" id="{26A88432-1BED-BCC2-BD08-F8FEE17C60C0}"/>
              </a:ext>
            </a:extLst>
          </p:cNvPr>
          <p:cNvSpPr/>
          <p:nvPr/>
        </p:nvSpPr>
        <p:spPr>
          <a:xfrm>
            <a:off x="5757932" y="3587738"/>
            <a:ext cx="2811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capteur par entrepôt à prévoir</a:t>
            </a:r>
            <a:endParaRPr lang="en-US" sz="825"/>
          </a:p>
        </p:txBody>
      </p:sp>
      <p:sp>
        <p:nvSpPr>
          <p:cNvPr id="55" name="Shape 29">
            <a:extLst>
              <a:ext uri="{FF2B5EF4-FFF2-40B4-BE49-F238E27FC236}">
                <a16:creationId xmlns:a16="http://schemas.microsoft.com/office/drawing/2014/main" id="{BA26D5CC-4444-CB76-24CE-3D8AD63E4CF4}"/>
              </a:ext>
            </a:extLst>
          </p:cNvPr>
          <p:cNvSpPr/>
          <p:nvPr/>
        </p:nvSpPr>
        <p:spPr>
          <a:xfrm>
            <a:off x="305822" y="3971786"/>
            <a:ext cx="8236569" cy="667624"/>
          </a:xfrm>
          <a:prstGeom prst="roundRect">
            <a:avLst>
              <a:gd name="adj" fmla="val 5797"/>
            </a:avLst>
          </a:prstGeom>
          <a:solidFill>
            <a:srgbClr val="1A3A2A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57" name="Text 30">
            <a:extLst>
              <a:ext uri="{FF2B5EF4-FFF2-40B4-BE49-F238E27FC236}">
                <a16:creationId xmlns:a16="http://schemas.microsoft.com/office/drawing/2014/main" id="{385E67F9-F662-6CB5-2129-C24C16E11EE8}"/>
              </a:ext>
            </a:extLst>
          </p:cNvPr>
          <p:cNvSpPr/>
          <p:nvPr/>
        </p:nvSpPr>
        <p:spPr>
          <a:xfrm>
            <a:off x="957332" y="3971786"/>
            <a:ext cx="7406640" cy="577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BFE6E0"/>
                </a:solidFill>
                <a:latin typeface="Calibri"/>
                <a:ea typeface="Calibri"/>
                <a:cs typeface="Calibri"/>
              </a:rPr>
              <a:t>Ces limites sont assumées : le livrable est un prototype avancé destiné à démontrer la faisabilité, pas une solution de production.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6069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0" y="1600200"/>
            <a:ext cx="2194560" cy="868680"/>
          </a:xfrm>
          <a:prstGeom prst="rect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1828800" y="1600200"/>
            <a:ext cx="914400" cy="86868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2194560" cy="868680"/>
          </a:xfrm>
          <a:prstGeom prst="rect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1828800" y="2606040"/>
            <a:ext cx="914400" cy="86868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828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>
                <a:solidFill>
                  <a:srgbClr val="22A8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960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960120" cy="960120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952" y="1493672"/>
            <a:ext cx="441655" cy="4416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26671" y="21717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>
                <a:solidFill>
                  <a:srgbClr val="22A8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PARTIE III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4572000" y="27432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err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Qualité</a:t>
            </a:r>
            <a:r>
              <a:rPr lang="en-US" sz="3600" b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et </a:t>
            </a:r>
            <a:r>
              <a:rPr lang="en-US" sz="3600" b="1" err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industrialisation</a:t>
            </a:r>
            <a:endParaRPr lang="en-US" sz="3600"/>
          </a:p>
        </p:txBody>
      </p:sp>
      <p:sp>
        <p:nvSpPr>
          <p:cNvPr id="12" name="Text 9"/>
          <p:cNvSpPr/>
          <p:nvPr/>
        </p:nvSpPr>
        <p:spPr>
          <a:xfrm>
            <a:off x="4526671" y="39090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Plans de tests,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continus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8229600" y="4617720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1"/>
          <p:cNvSpPr/>
          <p:nvPr/>
        </p:nvSpPr>
        <p:spPr>
          <a:xfrm>
            <a:off x="8229600" y="461772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Qualité et industrialisation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Stratégie de test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automatisés ciblant la logique métier critique, isolés et rejouables.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 qui est ciblé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d'alertes : seuils, hystérésis, péremption.</a:t>
            </a:r>
            <a:endParaRPr lang="en-US" sz="120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d'accès par pays.</a:t>
            </a:r>
            <a:endParaRPr lang="en-US" sz="120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multi-pays.</a:t>
            </a:r>
            <a:endParaRPr lang="en-US" sz="120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d'affichage du front-end.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892040" y="1600200"/>
            <a:ext cx="1783080" cy="64008"/>
          </a:xfrm>
          <a:prstGeom prst="rect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3" name="Shape 11"/>
          <p:cNvSpPr/>
          <p:nvPr/>
        </p:nvSpPr>
        <p:spPr>
          <a:xfrm>
            <a:off x="4892040" y="1664208"/>
            <a:ext cx="1783080" cy="105156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2"/>
          <p:cNvSpPr/>
          <p:nvPr/>
        </p:nvSpPr>
        <p:spPr>
          <a:xfrm>
            <a:off x="4892040" y="17099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</a:t>
            </a:r>
            <a:endParaRPr lang="en-US" sz="3400"/>
          </a:p>
        </p:txBody>
      </p:sp>
      <p:sp>
        <p:nvSpPr>
          <p:cNvPr id="15" name="Text 13"/>
          <p:cNvSpPr/>
          <p:nvPr/>
        </p:nvSpPr>
        <p:spPr>
          <a:xfrm>
            <a:off x="4892040" y="2313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back-end pays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6839712" y="1600200"/>
            <a:ext cx="1783080" cy="64008"/>
          </a:xfrm>
          <a:prstGeom prst="rect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7" name="Shape 15"/>
          <p:cNvSpPr/>
          <p:nvPr/>
        </p:nvSpPr>
        <p:spPr>
          <a:xfrm>
            <a:off x="6839712" y="1664208"/>
            <a:ext cx="1783080" cy="105156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Text 16"/>
          <p:cNvSpPr/>
          <p:nvPr/>
        </p:nvSpPr>
        <p:spPr>
          <a:xfrm>
            <a:off x="6839712" y="17099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3400"/>
          </a:p>
        </p:txBody>
      </p:sp>
      <p:sp>
        <p:nvSpPr>
          <p:cNvPr id="19" name="Text 17"/>
          <p:cNvSpPr/>
          <p:nvPr/>
        </p:nvSpPr>
        <p:spPr>
          <a:xfrm>
            <a:off x="6839712" y="2313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back-end central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892040" y="2816352"/>
            <a:ext cx="1783080" cy="64008"/>
          </a:xfrm>
          <a:prstGeom prst="rect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1" name="Shape 19"/>
          <p:cNvSpPr/>
          <p:nvPr/>
        </p:nvSpPr>
        <p:spPr>
          <a:xfrm>
            <a:off x="4892040" y="2880360"/>
            <a:ext cx="1783080" cy="105156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2" name="Text 20"/>
          <p:cNvSpPr/>
          <p:nvPr/>
        </p:nvSpPr>
        <p:spPr>
          <a:xfrm>
            <a:off x="4892040" y="29260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</a:t>
            </a:r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4892040" y="35295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front-end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6839712" y="2816352"/>
            <a:ext cx="1783080" cy="64008"/>
          </a:xfrm>
          <a:prstGeom prst="rect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5" name="Shape 23"/>
          <p:cNvSpPr/>
          <p:nvPr/>
        </p:nvSpPr>
        <p:spPr>
          <a:xfrm>
            <a:off x="6839712" y="2880360"/>
            <a:ext cx="1783080" cy="105156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6" name="Text 24"/>
          <p:cNvSpPr/>
          <p:nvPr/>
        </p:nvSpPr>
        <p:spPr>
          <a:xfrm>
            <a:off x="6839712" y="29260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</a:t>
            </a:r>
            <a:endParaRPr lang="en-US" sz="3400"/>
          </a:p>
        </p:txBody>
      </p:sp>
      <p:sp>
        <p:nvSpPr>
          <p:cNvPr id="27" name="Text 25"/>
          <p:cNvSpPr/>
          <p:nvPr/>
        </p:nvSpPr>
        <p:spPr>
          <a:xfrm>
            <a:off x="6839712" y="35295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 total, 100 % verts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4892040" y="4114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i="1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 externes simulées (Mockito) : ni base, ni broker MQTT, ni serveur démarré.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2" name="Shape 30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31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253177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Qualité et industrialisation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Cas de test — moteur d'alertes (back-end pays)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tests couvrent seuils, hystérésis et péremption.</a:t>
            </a:r>
            <a:endParaRPr lang="en-US" sz="12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02920" y="1874520"/>
          <a:ext cx="8138160" cy="243230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 d'entrée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attendu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Anti-flapping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mesure hors plage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alerte levée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Hystérésis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Ouverture confirmée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mesures consécutives hors plage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alerte + 1 e-mail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Hystérésis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Péremption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stocké depuis &gt; 365 jours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PERIME + alerte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Péremption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Anti-doublon péremption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alerte péremption déjà active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seconde alerte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Péremption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Seuils — bornes incluses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= borne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dans la bande (≥ et ≤)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Seuils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Seuils — tout hors plage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température et humidité hors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hors bande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Seuils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1B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de données construits dans les tests eux-mêmes : résultats prévisibles et vérifiables.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13" name="Text 10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14" name="Shape 11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5" name="Shape 12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6" name="Text 13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773413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Qualité et industrialisation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Cas de test — isolation et consolidation (back-end central)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 couvrent l'isolation par pays et la consolidation multi-pays.</a:t>
            </a:r>
            <a:endParaRPr lang="en-US" sz="12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02920" y="1874520"/>
          <a:ext cx="8138160" cy="243230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 d'entrée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attendu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Portée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 « tous pays » (*)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à n'importe quel pays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de son pays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BR interrogeant BR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autorisé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d'un autre pays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BR interrogeant EC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refusé (403)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multi-pays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lots de deux pays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lots fusionnés, tagués pays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Tolérance aux pannes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pays injoignable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 ignoré, les autres renvoyés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Résilience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 inconnu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pays invalide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erreur 404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1B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administrateur rattaché à un pays ne peut jamais consulter les données d'un autre pays.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13" name="Text 10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14" name="Shape 11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5" name="Shape 12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6" name="Text 13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285844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Qualité et industrialisation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Gestion des anomalies — cycle qualité</a:t>
            </a:r>
            <a:endParaRPr lang="en-US" sz="2600"/>
          </a:p>
        </p:txBody>
      </p:sp>
      <p:sp>
        <p:nvSpPr>
          <p:cNvPr id="9" name="Shape 7"/>
          <p:cNvSpPr/>
          <p:nvPr/>
        </p:nvSpPr>
        <p:spPr>
          <a:xfrm>
            <a:off x="1417320" y="1524000"/>
            <a:ext cx="384048" cy="384048"/>
          </a:xfrm>
          <a:prstGeom prst="ellipse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0" name="Text 8"/>
          <p:cNvSpPr/>
          <p:nvPr/>
        </p:nvSpPr>
        <p:spPr>
          <a:xfrm>
            <a:off x="1417320" y="1524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1965960" y="1485900"/>
            <a:ext cx="5760720" cy="457200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2" name="Text 10"/>
          <p:cNvSpPr/>
          <p:nvPr/>
        </p:nvSpPr>
        <p:spPr>
          <a:xfrm>
            <a:off x="2148840" y="14859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réussite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cas valide ses assertions ; la suite complète (31/31) doit être verte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1417320" y="21844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2"/>
          <p:cNvSpPr/>
          <p:nvPr/>
        </p:nvSpPr>
        <p:spPr>
          <a:xfrm>
            <a:off x="1417320" y="218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1965960" y="2146300"/>
            <a:ext cx="5760720" cy="457200"/>
          </a:xfrm>
          <a:prstGeom prst="rect">
            <a:avLst/>
          </a:prstGeom>
          <a:solidFill>
            <a:srgbClr val="E4F4EF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6" name="Text 14"/>
          <p:cNvSpPr/>
          <p:nvPr/>
        </p:nvSpPr>
        <p:spPr>
          <a:xfrm>
            <a:off x="2148840" y="21463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&amp; correction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 échec ou dysfonctionnement signalé ; code corrigé, nouveau cas si besoin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1417320" y="28448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Text 16"/>
          <p:cNvSpPr/>
          <p:nvPr/>
        </p:nvSpPr>
        <p:spPr>
          <a:xfrm>
            <a:off x="1417320" y="284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1965960" y="2806700"/>
            <a:ext cx="5760720" cy="457200"/>
          </a:xfrm>
          <a:prstGeom prst="rect">
            <a:avLst/>
          </a:prstGeom>
          <a:solidFill>
            <a:srgbClr val="FBF1DD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0" name="Text 18"/>
          <p:cNvSpPr/>
          <p:nvPr/>
        </p:nvSpPr>
        <p:spPr>
          <a:xfrm>
            <a:off x="2148840" y="28067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&amp; non-régression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rejouée localement, puis systématiquement en CI à chaque commit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1417320" y="35052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2" name="Text 20"/>
          <p:cNvSpPr/>
          <p:nvPr/>
        </p:nvSpPr>
        <p:spPr>
          <a:xfrm>
            <a:off x="1417320" y="3505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1965960" y="3467100"/>
            <a:ext cx="5760720" cy="457200"/>
          </a:xfrm>
          <a:prstGeom prst="rect">
            <a:avLst/>
          </a:prstGeom>
          <a:solidFill>
            <a:srgbClr val="ECE8F4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4" name="Text 22"/>
          <p:cNvSpPr/>
          <p:nvPr/>
        </p:nvSpPr>
        <p:spPr>
          <a:xfrm>
            <a:off x="2148840" y="34671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publiés au format JUnit, consultables dans Jenkins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1417320" y="4165600"/>
            <a:ext cx="384048" cy="384048"/>
          </a:xfrm>
          <a:prstGeom prst="ellipse">
            <a:avLst/>
          </a:prstGeom>
          <a:solidFill>
            <a:srgbClr val="1B7967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4" name="Text 32"/>
          <p:cNvSpPr/>
          <p:nvPr/>
        </p:nvSpPr>
        <p:spPr>
          <a:xfrm>
            <a:off x="1417320" y="4165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</a:t>
            </a:r>
            <a:endParaRPr lang="en-US" sz="1400"/>
          </a:p>
        </p:txBody>
      </p:sp>
      <p:sp>
        <p:nvSpPr>
          <p:cNvPr id="35" name="Shape 33"/>
          <p:cNvSpPr/>
          <p:nvPr/>
        </p:nvSpPr>
        <p:spPr>
          <a:xfrm>
            <a:off x="1965960" y="4127500"/>
            <a:ext cx="5760720" cy="457200"/>
          </a:xfrm>
          <a:prstGeom prst="rect">
            <a:avLst/>
          </a:prstGeom>
          <a:solidFill>
            <a:srgbClr val="E9F3E4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6" name="Text 34"/>
          <p:cNvSpPr/>
          <p:nvPr/>
        </p:nvSpPr>
        <p:spPr>
          <a:xfrm>
            <a:off x="2148840" y="41275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cas « anti-flapping » bloquerait toute régression future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0" name="Shape 38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1" name="Text 39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158697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Qualité et industrialisation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Chaîne d'intégration continue (CI)</a:t>
            </a:r>
            <a:endParaRPr lang="en-US" sz="260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10" name="Shape 8"/>
          <p:cNvSpPr/>
          <p:nvPr/>
        </p:nvSpPr>
        <p:spPr>
          <a:xfrm>
            <a:off x="685800" y="1741932"/>
            <a:ext cx="585216" cy="585216"/>
          </a:xfrm>
          <a:prstGeom prst="ellipse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1" name="Text 9"/>
          <p:cNvSpPr/>
          <p:nvPr/>
        </p:nvSpPr>
        <p:spPr>
          <a:xfrm>
            <a:off x="685800" y="17419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1417320" y="17099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Checkout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1417320" y="2039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du code depuis le dépôt Git.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4709160" y="160020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15" name="Shape 13"/>
          <p:cNvSpPr/>
          <p:nvPr/>
        </p:nvSpPr>
        <p:spPr>
          <a:xfrm>
            <a:off x="4892040" y="1741932"/>
            <a:ext cx="585216" cy="585216"/>
          </a:xfrm>
          <a:prstGeom prst="ellipse">
            <a:avLst/>
          </a:prstGeom>
          <a:solidFill>
            <a:srgbClr val="503B7E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6" name="Text 14"/>
          <p:cNvSpPr/>
          <p:nvPr/>
        </p:nvSpPr>
        <p:spPr>
          <a:xfrm>
            <a:off x="4892040" y="17419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5623560" y="17099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Tests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5623560" y="2039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tests automatisés, résultats publiés au format JUnit.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502920" y="2633472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20" name="Shape 18"/>
          <p:cNvSpPr/>
          <p:nvPr/>
        </p:nvSpPr>
        <p:spPr>
          <a:xfrm>
            <a:off x="685800" y="2775204"/>
            <a:ext cx="585216" cy="585216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1" name="Text 19"/>
          <p:cNvSpPr/>
          <p:nvPr/>
        </p:nvSpPr>
        <p:spPr>
          <a:xfrm>
            <a:off x="685800" y="27752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1417320" y="27432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Packaging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1417320" y="30723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Archives JAR des back-ends + build de production du front.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4709160" y="2633472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25" name="Shape 23"/>
          <p:cNvSpPr/>
          <p:nvPr/>
        </p:nvSpPr>
        <p:spPr>
          <a:xfrm>
            <a:off x="4892040" y="2775204"/>
            <a:ext cx="585216" cy="585216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6" name="Text 24"/>
          <p:cNvSpPr/>
          <p:nvPr/>
        </p:nvSpPr>
        <p:spPr>
          <a:xfrm>
            <a:off x="4892040" y="27752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/>
          </a:p>
        </p:txBody>
      </p:sp>
      <p:sp>
        <p:nvSpPr>
          <p:cNvPr id="27" name="Text 25"/>
          <p:cNvSpPr/>
          <p:nvPr/>
        </p:nvSpPr>
        <p:spPr>
          <a:xfrm>
            <a:off x="5623560" y="27432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Images Docker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5623560" y="30723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des images conteneurisées des deux back-ends.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502920" y="3666744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30" name="Shape 28"/>
          <p:cNvSpPr/>
          <p:nvPr/>
        </p:nvSpPr>
        <p:spPr>
          <a:xfrm>
            <a:off x="685800" y="3808476"/>
            <a:ext cx="585216" cy="585216"/>
          </a:xfrm>
          <a:prstGeom prst="ellipse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1" name="Text 29"/>
          <p:cNvSpPr/>
          <p:nvPr/>
        </p:nvSpPr>
        <p:spPr>
          <a:xfrm>
            <a:off x="685800" y="38084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00"/>
          </a:p>
        </p:txBody>
      </p:sp>
      <p:sp>
        <p:nvSpPr>
          <p:cNvPr id="32" name="Text 30"/>
          <p:cNvSpPr/>
          <p:nvPr/>
        </p:nvSpPr>
        <p:spPr>
          <a:xfrm>
            <a:off x="1417320" y="37764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Archivage</a:t>
            </a:r>
            <a:endParaRPr lang="en-US" sz="1300"/>
          </a:p>
        </p:txBody>
      </p:sp>
      <p:sp>
        <p:nvSpPr>
          <p:cNvPr id="33" name="Text 31"/>
          <p:cNvSpPr/>
          <p:nvPr/>
        </p:nvSpPr>
        <p:spPr>
          <a:xfrm>
            <a:off x="1417320" y="41056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des artefacts téléchargeables depuis Jenkins.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4709160" y="3666744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35" name="Shape 33"/>
          <p:cNvSpPr/>
          <p:nvPr/>
        </p:nvSpPr>
        <p:spPr>
          <a:xfrm>
            <a:off x="4892040" y="3808476"/>
            <a:ext cx="585216" cy="585216"/>
          </a:xfrm>
          <a:prstGeom prst="ellipse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6" name="Text 34"/>
          <p:cNvSpPr/>
          <p:nvPr/>
        </p:nvSpPr>
        <p:spPr>
          <a:xfrm>
            <a:off x="4892040" y="38084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✓</a:t>
            </a:r>
            <a:endParaRPr lang="en-US" sz="2200"/>
          </a:p>
        </p:txBody>
      </p:sp>
      <p:sp>
        <p:nvSpPr>
          <p:cNvPr id="37" name="Text 35"/>
          <p:cNvSpPr/>
          <p:nvPr/>
        </p:nvSpPr>
        <p:spPr>
          <a:xfrm>
            <a:off x="5623560" y="37764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 réussi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5623560" y="41056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d'échec d'une étape, le build est en erreur et rien n'est publié.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502920" y="4572000"/>
            <a:ext cx="8138160" cy="29260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0" name="Text 38"/>
          <p:cNvSpPr/>
          <p:nvPr/>
        </p:nvSpPr>
        <p:spPr>
          <a:xfrm>
            <a:off x="502920" y="45720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B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dédié à la CI : réutilise le JAR déjà produit plutôt que de recompiler — construction ramenée de plusieurs minutes à quelques secondes.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43" name="Shape 41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4" name="Shape 42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5" name="Text 43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611020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Qualité et industrialisation</a:t>
            </a:r>
            <a:endParaRPr lang="en-US" sz="15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Preuves d'exécution — intégration continue</a:t>
            </a:r>
            <a:endParaRPr lang="en-US" sz="3000" err="1">
              <a:latin typeface="Bookman Old Style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0" name="Text 24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31" name="Shape 25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2" name="Shape 26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27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  <a:endParaRPr lang="en-US" sz="1100"/>
          </a:p>
        </p:txBody>
      </p:sp>
      <p:pic>
        <p:nvPicPr>
          <p:cNvPr id="34" name="Picture 33" descr="jenk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822" y="1650000"/>
            <a:ext cx="6432356" cy="29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880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Qualité et industrialisation</a:t>
            </a:r>
            <a:endParaRPr lang="en-US" sz="15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Preuves d'exécution — déploiement Kubernetes</a:t>
            </a:r>
            <a:endParaRPr lang="en-US" sz="3000"/>
          </a:p>
        </p:txBody>
      </p:sp>
      <p:sp>
        <p:nvSpPr>
          <p:cNvPr id="29" name="Text 23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0" name="Text 24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31" name="Shape 25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2" name="Shape 26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27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  <a:endParaRPr lang="en-US" sz="1100"/>
          </a:p>
        </p:txBody>
      </p:sp>
      <p:sp>
        <p:nvSpPr>
          <p:cNvPr id="201" name="Caption"/>
          <p:cNvSpPr txBox="1"/>
          <p:nvPr/>
        </p:nvSpPr>
        <p:spPr>
          <a:xfrm>
            <a:off x="762000" y="43180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400" i="1">
                <a:solidFill>
                  <a:srgbClr val="2B2B3A"/>
                </a:solidFill>
                <a:latin typeface="Calibri" pitchFamily="34" charset="0"/>
              </a:rPr>
              <a:t>Tous les services Running ; redémarrages automatiques = auto-réparation.</a:t>
            </a:r>
          </a:p>
        </p:txBody>
      </p:sp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172EDB58-D363-9762-C103-DCC70A3E6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56039"/>
            <a:ext cx="7788727" cy="143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694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55F56A-5074-21B4-83DD-4FA8E7B28A89}"/>
              </a:ext>
            </a:extLst>
          </p:cNvPr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EDCD28-876B-3C8B-5DB6-562A302747A7}"/>
              </a:ext>
            </a:extLst>
          </p:cNvPr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96C195C-4E00-C7A1-609B-F6648A35CF96}"/>
              </a:ext>
            </a:extLst>
          </p:cNvPr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5A76CCD-287B-A041-83F0-D51CDF391B43}"/>
              </a:ext>
            </a:extLst>
          </p:cNvPr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F819086-35C5-B500-9B9D-A23B5904798A}"/>
              </a:ext>
            </a:extLst>
          </p:cNvPr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6D3AEEF-6E25-6267-2881-ADA9910FBAA9}"/>
              </a:ext>
            </a:extLst>
          </p:cNvPr>
          <p:cNvSpPr/>
          <p:nvPr/>
        </p:nvSpPr>
        <p:spPr>
          <a:xfrm>
            <a:off x="302198" y="0"/>
            <a:ext cx="3485313" cy="58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err="1">
                <a:solidFill>
                  <a:srgbClr val="FFFFFF"/>
                </a:solidFill>
                <a:latin typeface="Bookman Old Style"/>
              </a:rPr>
              <a:t>Déploiement Kubernetes</a:t>
            </a:r>
            <a:endParaRPr lang="en-US" sz="1400">
              <a:solidFill>
                <a:srgbClr val="000000"/>
              </a:solidFill>
              <a:latin typeface="Bookman Old Style"/>
            </a:endParaRPr>
          </a:p>
          <a:p>
            <a:endParaRPr lang="en-US" sz="1050" b="1">
              <a:solidFill>
                <a:srgbClr val="FFFFFF"/>
              </a:solidFill>
              <a:latin typeface="Bookman Old Style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8EE2CD52-224E-720F-341F-A120A19D374C}"/>
              </a:ext>
            </a:extLst>
          </p:cNvPr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AC675372-C9B3-D292-770B-D3398AF846BE}"/>
              </a:ext>
            </a:extLst>
          </p:cNvPr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04207210-19D6-0ACE-4245-9B78FC35D69E}"/>
              </a:ext>
            </a:extLst>
          </p:cNvPr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D40FD9C5-9114-6A91-7E29-18170EFE36B1}"/>
              </a:ext>
            </a:extLst>
          </p:cNvPr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91C2086B-5F2F-C200-AEF3-AF78CC6804EF}"/>
              </a:ext>
            </a:extLst>
          </p:cNvPr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  <a:endParaRPr lang="en-US" sz="110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264038A2-5579-5835-B463-58803612891E}"/>
              </a:ext>
            </a:extLst>
          </p:cNvPr>
          <p:cNvSpPr/>
          <p:nvPr/>
        </p:nvSpPr>
        <p:spPr>
          <a:xfrm>
            <a:off x="319538" y="817106"/>
            <a:ext cx="8229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err="1">
                <a:latin typeface="Calibri"/>
                <a:ea typeface="Calibri"/>
                <a:cs typeface="Calibri"/>
              </a:rPr>
              <a:t>Manifeste paramétrable décrivant l'ensemble du système, avec plusieurs mécanismes de résilience.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E1E7F9D-1E21-B294-4518-5D1557FBC7A3}"/>
              </a:ext>
            </a:extLst>
          </p:cNvPr>
          <p:cNvSpPr/>
          <p:nvPr/>
        </p:nvSpPr>
        <p:spPr>
          <a:xfrm>
            <a:off x="305822" y="1194296"/>
            <a:ext cx="5143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latin typeface="Bookman Old Style"/>
                <a:ea typeface="Bookman Old Style" pitchFamily="34" charset="-122"/>
                <a:cs typeface="Bookman Old Style" pitchFamily="34" charset="-120"/>
              </a:rPr>
              <a:t>Mécanismes de résilience</a:t>
            </a:r>
            <a:endParaRPr lang="en-US" sz="1200">
              <a:latin typeface="Bookman Old Style"/>
              <a:ea typeface="Calibri"/>
              <a:cs typeface="Calibri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263EB7A3-B58B-8190-8EF0-5D0433E73C3C}"/>
              </a:ext>
            </a:extLst>
          </p:cNvPr>
          <p:cNvSpPr/>
          <p:nvPr/>
        </p:nvSpPr>
        <p:spPr>
          <a:xfrm>
            <a:off x="305822" y="1516622"/>
            <a:ext cx="5143500" cy="562356"/>
          </a:xfrm>
          <a:prstGeom prst="roundRect">
            <a:avLst>
              <a:gd name="adj" fmla="val 8537"/>
            </a:avLst>
          </a:prstGeom>
          <a:solidFill>
            <a:srgbClr val="1E3A5F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FE6C8807-F67C-6BD8-E2BF-B708C8C76B23}"/>
              </a:ext>
            </a:extLst>
          </p:cNvPr>
          <p:cNvSpPr/>
          <p:nvPr/>
        </p:nvSpPr>
        <p:spPr>
          <a:xfrm>
            <a:off x="305822" y="1516622"/>
            <a:ext cx="68580" cy="562356"/>
          </a:xfrm>
          <a:prstGeom prst="rect">
            <a:avLst/>
          </a:prstGeom>
          <a:solidFill>
            <a:srgbClr val="1C9C8C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CB61457-46C4-D1F9-4022-F14CEA230FD6}"/>
              </a:ext>
            </a:extLst>
          </p:cNvPr>
          <p:cNvSpPr/>
          <p:nvPr/>
        </p:nvSpPr>
        <p:spPr>
          <a:xfrm>
            <a:off x="511562" y="1571486"/>
            <a:ext cx="14401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rgbClr val="BFE6E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Sondes liveness/readiness</a:t>
            </a:r>
            <a:endParaRPr lang="en-US" sz="105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C0C448B-7F2D-A7FE-9EB6-83AF84B62E74}"/>
              </a:ext>
            </a:extLst>
          </p:cNvPr>
          <p:cNvSpPr/>
          <p:nvPr/>
        </p:nvSpPr>
        <p:spPr>
          <a:xfrm>
            <a:off x="1986032" y="1571486"/>
            <a:ext cx="3429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Redémarrage automatique d'un conteneur défaillant.</a:t>
            </a:r>
            <a:endParaRPr lang="en-US" sz="90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0D407610-4075-709D-482B-606BE769B0EF}"/>
              </a:ext>
            </a:extLst>
          </p:cNvPr>
          <p:cNvSpPr/>
          <p:nvPr/>
        </p:nvSpPr>
        <p:spPr>
          <a:xfrm>
            <a:off x="305822" y="2133842"/>
            <a:ext cx="5143500" cy="562356"/>
          </a:xfrm>
          <a:prstGeom prst="roundRect">
            <a:avLst>
              <a:gd name="adj" fmla="val 8537"/>
            </a:avLst>
          </a:prstGeom>
          <a:solidFill>
            <a:srgbClr val="1E3A5F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F84418E8-9CF8-54F1-2A7B-7D251075D823}"/>
              </a:ext>
            </a:extLst>
          </p:cNvPr>
          <p:cNvSpPr/>
          <p:nvPr/>
        </p:nvSpPr>
        <p:spPr>
          <a:xfrm>
            <a:off x="305822" y="2133842"/>
            <a:ext cx="68580" cy="562356"/>
          </a:xfrm>
          <a:prstGeom prst="rect">
            <a:avLst/>
          </a:prstGeom>
          <a:solidFill>
            <a:srgbClr val="1C9C8C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6E43D8C-CF30-607F-D066-445B1EC6BBF7}"/>
              </a:ext>
            </a:extLst>
          </p:cNvPr>
          <p:cNvSpPr/>
          <p:nvPr/>
        </p:nvSpPr>
        <p:spPr>
          <a:xfrm>
            <a:off x="511562" y="2188706"/>
            <a:ext cx="14401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rgbClr val="BFE6E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Réplication</a:t>
            </a:r>
            <a:endParaRPr lang="en-US" sz="105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089E4781-7285-4F02-CE25-61C3856B5931}"/>
              </a:ext>
            </a:extLst>
          </p:cNvPr>
          <p:cNvSpPr/>
          <p:nvPr/>
        </p:nvSpPr>
        <p:spPr>
          <a:xfrm>
            <a:off x="1986032" y="2188706"/>
            <a:ext cx="3429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back-end central est répliqué (plusieurs instances).</a:t>
            </a:r>
            <a:endParaRPr lang="en-US" sz="90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7F619A50-3EF5-9870-51EF-7EB7BBE9D31D}"/>
              </a:ext>
            </a:extLst>
          </p:cNvPr>
          <p:cNvSpPr/>
          <p:nvPr/>
        </p:nvSpPr>
        <p:spPr>
          <a:xfrm>
            <a:off x="305822" y="2751062"/>
            <a:ext cx="5143500" cy="562356"/>
          </a:xfrm>
          <a:prstGeom prst="roundRect">
            <a:avLst>
              <a:gd name="adj" fmla="val 8537"/>
            </a:avLst>
          </a:prstGeom>
          <a:solidFill>
            <a:srgbClr val="1E3A5F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61016D3C-8BD4-971E-8802-ECA1F6AF7C4A}"/>
              </a:ext>
            </a:extLst>
          </p:cNvPr>
          <p:cNvSpPr/>
          <p:nvPr/>
        </p:nvSpPr>
        <p:spPr>
          <a:xfrm>
            <a:off x="305822" y="2751062"/>
            <a:ext cx="68580" cy="562356"/>
          </a:xfrm>
          <a:prstGeom prst="rect">
            <a:avLst/>
          </a:prstGeom>
          <a:solidFill>
            <a:srgbClr val="1C9C8C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D66B273E-C48C-84C8-B2D1-3035B5307CD5}"/>
              </a:ext>
            </a:extLst>
          </p:cNvPr>
          <p:cNvSpPr/>
          <p:nvPr/>
        </p:nvSpPr>
        <p:spPr>
          <a:xfrm>
            <a:off x="511562" y="2805926"/>
            <a:ext cx="14401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rgbClr val="BFE6E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ConfigMap / Secret</a:t>
            </a:r>
            <a:endParaRPr lang="en-US" sz="105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A1CD6C43-05F7-D250-1495-5E004C209B02}"/>
              </a:ext>
            </a:extLst>
          </p:cNvPr>
          <p:cNvSpPr/>
          <p:nvPr/>
        </p:nvSpPr>
        <p:spPr>
          <a:xfrm>
            <a:off x="1986032" y="2805926"/>
            <a:ext cx="3429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et secrets externalisés, séparés du code.</a:t>
            </a:r>
            <a:endParaRPr lang="en-US" sz="90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87C24FA0-2603-EEBB-7167-75A6C183E05C}"/>
              </a:ext>
            </a:extLst>
          </p:cNvPr>
          <p:cNvSpPr/>
          <p:nvPr/>
        </p:nvSpPr>
        <p:spPr>
          <a:xfrm>
            <a:off x="5620772" y="1194296"/>
            <a:ext cx="3086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err="1">
                <a:latin typeface="Bookman Old Style"/>
                <a:ea typeface="Bookman Old Style" pitchFamily="34" charset="-122"/>
                <a:cs typeface="Bookman Old Style" pitchFamily="34" charset="-120"/>
              </a:rPr>
              <a:t>Limites &amp; perspectives</a:t>
            </a:r>
            <a:endParaRPr lang="en-US" sz="1400">
              <a:latin typeface="Bookman Old Style"/>
            </a:endParaRPr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11628706-6929-02E8-D31F-FF7F4DA88407}"/>
              </a:ext>
            </a:extLst>
          </p:cNvPr>
          <p:cNvSpPr/>
          <p:nvPr/>
        </p:nvSpPr>
        <p:spPr>
          <a:xfrm>
            <a:off x="5620772" y="1516622"/>
            <a:ext cx="3086100" cy="548640"/>
          </a:xfrm>
          <a:prstGeom prst="roundRect">
            <a:avLst>
              <a:gd name="adj" fmla="val 8750"/>
            </a:avLst>
          </a:prstGeom>
          <a:solidFill>
            <a:srgbClr val="1E3A5F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34AAC085-F5E4-5A1F-9231-0A35D92E44A2}"/>
              </a:ext>
            </a:extLst>
          </p:cNvPr>
          <p:cNvSpPr/>
          <p:nvPr/>
        </p:nvSpPr>
        <p:spPr>
          <a:xfrm>
            <a:off x="5757932" y="1544054"/>
            <a:ext cx="2811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BFE6E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 local</a:t>
            </a:r>
            <a:endParaRPr lang="en-US" sz="90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65F0F26E-4806-598E-6C2A-09BEC24268B8}"/>
              </a:ext>
            </a:extLst>
          </p:cNvPr>
          <p:cNvSpPr/>
          <p:nvPr/>
        </p:nvSpPr>
        <p:spPr>
          <a:xfrm>
            <a:off x="5757932" y="1777226"/>
            <a:ext cx="2811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prouvé localement, pas encore en production</a:t>
            </a:r>
            <a:endParaRPr lang="en-US" sz="825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70D1223B-BA16-91E2-9C55-EC75C35D2D11}"/>
              </a:ext>
            </a:extLst>
          </p:cNvPr>
          <p:cNvSpPr/>
          <p:nvPr/>
        </p:nvSpPr>
        <p:spPr>
          <a:xfrm>
            <a:off x="5620772" y="2120126"/>
            <a:ext cx="3086100" cy="548640"/>
          </a:xfrm>
          <a:prstGeom prst="roundRect">
            <a:avLst>
              <a:gd name="adj" fmla="val 8750"/>
            </a:avLst>
          </a:prstGeom>
          <a:solidFill>
            <a:srgbClr val="1E3A5F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EC632926-CD14-4E7D-27D9-A2174F3375D6}"/>
              </a:ext>
            </a:extLst>
          </p:cNvPr>
          <p:cNvSpPr/>
          <p:nvPr/>
        </p:nvSpPr>
        <p:spPr>
          <a:xfrm>
            <a:off x="5757932" y="2147558"/>
            <a:ext cx="2811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BFE6E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Cloud non provisionné</a:t>
            </a:r>
            <a:endParaRPr lang="en-US" sz="90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CE9013CF-5618-3E42-5CD8-DFA769F61064}"/>
              </a:ext>
            </a:extLst>
          </p:cNvPr>
          <p:cNvSpPr/>
          <p:nvPr/>
        </p:nvSpPr>
        <p:spPr>
          <a:xfrm>
            <a:off x="5757932" y="2380730"/>
            <a:ext cx="2811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Azure AKS : prêt côté pipeline, non déployé</a:t>
            </a:r>
            <a:endParaRPr lang="en-US" sz="825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B7786DBE-D437-DD01-F607-34F53A4D77E9}"/>
              </a:ext>
            </a:extLst>
          </p:cNvPr>
          <p:cNvSpPr/>
          <p:nvPr/>
        </p:nvSpPr>
        <p:spPr>
          <a:xfrm>
            <a:off x="5620772" y="2723630"/>
            <a:ext cx="3086100" cy="548640"/>
          </a:xfrm>
          <a:prstGeom prst="roundRect">
            <a:avLst>
              <a:gd name="adj" fmla="val 8750"/>
            </a:avLst>
          </a:prstGeom>
          <a:solidFill>
            <a:srgbClr val="1E3A5F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04DCA972-4811-E274-E73C-52969DF45EBD}"/>
              </a:ext>
            </a:extLst>
          </p:cNvPr>
          <p:cNvSpPr/>
          <p:nvPr/>
        </p:nvSpPr>
        <p:spPr>
          <a:xfrm>
            <a:off x="5757932" y="2751062"/>
            <a:ext cx="2811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BFE6E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Déclenchement manuel</a:t>
            </a:r>
            <a:endParaRPr lang="en-US" sz="900"/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B329F249-452C-2989-2C77-5ABAECFDF38A}"/>
              </a:ext>
            </a:extLst>
          </p:cNvPr>
          <p:cNvSpPr/>
          <p:nvPr/>
        </p:nvSpPr>
        <p:spPr>
          <a:xfrm>
            <a:off x="5757932" y="2984234"/>
            <a:ext cx="2811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automatique sur push à ajouter</a:t>
            </a:r>
            <a:endParaRPr lang="en-US" sz="825"/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F38A3716-91DA-A9EB-1EC3-0EDCE5C1AFC5}"/>
              </a:ext>
            </a:extLst>
          </p:cNvPr>
          <p:cNvSpPr/>
          <p:nvPr/>
        </p:nvSpPr>
        <p:spPr>
          <a:xfrm>
            <a:off x="5620772" y="3327134"/>
            <a:ext cx="3086100" cy="548640"/>
          </a:xfrm>
          <a:prstGeom prst="roundRect">
            <a:avLst>
              <a:gd name="adj" fmla="val 8750"/>
            </a:avLst>
          </a:prstGeom>
          <a:solidFill>
            <a:srgbClr val="1E3A5F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CC095CBC-5218-D9C5-C7DC-B450A70B1710}"/>
              </a:ext>
            </a:extLst>
          </p:cNvPr>
          <p:cNvSpPr/>
          <p:nvPr/>
        </p:nvSpPr>
        <p:spPr>
          <a:xfrm>
            <a:off x="5757932" y="3354566"/>
            <a:ext cx="2811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BFE6E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Sécurisation</a:t>
            </a:r>
            <a:endParaRPr lang="en-US" sz="900"/>
          </a:p>
        </p:txBody>
      </p:sp>
      <p:sp>
        <p:nvSpPr>
          <p:cNvPr id="54" name="Text 28">
            <a:extLst>
              <a:ext uri="{FF2B5EF4-FFF2-40B4-BE49-F238E27FC236}">
                <a16:creationId xmlns:a16="http://schemas.microsoft.com/office/drawing/2014/main" id="{26A88432-1BED-BCC2-BD08-F8FEE17C60C0}"/>
              </a:ext>
            </a:extLst>
          </p:cNvPr>
          <p:cNvSpPr/>
          <p:nvPr/>
        </p:nvSpPr>
        <p:spPr>
          <a:xfrm>
            <a:off x="5757932" y="3587738"/>
            <a:ext cx="2811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et chiffrement du registre/broker à renforcer</a:t>
            </a:r>
            <a:endParaRPr lang="en-US" sz="825"/>
          </a:p>
        </p:txBody>
      </p:sp>
      <p:sp>
        <p:nvSpPr>
          <p:cNvPr id="55" name="Shape 29">
            <a:extLst>
              <a:ext uri="{FF2B5EF4-FFF2-40B4-BE49-F238E27FC236}">
                <a16:creationId xmlns:a16="http://schemas.microsoft.com/office/drawing/2014/main" id="{BA26D5CC-4444-CB76-24CE-3D8AD63E4CF4}"/>
              </a:ext>
            </a:extLst>
          </p:cNvPr>
          <p:cNvSpPr/>
          <p:nvPr/>
        </p:nvSpPr>
        <p:spPr>
          <a:xfrm>
            <a:off x="305822" y="3971786"/>
            <a:ext cx="8236569" cy="667624"/>
          </a:xfrm>
          <a:prstGeom prst="roundRect">
            <a:avLst>
              <a:gd name="adj" fmla="val 5797"/>
            </a:avLst>
          </a:prstGeom>
          <a:solidFill>
            <a:srgbClr val="1A3A2A"/>
          </a:solidFill>
          <a:ln/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sp>
        <p:nvSpPr>
          <p:cNvPr id="57" name="Text 30">
            <a:extLst>
              <a:ext uri="{FF2B5EF4-FFF2-40B4-BE49-F238E27FC236}">
                <a16:creationId xmlns:a16="http://schemas.microsoft.com/office/drawing/2014/main" id="{385E67F9-F662-6CB5-2129-C24C16E11EE8}"/>
              </a:ext>
            </a:extLst>
          </p:cNvPr>
          <p:cNvSpPr/>
          <p:nvPr/>
        </p:nvSpPr>
        <p:spPr>
          <a:xfrm>
            <a:off x="957332" y="3971786"/>
            <a:ext cx="7406640" cy="577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BFE6E0"/>
                </a:solidFill>
                <a:latin typeface="Calibri"/>
                <a:ea typeface="Calibri"/>
                <a:cs typeface="Calibri"/>
              </a:rPr>
              <a:t>Rolling updates sans interruption de service : les mises à jour progressives complètent le dispositif de résilience.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5739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Qualité et industrialisation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736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Démonstration technique — live</a:t>
            </a:r>
            <a:endParaRPr lang="en-US" sz="2600"/>
          </a:p>
        </p:txBody>
      </p:sp>
      <p:sp>
        <p:nvSpPr>
          <p:cNvPr id="9" name="Shape 7"/>
          <p:cNvSpPr/>
          <p:nvPr/>
        </p:nvSpPr>
        <p:spPr>
          <a:xfrm>
            <a:off x="1417320" y="1752600"/>
            <a:ext cx="384048" cy="384048"/>
          </a:xfrm>
          <a:prstGeom prst="ellipse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0" name="Text 8"/>
          <p:cNvSpPr/>
          <p:nvPr/>
        </p:nvSpPr>
        <p:spPr>
          <a:xfrm>
            <a:off x="1417320" y="1752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1" name="Shape 9"/>
          <p:cNvSpPr/>
          <p:nvPr/>
        </p:nvSpPr>
        <p:spPr>
          <a:xfrm>
            <a:off x="1965960" y="1714500"/>
            <a:ext cx="5760720" cy="457200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2" name="Text 10"/>
          <p:cNvSpPr/>
          <p:nvPr/>
        </p:nvSpPr>
        <p:spPr>
          <a:xfrm>
            <a:off x="2148840" y="17145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de la stack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(3 pays + central + front + MQTT)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1417320" y="22860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2"/>
          <p:cNvSpPr/>
          <p:nvPr/>
        </p:nvSpPr>
        <p:spPr>
          <a:xfrm>
            <a:off x="141732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5" name="Shape 13"/>
          <p:cNvSpPr/>
          <p:nvPr/>
        </p:nvSpPr>
        <p:spPr>
          <a:xfrm>
            <a:off x="1965960" y="2247900"/>
            <a:ext cx="5760720" cy="457200"/>
          </a:xfrm>
          <a:prstGeom prst="rect">
            <a:avLst/>
          </a:prstGeom>
          <a:solidFill>
            <a:srgbClr val="E4F4EF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6" name="Text 14"/>
          <p:cNvSpPr/>
          <p:nvPr/>
        </p:nvSpPr>
        <p:spPr>
          <a:xfrm>
            <a:off x="2148840" y="22479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JWT sur la console web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1417320" y="28194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Text 16"/>
          <p:cNvSpPr/>
          <p:nvPr/>
        </p:nvSpPr>
        <p:spPr>
          <a:xfrm>
            <a:off x="1417320" y="2819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9" name="Shape 17"/>
          <p:cNvSpPr/>
          <p:nvPr/>
        </p:nvSpPr>
        <p:spPr>
          <a:xfrm>
            <a:off x="1965960" y="2781300"/>
            <a:ext cx="5760720" cy="457200"/>
          </a:xfrm>
          <a:prstGeom prst="rect">
            <a:avLst/>
          </a:prstGeom>
          <a:solidFill>
            <a:srgbClr val="FBF1DD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0" name="Text 18"/>
          <p:cNvSpPr/>
          <p:nvPr/>
        </p:nvSpPr>
        <p:spPr>
          <a:xfrm>
            <a:off x="2148840" y="27813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IoT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capteur ESP8266 publie température/humidité en MQTT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1417320" y="33528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2" name="Text 20"/>
          <p:cNvSpPr/>
          <p:nvPr/>
        </p:nvSpPr>
        <p:spPr>
          <a:xfrm>
            <a:off x="1417320" y="3352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23" name="Shape 21"/>
          <p:cNvSpPr/>
          <p:nvPr/>
        </p:nvSpPr>
        <p:spPr>
          <a:xfrm>
            <a:off x="1965960" y="3314700"/>
            <a:ext cx="5760720" cy="457200"/>
          </a:xfrm>
          <a:prstGeom prst="rect">
            <a:avLst/>
          </a:prstGeom>
          <a:solidFill>
            <a:srgbClr val="ECE8F4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4" name="Text 22"/>
          <p:cNvSpPr/>
          <p:nvPr/>
        </p:nvSpPr>
        <p:spPr>
          <a:xfrm>
            <a:off x="2148840" y="33147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mesures hors plage → alerte ACTIVE + statut du lot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1417320" y="3886200"/>
            <a:ext cx="384048" cy="384048"/>
          </a:xfrm>
          <a:prstGeom prst="ellipse">
            <a:avLst/>
          </a:prstGeom>
          <a:solidFill>
            <a:srgbClr val="1B7967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4" name="Text 32"/>
          <p:cNvSpPr/>
          <p:nvPr/>
        </p:nvSpPr>
        <p:spPr>
          <a:xfrm>
            <a:off x="141732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5" name="Shape 33"/>
          <p:cNvSpPr/>
          <p:nvPr/>
        </p:nvSpPr>
        <p:spPr>
          <a:xfrm>
            <a:off x="1965960" y="3848100"/>
            <a:ext cx="5760720" cy="457200"/>
          </a:xfrm>
          <a:prstGeom prst="rect">
            <a:avLst/>
          </a:prstGeom>
          <a:solidFill>
            <a:srgbClr val="E9F3E4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6" name="Text 34"/>
          <p:cNvSpPr/>
          <p:nvPr/>
        </p:nvSpPr>
        <p:spPr>
          <a:xfrm>
            <a:off x="2148840" y="38481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capturé dans Mailpit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0" name="Shape 38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1" name="Text 39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/>
          </a:p>
        </p:txBody>
      </p:sp>
      <p:sp>
        <p:nvSpPr>
          <p:cNvPr id="200" name="Subtitle"/>
          <p:cNvSpPr txBox="1"/>
          <p:nvPr/>
        </p:nvSpPr>
        <p:spPr>
          <a:xfrm>
            <a:off x="457200" y="13208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5A5A66"/>
                </a:solidFill>
                <a:latin typeface="Calibri" pitchFamily="34" charset="0"/>
              </a:rPr>
              <a:t>De la mesure capteur à l'alerte e-mail, en conditions réelles</a:t>
            </a:r>
          </a:p>
        </p:txBody>
      </p:sp>
      <p:sp>
        <p:nvSpPr>
          <p:cNvPr id="201" name="Note"/>
          <p:cNvSpPr txBox="1"/>
          <p:nvPr/>
        </p:nvSpPr>
        <p:spPr>
          <a:xfrm>
            <a:off x="508000" y="4394200"/>
            <a:ext cx="81407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400" i="1">
                <a:solidFill>
                  <a:srgbClr val="5A5A66"/>
                </a:solidFill>
                <a:latin typeface="Calibri" pitchFamily="34" charset="0"/>
              </a:rPr>
              <a:t>Interprétation de code à l'appui : moteur d'hystérésis, filtre JWT, publish MQTT du firmware.</a:t>
            </a:r>
          </a:p>
        </p:txBody>
      </p:sp>
    </p:spTree>
    <p:extLst>
      <p:ext uri="{BB962C8B-B14F-4D97-AF65-F5344CB8AC3E}">
        <p14:creationId xmlns:p14="http://schemas.microsoft.com/office/powerpoint/2010/main" val="28533291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4069080" y="1234440"/>
            <a:ext cx="1005840" cy="1005840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657" y="150601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423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Merci de </a:t>
            </a:r>
            <a:r>
              <a:rPr lang="en-US" sz="4200" b="1" err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votre</a:t>
            </a:r>
            <a:r>
              <a:rPr lang="en-US" sz="4200" b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attention</a:t>
            </a:r>
            <a:endParaRPr lang="en-US" sz="4200"/>
          </a:p>
        </p:txBody>
      </p:sp>
      <p:sp>
        <p:nvSpPr>
          <p:cNvPr id="7" name="Text 4"/>
          <p:cNvSpPr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Tarek Izerrouken   ·   Sofiane Chelghoum   ·   Yassine Moudjahid   ·   Kelly Tsanga   ·   Sara Haddad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91440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D8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 · MSPR TPRE814 — Bloc 4 · EPSI · RNCP 35584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2237B36-DC85-4BDF-A9EC-2B28B047FF04}">
  <we:reference id="WA200010725" version="1.0.0.1" store="en-US" storeType="omex"/>
  <we:alternateReferences>
    <we:reference id="WA200010725" version="1.0.0.1" store="omex" storeType="omex"/>
  </we:alternateReferences>
  <we:properties>
    <we:property name="claude.fileId" value="&quot;57660fdc-96c8-442e-90af-5d0be9bda908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66CDCF9E3F4D4B9CE571FDE9A90EB0" ma:contentTypeVersion="8" ma:contentTypeDescription="Crée un document." ma:contentTypeScope="" ma:versionID="01b90f627406228a96dff9a1019d02eb">
  <xsd:schema xmlns:xsd="http://www.w3.org/2001/XMLSchema" xmlns:xs="http://www.w3.org/2001/XMLSchema" xmlns:p="http://schemas.microsoft.com/office/2006/metadata/properties" xmlns:ns3="af54c5cc-3f77-4341-8269-1bbefab4c925" targetNamespace="http://schemas.microsoft.com/office/2006/metadata/properties" ma:root="true" ma:fieldsID="ec647b6ca6f058e385c8172a17048833" ns3:_="">
    <xsd:import namespace="af54c5cc-3f77-4341-8269-1bbefab4c92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54c5cc-3f77-4341-8269-1bbefab4c92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f54c5cc-3f77-4341-8269-1bbefab4c925" xsi:nil="true"/>
  </documentManagement>
</p:properties>
</file>

<file path=customXml/itemProps1.xml><?xml version="1.0" encoding="utf-8"?>
<ds:datastoreItem xmlns:ds="http://schemas.openxmlformats.org/officeDocument/2006/customXml" ds:itemID="{480F5FBE-5F47-40FC-B30E-45921382AB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7F832C-62DC-41EE-830D-7A8C76120E71}">
  <ds:schemaRefs>
    <ds:schemaRef ds:uri="af54c5cc-3f77-4341-8269-1bbefab4c9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A9FB042-1A2C-4E12-AE79-428283D4C3F2}">
  <ds:schemaRefs>
    <ds:schemaRef ds:uri="af54c5cc-3f77-4341-8269-1bbefab4c9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(16:9)</PresentationFormat>
  <Slides>30</Slides>
  <Notes>30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1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GouvData — Soutenance MSPR Big Data &amp; BI</dc:title>
  <dc:subject>PptxGenJS Presentation</dc:subject>
  <dc:creator>Equipe GouvData</dc:creator>
  <cp:revision>15</cp:revision>
  <dcterms:created xsi:type="dcterms:W3CDTF">2026-06-16T15:49:18Z</dcterms:created>
  <dcterms:modified xsi:type="dcterms:W3CDTF">2026-07-08T13:37:57Z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0x0101003566CDCF9E3F4D4B9CE571FDE9A90EB0</vt:lpwstr>
  </property>
</Properties>
</file>