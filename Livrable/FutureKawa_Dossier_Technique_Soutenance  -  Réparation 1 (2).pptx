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98_7C8FE7FA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sldIdLst>
    <p:sldId id="374" r:id="rId5"/>
    <p:sldId id="367" r:id="rId6"/>
    <p:sldId id="312" r:id="rId7"/>
    <p:sldId id="313" r:id="rId8"/>
    <p:sldId id="442" r:id="rId9"/>
    <p:sldId id="435" r:id="rId10"/>
    <p:sldId id="356" r:id="rId11"/>
    <p:sldId id="408" r:id="rId12"/>
    <p:sldId id="317" r:id="rId13"/>
    <p:sldId id="409" r:id="rId14"/>
    <p:sldId id="410" r:id="rId15"/>
    <p:sldId id="413" r:id="rId16"/>
    <p:sldId id="414" r:id="rId17"/>
    <p:sldId id="415" r:id="rId18"/>
    <p:sldId id="417" r:id="rId19"/>
    <p:sldId id="445" r:id="rId20"/>
    <p:sldId id="256" r:id="rId21"/>
    <p:sldId id="444" r:id="rId22"/>
    <p:sldId id="446" r:id="rId23"/>
    <p:sldId id="333" r:id="rId24"/>
    <p:sldId id="422" r:id="rId25"/>
    <p:sldId id="423" r:id="rId26"/>
    <p:sldId id="424" r:id="rId27"/>
    <p:sldId id="425" r:id="rId28"/>
    <p:sldId id="426" r:id="rId29"/>
    <p:sldId id="427" r:id="rId30"/>
    <p:sldId id="428" r:id="rId31"/>
    <p:sldId id="429" r:id="rId32"/>
    <p:sldId id="430" r:id="rId33"/>
    <p:sldId id="349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386A7C-A180-1051-D51D-0073EECDB97F}" v="1182" dt="2026-07-08T18:53:09.726"/>
    <p1510:client id="{6E9758B3-A1E0-4993-89EE-159C5C69D55E}" v="415" dt="2026-07-08T18:32:36.485"/>
    <p1510:client id="{8355B202-66C7-5025-BEE3-F1A552BCD58E}" v="630" dt="2026-07-08T18:13:29.287"/>
    <p1510:client id="{E895652F-FFF2-825C-8A12-6313C69D3BBE}" v="123" dt="2026-07-08T17:26:41.212"/>
    <p1510:client id="{F63F3B08-18C7-836E-3864-25AB1F4D145E}" v="272" dt="2026-07-08T17:59:07.720"/>
    <p1510:client id="{FD58B28B-95BD-6E7D-C1CE-CD65A3AA38AE}" v="3" dt="2026-07-08T18:53:58.2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omments/modernComment_198_7C8FE7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3B7AAD-61B3-4434-97BC-A457BC4B0708}" authorId="{95582667-6102-27E7-ED8E-01A166EB4B6B}" created="2026-07-08T18:47:41.676">
    <pc:sldMkLst xmlns:pc="http://schemas.microsoft.com/office/powerpoint/2013/main/command">
      <pc:docMk/>
      <pc:sldMk cId="2089805818" sldId="408"/>
    </pc:sldMkLst>
    <p188:txBody>
      <a:bodyPr/>
      <a:lstStyle/>
      <a:p>
        <a:r>
          <a:rPr lang="fr-FR"/>
          <a:t>Pour l'organisation du projet, nous avons travaillé en méthode agile avec un tableau Trello. Les tâches sont réparties en colonnes Kanban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87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</a:t>
            </a:r>
            <a:r>
              <a:rPr lang="en-US" dirty="0" err="1"/>
              <a:t>l'organisation</a:t>
            </a:r>
            <a:r>
              <a:rPr lang="en-US" dirty="0"/>
              <a:t> du </a:t>
            </a:r>
            <a:r>
              <a:rPr lang="en-US" dirty="0" err="1"/>
              <a:t>projet</a:t>
            </a:r>
            <a:r>
              <a:rPr lang="en-US" dirty="0"/>
              <a:t>, nous </a:t>
            </a:r>
            <a:r>
              <a:rPr lang="en-US" dirty="0" err="1"/>
              <a:t>avons</a:t>
            </a:r>
            <a:r>
              <a:rPr lang="en-US" dirty="0"/>
              <a:t> </a:t>
            </a:r>
            <a:r>
              <a:rPr lang="en-US" dirty="0" err="1"/>
              <a:t>travaillé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méthode</a:t>
            </a:r>
            <a:r>
              <a:rPr lang="en-US" dirty="0"/>
              <a:t> agile avec un tableau Trello. Les </a:t>
            </a:r>
            <a:r>
              <a:rPr lang="en-US" dirty="0" err="1"/>
              <a:t>tâches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réparties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colonnes</a:t>
            </a:r>
            <a:r>
              <a:rPr lang="en-US" dirty="0"/>
              <a:t> Kanban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Nous passons maintenant à la deuxième partie : la conception de la solution.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Voyons d'abord l'architecture globale distribuée de FutureKawa. Le capteur IoT détecte la température et l'humidité, puis envoie ces valeurs au back-end. Si ces valeurs dépassent le seuil donc une alerte email est envoyée et affichée sur une plateforme de visualisation.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Notre architecture est </a:t>
            </a:r>
            <a:r>
              <a:rPr lang="en-US" dirty="0" err="1"/>
              <a:t>distribuée</a:t>
            </a:r>
            <a:r>
              <a:rPr lang="en-US" dirty="0"/>
              <a:t> entre les pays et le </a:t>
            </a:r>
            <a:r>
              <a:rPr lang="en-US" dirty="0" err="1"/>
              <a:t>siège</a:t>
            </a:r>
            <a:r>
              <a:rPr lang="en-US" dirty="0"/>
              <a:t>. Chaque pays dispose d'un back-end </a:t>
            </a:r>
            <a:r>
              <a:rPr lang="en-US" dirty="0" err="1"/>
              <a:t>autonome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Spring Boot, qui </a:t>
            </a:r>
            <a:r>
              <a:rPr lang="en-US" dirty="0" err="1"/>
              <a:t>gère</a:t>
            </a:r>
            <a:r>
              <a:rPr lang="en-US" dirty="0"/>
              <a:t> </a:t>
            </a:r>
            <a:r>
              <a:rPr lang="en-US" dirty="0" err="1"/>
              <a:t>l'ingestion</a:t>
            </a:r>
            <a:r>
              <a:rPr lang="en-US" dirty="0"/>
              <a:t> IoT, </a:t>
            </a:r>
            <a:r>
              <a:rPr lang="en-US" dirty="0" err="1"/>
              <a:t>l'API</a:t>
            </a:r>
            <a:r>
              <a:rPr lang="en-US" dirty="0"/>
              <a:t> REST et les </a:t>
            </a:r>
            <a:r>
              <a:rPr lang="en-US" dirty="0" err="1"/>
              <a:t>alertes</a:t>
            </a:r>
            <a:r>
              <a:rPr lang="en-US" dirty="0"/>
              <a:t>. Le back-end central </a:t>
            </a:r>
            <a:r>
              <a:rPr lang="en-US" dirty="0" err="1"/>
              <a:t>consolide</a:t>
            </a:r>
            <a:r>
              <a:rPr lang="en-US" dirty="0"/>
              <a:t> les données des trois pays et </a:t>
            </a:r>
            <a:r>
              <a:rPr lang="en-US" dirty="0" err="1"/>
              <a:t>gère</a:t>
            </a:r>
            <a:r>
              <a:rPr lang="en-US" dirty="0"/>
              <a:t> </a:t>
            </a:r>
            <a:r>
              <a:rPr lang="en-US" dirty="0" err="1"/>
              <a:t>l'authentification</a:t>
            </a:r>
            <a:r>
              <a:rPr lang="en-US" dirty="0"/>
              <a:t>. Le front-end </a:t>
            </a:r>
            <a:r>
              <a:rPr lang="en-US" dirty="0" err="1"/>
              <a:t>en</a:t>
            </a:r>
            <a:r>
              <a:rPr lang="en-US" dirty="0"/>
              <a:t> React qui communique avec les back-ends, un broker MQTT qui assure la </a:t>
            </a:r>
            <a:r>
              <a:rPr lang="en-US" dirty="0" err="1"/>
              <a:t>remontée</a:t>
            </a:r>
            <a:r>
              <a:rPr lang="en-US" dirty="0"/>
              <a:t> des données des </a:t>
            </a:r>
            <a:r>
              <a:rPr lang="en-US" dirty="0" err="1"/>
              <a:t>capteurs</a:t>
            </a:r>
            <a:r>
              <a:rPr lang="en-US" dirty="0"/>
              <a:t>, et un service SMTP </a:t>
            </a:r>
            <a:r>
              <a:rPr lang="en-US" dirty="0" err="1"/>
              <a:t>pourcx</a:t>
            </a:r>
            <a:r>
              <a:rPr lang="en-US" dirty="0"/>
              <a:t> </a:t>
            </a:r>
            <a:r>
              <a:rPr lang="en-US" dirty="0" err="1"/>
              <a:t>envoie</a:t>
            </a:r>
            <a:r>
              <a:rPr lang="en-US" dirty="0"/>
              <a:t> les </a:t>
            </a:r>
            <a:r>
              <a:rPr lang="en-US" dirty="0" err="1"/>
              <a:t>alertes</a:t>
            </a:r>
            <a:r>
              <a:rPr lang="en-US" dirty="0"/>
              <a:t>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A76D7-BF49-179D-5FF3-39423301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EAE85-2992-06B4-F44F-FDD1123C8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54155-2DF8-E444-1056-29A144AC0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Voici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de données du </a:t>
            </a:r>
            <a:r>
              <a:rPr lang="en-US" dirty="0" err="1"/>
              <a:t>domaine</a:t>
            </a:r>
            <a:r>
              <a:rPr lang="en-US" dirty="0"/>
              <a:t> Pays. La </a:t>
            </a:r>
            <a:r>
              <a:rPr lang="en-US" dirty="0" err="1"/>
              <a:t>hiérarchie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de </a:t>
            </a:r>
            <a:r>
              <a:rPr lang="en-US" dirty="0" err="1"/>
              <a:t>l'exploitation</a:t>
            </a:r>
            <a:r>
              <a:rPr lang="en-US" dirty="0"/>
              <a:t> à </a:t>
            </a:r>
            <a:r>
              <a:rPr lang="en-US" dirty="0" err="1"/>
              <a:t>l'entrepôt</a:t>
            </a:r>
            <a:r>
              <a:rPr lang="en-US" dirty="0"/>
              <a:t>, </a:t>
            </a:r>
            <a:r>
              <a:rPr lang="en-US" dirty="0" err="1"/>
              <a:t>puis</a:t>
            </a:r>
            <a:r>
              <a:rPr lang="en-US" dirty="0"/>
              <a:t> au </a:t>
            </a:r>
            <a:r>
              <a:rPr lang="en-US" dirty="0" err="1"/>
              <a:t>capteur</a:t>
            </a:r>
            <a:r>
              <a:rPr lang="en-US" dirty="0"/>
              <a:t>, qui </a:t>
            </a:r>
            <a:r>
              <a:rPr lang="en-US" dirty="0" err="1"/>
              <a:t>émet</a:t>
            </a:r>
            <a:r>
              <a:rPr lang="en-US" dirty="0"/>
              <a:t> des </a:t>
            </a:r>
            <a:r>
              <a:rPr lang="en-US" dirty="0" err="1"/>
              <a:t>mesures</a:t>
            </a:r>
            <a:r>
              <a:rPr lang="en-US" dirty="0"/>
              <a:t> </a:t>
            </a:r>
            <a:r>
              <a:rPr lang="en-US" dirty="0" err="1"/>
              <a:t>horodatées</a:t>
            </a:r>
            <a:r>
              <a:rPr lang="en-US" dirty="0"/>
              <a:t> de </a:t>
            </a:r>
            <a:r>
              <a:rPr lang="en-US" dirty="0" err="1"/>
              <a:t>température</a:t>
            </a:r>
            <a:r>
              <a:rPr lang="en-US" dirty="0"/>
              <a:t> et </a:t>
            </a:r>
            <a:r>
              <a:rPr lang="en-US" dirty="0" err="1"/>
              <a:t>d'humidité</a:t>
            </a:r>
            <a:r>
              <a:rPr lang="en-US" dirty="0"/>
              <a:t>. </a:t>
            </a:r>
            <a:r>
              <a:rPr lang="en-US" dirty="0" err="1"/>
              <a:t>Chaque</a:t>
            </a:r>
            <a:r>
              <a:rPr lang="en-US" dirty="0"/>
              <a:t> entrepôt </a:t>
            </a:r>
            <a:r>
              <a:rPr lang="en-US" dirty="0" err="1"/>
              <a:t>stocke</a:t>
            </a:r>
            <a:r>
              <a:rPr lang="en-US" dirty="0"/>
              <a:t> des lots, et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alerte</a:t>
            </a:r>
            <a:r>
              <a:rPr lang="en-US" dirty="0"/>
              <a:t> est </a:t>
            </a:r>
            <a:r>
              <a:rPr lang="en-US" dirty="0" err="1"/>
              <a:t>toujours</a:t>
            </a:r>
            <a:r>
              <a:rPr lang="en-US" dirty="0"/>
              <a:t> </a:t>
            </a:r>
            <a:r>
              <a:rPr lang="en-US" dirty="0" err="1"/>
              <a:t>rattachée</a:t>
            </a:r>
            <a:r>
              <a:rPr lang="en-US" dirty="0"/>
              <a:t> à un entrepôt </a:t>
            </a:r>
            <a:r>
              <a:rPr lang="en-US" dirty="0" err="1"/>
              <a:t>ou</a:t>
            </a:r>
            <a:r>
              <a:rPr lang="en-US" dirty="0"/>
              <a:t> à un lot précis.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09B90-9890-131D-11DE-FB9A1F0F0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24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Une alerte est déclenchée dans deux cas : des mesures hors seuil, ou la péremption d'un lot. Les seuils de température et d'humidité sont paramétrés par pays.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s notes 1">
            <a:extLst>
              <a:ext uri="{FF2B5EF4-FFF2-40B4-BE49-F238E27FC236}">
                <a16:creationId xmlns:a16="http://schemas.microsoft.com/office/drawing/2014/main" id="{D043812F-71E1-A3F1-0521-6E0F862C5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Pour éviter les fausses alertes, nous avons mis en place un système de confirmation par mesures répétées. Une seule mesure hors seuil ne déclenche rien : il faut trois mesures consécutives hors seuil pour ouvrir une alerte. Ensuite, un rappel est envoyé toutes les 30 minutes tant que l'alerte reste active, jusqu'à ce qu'un opérateur l'acquitte.</a:t>
            </a:r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Enfin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,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côté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sécurité, le back-end central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gère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l'authentification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JWT avec des jetons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valides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15 minutes ET nous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avons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utilisé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le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refreche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token de 30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jrs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, un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contrôle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d'accès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par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rôles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, et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une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isolation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stricte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par pays. Côté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robustesse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, la solution est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conteneurisée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avec Docker et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gère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la reconnexion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automatique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en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cas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de </a:t>
            </a:r>
            <a:r>
              <a:rPr lang="en-US" dirty="0" err="1">
                <a:solidFill>
                  <a:srgbClr val="242424"/>
                </a:solidFill>
                <a:highlight>
                  <a:srgbClr val="FFFFFF"/>
                </a:highlight>
              </a:rPr>
              <a:t>coupure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</a:rPr>
              <a:t> MQTT.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Ce qui garantit la cohérence du modèle, C'est les relation entre les entites.</a:t>
            </a:r>
          </a:p>
          <a:p>
            <a:r>
              <a:rPr lang="en-US"/>
              <a:t> </a:t>
            </a:r>
          </a:p>
          <a:p>
            <a:r>
              <a:rPr lang="en-US"/>
              <a:t>Premier type, un-à-plusieurs, pour la géographie : un département regroupe plusieurs cantons, mais chaque canton n'appartient qu'à un seul département. Même principe entre Région et Département. C'est ce qui nous permet de remonter du canton jusqu'à la région.</a:t>
            </a:r>
          </a:p>
          <a:p>
            <a:r>
              <a:rPr lang="en-US"/>
              <a:t> </a:t>
            </a:r>
          </a:p>
          <a:p>
            <a:r>
              <a:rPr lang="en-US"/>
              <a:t>Deuxième type, aussi un-à-plusieurs, pour les mesures dans le temps : un même territoire possède un indicateur par millésime, un pour 2016 et un pour 2022. C'est exactement ce double point de mesure qui rend possible le calcul des évolutions — le delta — qui est le cœur de notre approche.</a:t>
            </a:r>
          </a:p>
          <a:p>
            <a:r>
              <a:rPr lang="en-US"/>
              <a:t> </a:t>
            </a:r>
          </a:p>
          <a:p>
            <a:r>
              <a:rPr lang="en-US"/>
              <a:t>Troisième type, plusieurs-à-plusieurs, pour les résultats électoraux : un candidat obtient des voix dans plusieurs cantons, et un canton vote pour plusieurs candidats.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Notre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objectif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était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de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prédire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l'orientation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électorale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de la region Nouvelle-Aquitaine à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partir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des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indicateurs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socio-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économiques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. Pour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cela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, on a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construit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un pipeline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en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six étapes.</a:t>
            </a:r>
            <a:endParaRPr lang="en-US"/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 </a:t>
            </a:r>
            <a:endParaRPr lang="en-US"/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On commence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d'abord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par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notre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jeu de données de 40 000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lignes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, 171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colonnes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— dans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lequel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on extrait les 27 variables delta,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c'est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-à-dire les variations des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indicateurs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entre 2016 et 2022 :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évolution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de la population, du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chômage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, des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logements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, de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l'emploi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.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C'est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la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colonne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vertébrale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de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notre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approche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.</a:t>
            </a:r>
            <a:endParaRPr lang="en-US"/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 </a:t>
            </a:r>
            <a:endParaRPr lang="en-US"/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La variable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cible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est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construite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en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5 classes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économiques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— Crise,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Déclin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, Stable,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Croissance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, Boom — avec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une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distribution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réaliste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: 40% Stables, 10%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seulement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en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Boom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ou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en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Crise et 20% pour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declin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.</a:t>
            </a:r>
            <a:endParaRPr lang="en-US">
              <a:highlight>
                <a:srgbClr val="FFFFFF"/>
              </a:highlight>
            </a:endParaRPr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 </a:t>
            </a:r>
            <a:endParaRPr lang="fr-FR"/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 </a:t>
            </a:r>
            <a:endParaRPr lang="fr-FR"/>
          </a:p>
          <a:p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On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divise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les données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en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80% pour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l'entraînement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et 20% pour le test et  On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normalise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ensuite avec un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StandardScaler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 pour le model </a:t>
            </a:r>
            <a:r>
              <a:rPr lang="en-US" err="1">
                <a:solidFill>
                  <a:srgbClr val="242424"/>
                </a:solidFill>
                <a:highlight>
                  <a:srgbClr val="FFFFFF"/>
                </a:highlight>
              </a:rPr>
              <a:t>LinearSVM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</a:rPr>
              <a:t>.</a:t>
            </a:r>
            <a:endParaRPr lang="fr-FR"/>
          </a:p>
          <a:p>
            <a:endParaRPr lang="en-US">
              <a:solidFill>
                <a:srgbClr val="242424"/>
              </a:solidFill>
              <a:highlight>
                <a:srgbClr val="FFFFFF"/>
              </a:highlight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18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8_7C8FE7FA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kern="0" spc="100">
                <a:solidFill>
                  <a:srgbClr val="FFFFFF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MSPR TPRE814  ·  BLOC 4  IOT ET SYSTÈMES D'INFORMATION</a:t>
            </a:r>
            <a:endParaRPr lang="en-US" sz="1600">
              <a:latin typeface="Bookman Old Style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9144000" cy="201168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err="1">
                <a:solidFill>
                  <a:srgbClr val="3A2B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600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Solution de </a:t>
            </a:r>
            <a:r>
              <a:rPr lang="en-US" sz="2400" b="1" err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suivi</a:t>
            </a:r>
            <a:r>
              <a:rPr lang="en-US" sz="24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 des stocks et des conditions de stockage (IoT)</a:t>
            </a:r>
            <a:endParaRPr lang="en-US" sz="2400">
              <a:latin typeface="Bookman Old Style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technique · Prototype avancé · Brésil · Équateur · Colombie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91440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ÉLABORÉ PAR L'ÉQUIPE PROJET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Tarek Izerrouken   ·   Sofiane Chelghoum   ·   Yassine Moudjahid   ·   Kelly Tsanga   ·   Sara Haddad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914400" y="3913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Encadrante : Samah GHALLOUSSI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0" y="4315968"/>
            <a:ext cx="9144000" cy="201168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0" y="4517136"/>
            <a:ext cx="9144000" cy="626364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0" y="4517136"/>
            <a:ext cx="914400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 · Certification RNCP 35584 — Niveau 7 · MSPR TPRE814 Bloc 4</a:t>
            </a:r>
            <a:endParaRPr lang="en-US" sz="1150"/>
          </a:p>
        </p:txBody>
      </p:sp>
    </p:spTree>
    <p:extLst>
      <p:ext uri="{BB962C8B-B14F-4D97-AF65-F5344CB8AC3E}">
        <p14:creationId xmlns:p14="http://schemas.microsoft.com/office/powerpoint/2010/main" val="81139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</a:t>
            </a:r>
            <a:endParaRPr lang="en-US" sz="3000"/>
          </a:p>
        </p:txBody>
      </p:sp>
      <p:sp>
        <p:nvSpPr>
          <p:cNvPr id="16" name="Shape 13"/>
          <p:cNvSpPr/>
          <p:nvPr/>
        </p:nvSpPr>
        <p:spPr>
          <a:xfrm>
            <a:off x="1856232" y="2057400"/>
            <a:ext cx="1234440" cy="566928"/>
          </a:xfrm>
          <a:prstGeom prst="chevron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7" name="Text 14"/>
          <p:cNvSpPr/>
          <p:nvPr/>
        </p:nvSpPr>
        <p:spPr>
          <a:xfrm>
            <a:off x="1856232" y="20574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/>
          </a:p>
        </p:txBody>
      </p:sp>
      <p:sp>
        <p:nvSpPr>
          <p:cNvPr id="18" name="Shape 15"/>
          <p:cNvSpPr/>
          <p:nvPr/>
        </p:nvSpPr>
        <p:spPr>
          <a:xfrm>
            <a:off x="2473452" y="2624328"/>
            <a:ext cx="0" cy="502920"/>
          </a:xfrm>
          <a:prstGeom prst="line">
            <a:avLst/>
          </a:prstGeom>
          <a:noFill/>
          <a:ln w="15875">
            <a:solidFill>
              <a:srgbClr val="3968C0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9" name="Shape 16"/>
          <p:cNvSpPr/>
          <p:nvPr/>
        </p:nvSpPr>
        <p:spPr>
          <a:xfrm>
            <a:off x="2016252" y="3090672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968C0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0" name="Shape 17"/>
          <p:cNvSpPr/>
          <p:nvPr/>
        </p:nvSpPr>
        <p:spPr>
          <a:xfrm>
            <a:off x="2052828" y="3127248"/>
            <a:ext cx="841248" cy="841248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965" y="3354385"/>
            <a:ext cx="386974" cy="38697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764792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>
                <a:solidFill>
                  <a:srgbClr val="3968C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Présentation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3968C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du projet</a:t>
            </a:r>
            <a:endParaRPr lang="en-US" sz="1150"/>
          </a:p>
        </p:txBody>
      </p:sp>
      <p:sp>
        <p:nvSpPr>
          <p:cNvPr id="23" name="Shape 19"/>
          <p:cNvSpPr/>
          <p:nvPr/>
        </p:nvSpPr>
        <p:spPr>
          <a:xfrm>
            <a:off x="3255264" y="2057400"/>
            <a:ext cx="1234440" cy="566928"/>
          </a:xfrm>
          <a:prstGeom prst="chevron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Text 20"/>
          <p:cNvSpPr/>
          <p:nvPr/>
        </p:nvSpPr>
        <p:spPr>
          <a:xfrm>
            <a:off x="3255264" y="20574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/>
          </a:p>
        </p:txBody>
      </p:sp>
      <p:sp>
        <p:nvSpPr>
          <p:cNvPr id="25" name="Shape 21"/>
          <p:cNvSpPr/>
          <p:nvPr/>
        </p:nvSpPr>
        <p:spPr>
          <a:xfrm>
            <a:off x="3872484" y="2624328"/>
            <a:ext cx="0" cy="502920"/>
          </a:xfrm>
          <a:prstGeom prst="line">
            <a:avLst/>
          </a:prstGeom>
          <a:noFill/>
          <a:ln w="15875">
            <a:solidFill>
              <a:srgbClr val="E15A5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6" name="Shape 22"/>
          <p:cNvSpPr/>
          <p:nvPr/>
        </p:nvSpPr>
        <p:spPr>
          <a:xfrm>
            <a:off x="3415284" y="3090672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15A5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7" name="Shape 23"/>
          <p:cNvSpPr/>
          <p:nvPr/>
        </p:nvSpPr>
        <p:spPr>
          <a:xfrm>
            <a:off x="3451860" y="3127248"/>
            <a:ext cx="841248" cy="841248"/>
          </a:xfrm>
          <a:prstGeom prst="ellipse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997" y="3354385"/>
            <a:ext cx="386974" cy="38697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163824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>
                <a:solidFill>
                  <a:srgbClr val="E15A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E15A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la solution</a:t>
            </a:r>
            <a:endParaRPr lang="en-US" sz="1150"/>
          </a:p>
        </p:txBody>
      </p:sp>
      <p:sp>
        <p:nvSpPr>
          <p:cNvPr id="30" name="Shape 25"/>
          <p:cNvSpPr/>
          <p:nvPr/>
        </p:nvSpPr>
        <p:spPr>
          <a:xfrm>
            <a:off x="4654296" y="2057400"/>
            <a:ext cx="1234440" cy="566928"/>
          </a:xfrm>
          <a:prstGeom prst="chevron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1" name="Text 26"/>
          <p:cNvSpPr/>
          <p:nvPr/>
        </p:nvSpPr>
        <p:spPr>
          <a:xfrm>
            <a:off x="4654296" y="20574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/>
          </a:p>
        </p:txBody>
      </p:sp>
      <p:sp>
        <p:nvSpPr>
          <p:cNvPr id="32" name="Shape 27"/>
          <p:cNvSpPr/>
          <p:nvPr/>
        </p:nvSpPr>
        <p:spPr>
          <a:xfrm>
            <a:off x="5271516" y="2624328"/>
            <a:ext cx="0" cy="502920"/>
          </a:xfrm>
          <a:prstGeom prst="line">
            <a:avLst/>
          </a:prstGeom>
          <a:noFill/>
          <a:ln w="15875">
            <a:solidFill>
              <a:srgbClr val="DEA345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3" name="Shape 28"/>
          <p:cNvSpPr/>
          <p:nvPr/>
        </p:nvSpPr>
        <p:spPr>
          <a:xfrm>
            <a:off x="4814316" y="3090672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A345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4" name="Shape 29"/>
          <p:cNvSpPr/>
          <p:nvPr/>
        </p:nvSpPr>
        <p:spPr>
          <a:xfrm>
            <a:off x="4850892" y="3127248"/>
            <a:ext cx="841248" cy="841248"/>
          </a:xfrm>
          <a:prstGeom prst="ellipse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8029" y="3354385"/>
            <a:ext cx="386974" cy="38697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562856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>
                <a:solidFill>
                  <a:srgbClr val="DEA3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&amp;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DEA3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industrialisation</a:t>
            </a:r>
            <a:endParaRPr lang="en-US" sz="1150"/>
          </a:p>
        </p:txBody>
      </p:sp>
      <p:sp>
        <p:nvSpPr>
          <p:cNvPr id="37" name="Shape 31"/>
          <p:cNvSpPr/>
          <p:nvPr/>
        </p:nvSpPr>
        <p:spPr>
          <a:xfrm>
            <a:off x="6053328" y="2057400"/>
            <a:ext cx="1234440" cy="566928"/>
          </a:xfrm>
          <a:prstGeom prst="chevron">
            <a:avLst/>
          </a:prstGeom>
          <a:solidFill>
            <a:srgbClr val="1B7967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8" name="Text 32"/>
          <p:cNvSpPr/>
          <p:nvPr/>
        </p:nvSpPr>
        <p:spPr>
          <a:xfrm>
            <a:off x="6053328" y="20574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/>
          </a:p>
        </p:txBody>
      </p:sp>
      <p:sp>
        <p:nvSpPr>
          <p:cNvPr id="39" name="Shape 33"/>
          <p:cNvSpPr/>
          <p:nvPr/>
        </p:nvSpPr>
        <p:spPr>
          <a:xfrm>
            <a:off x="6670548" y="2624328"/>
            <a:ext cx="0" cy="502920"/>
          </a:xfrm>
          <a:prstGeom prst="line">
            <a:avLst/>
          </a:prstGeom>
          <a:noFill/>
          <a:ln w="15875">
            <a:solidFill>
              <a:srgbClr val="1B796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0" name="Shape 34"/>
          <p:cNvSpPr/>
          <p:nvPr/>
        </p:nvSpPr>
        <p:spPr>
          <a:xfrm>
            <a:off x="6213348" y="3090672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796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1" name="Shape 35"/>
          <p:cNvSpPr/>
          <p:nvPr/>
        </p:nvSpPr>
        <p:spPr>
          <a:xfrm>
            <a:off x="6249924" y="3127248"/>
            <a:ext cx="841248" cy="841248"/>
          </a:xfrm>
          <a:prstGeom prst="ellipse">
            <a:avLst/>
          </a:prstGeom>
          <a:solidFill>
            <a:srgbClr val="1B7967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61" y="3354385"/>
            <a:ext cx="386974" cy="38697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961888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err="1">
                <a:solidFill>
                  <a:srgbClr val="1B7967"/>
                </a:solidFill>
                <a:latin typeface="Bookman Old Style"/>
              </a:rPr>
              <a:t>DémonstratIon</a:t>
            </a:r>
            <a:endParaRPr lang="fr-FR" err="1"/>
          </a:p>
        </p:txBody>
      </p:sp>
      <p:sp>
        <p:nvSpPr>
          <p:cNvPr id="51" name="Text 4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52" name="Text 4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50"/>
          </a:p>
        </p:txBody>
      </p:sp>
      <p:sp>
        <p:nvSpPr>
          <p:cNvPr id="53" name="Shape 4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4" name="Shape 4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5" name="Text 4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191088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0" y="1600200"/>
            <a:ext cx="2194560" cy="868680"/>
          </a:xfrm>
          <a:prstGeom prst="rect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1600200"/>
            <a:ext cx="914400" cy="86868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2194560" cy="868680"/>
          </a:xfrm>
          <a:prstGeom prst="rect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1828800" y="2606040"/>
            <a:ext cx="914400" cy="86868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828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960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960120" cy="96012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952" y="1493672"/>
            <a:ext cx="441655" cy="4416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17720" y="21717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PARTIE I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4572000" y="27432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err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Présentation</a:t>
            </a:r>
            <a:r>
              <a:rPr lang="en-US" sz="3600" b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du </a:t>
            </a:r>
            <a:r>
              <a:rPr lang="en-US" sz="3600" b="1" err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projet</a:t>
            </a:r>
            <a:endParaRPr lang="en-US" sz="3600"/>
          </a:p>
        </p:txBody>
      </p:sp>
      <p:sp>
        <p:nvSpPr>
          <p:cNvPr id="12" name="Text 9"/>
          <p:cNvSpPr/>
          <p:nvPr/>
        </p:nvSpPr>
        <p:spPr>
          <a:xfrm>
            <a:off x="4617720" y="39090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Recueillir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métier et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cadrer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FutureKawa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8229600" y="4617720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1"/>
          <p:cNvSpPr/>
          <p:nvPr/>
        </p:nvSpPr>
        <p:spPr>
          <a:xfrm>
            <a:off x="8229600" y="461772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7818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err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Contexte</a:t>
            </a:r>
            <a:r>
              <a:rPr lang="en-US" sz="28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 &amp; </a:t>
            </a:r>
            <a:r>
              <a:rPr lang="en-US" sz="2800" b="1" err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enjeux</a:t>
            </a:r>
            <a:r>
              <a:rPr lang="en-US" sz="28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 métier</a:t>
            </a:r>
            <a:endParaRPr lang="en-US" sz="2800">
              <a:latin typeface="Bookman Old Style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2163" y="2197825"/>
            <a:ext cx="4231277" cy="8142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10000"/>
              </a:lnSpc>
            </a:pPr>
            <a:r>
              <a:rPr lang="en-US" sz="1400" b="1" err="1">
                <a:solidFill>
                  <a:srgbClr val="1B7967"/>
                </a:solidFill>
                <a:latin typeface="Calibri"/>
                <a:ea typeface="Calibri"/>
                <a:cs typeface="Calibri"/>
              </a:rPr>
              <a:t>FutureKawa</a:t>
            </a:r>
            <a:r>
              <a:rPr lang="en-US" sz="1300" b="1">
                <a:solidFill>
                  <a:srgbClr val="1B796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est </a:t>
            </a:r>
            <a:r>
              <a:rPr lang="en-US" sz="130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sz="13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entreprise</a:t>
            </a:r>
            <a:r>
              <a:rPr lang="en-US" sz="13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de production et </a:t>
            </a:r>
            <a:r>
              <a:rPr lang="en-US" sz="130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logistique</a:t>
            </a:r>
            <a:r>
              <a:rPr lang="en-US" sz="13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de café vert, avec des exploitations au </a:t>
            </a:r>
            <a:r>
              <a:rPr lang="en-US" sz="1300" b="1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Brésil</a:t>
            </a:r>
            <a:r>
              <a:rPr lang="en-US" sz="1300" b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, Equateur et </a:t>
            </a:r>
            <a:r>
              <a:rPr lang="en-US" sz="1300" b="1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Colombie</a:t>
            </a:r>
            <a:r>
              <a:rPr lang="en-US" sz="1300" b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 8"/>
          <p:cNvSpPr/>
          <p:nvPr/>
        </p:nvSpPr>
        <p:spPr>
          <a:xfrm>
            <a:off x="5907677" y="1776549"/>
            <a:ext cx="2217420" cy="24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2B2B3A"/>
                </a:solidFill>
                <a:latin typeface="Bookman Old Style"/>
              </a:rPr>
              <a:t>Problémes </a:t>
            </a:r>
            <a:r>
              <a:rPr lang="en-US" sz="1600" b="1" err="1">
                <a:solidFill>
                  <a:srgbClr val="2B2B3A"/>
                </a:solidFill>
                <a:latin typeface="Bookman Old Style"/>
              </a:rPr>
              <a:t>identifiés</a:t>
            </a:r>
            <a:endParaRPr lang="fr-FR" err="1"/>
          </a:p>
        </p:txBody>
      </p:sp>
      <p:sp>
        <p:nvSpPr>
          <p:cNvPr id="11" name="Text 9"/>
          <p:cNvSpPr/>
          <p:nvPr/>
        </p:nvSpPr>
        <p:spPr>
          <a:xfrm>
            <a:off x="5621383" y="2196737"/>
            <a:ext cx="2792186" cy="128560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Conditions de stockage variables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Suivi</a:t>
            </a:r>
            <a:r>
              <a:rPr lang="en-US" sz="13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  semi-</a:t>
            </a:r>
            <a:r>
              <a:rPr lang="en-US" sz="130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manuel</a:t>
            </a:r>
            <a:r>
              <a:rPr lang="en-US" sz="13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Pas de </a:t>
            </a:r>
            <a:r>
              <a:rPr lang="en-US" sz="130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traçabilité</a:t>
            </a:r>
            <a:endParaRPr lang="en-US" sz="1300" err="1">
              <a:solidFill>
                <a:srgbClr val="2B2B3A"/>
              </a:solidFill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8" name="Shape 2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9" name="Text 2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6FA6E2F-17FE-6AC5-E95F-292C02CF5641}"/>
              </a:ext>
            </a:extLst>
          </p:cNvPr>
          <p:cNvSpPr txBox="1"/>
          <p:nvPr/>
        </p:nvSpPr>
        <p:spPr>
          <a:xfrm>
            <a:off x="707572" y="3605893"/>
            <a:ext cx="105047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2B2B3A"/>
                </a:solidFill>
                <a:latin typeface="Bookman Old Style"/>
              </a:rPr>
              <a:t>Mission</a:t>
            </a:r>
            <a:endParaRPr lang="en-US" sz="1600" b="1" err="1">
              <a:solidFill>
                <a:srgbClr val="2B2B3A"/>
              </a:solidFill>
              <a:latin typeface="Bookman Old Style"/>
            </a:endParaRP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EDB7BEC5-DEFE-37C0-B180-A21533965191}"/>
              </a:ext>
            </a:extLst>
          </p:cNvPr>
          <p:cNvSpPr/>
          <p:nvPr/>
        </p:nvSpPr>
        <p:spPr>
          <a:xfrm>
            <a:off x="2386148" y="3602082"/>
            <a:ext cx="4557849" cy="3461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10000"/>
              </a:lnSpc>
            </a:pPr>
            <a:r>
              <a:rPr lang="en-US" sz="1300" b="1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Développer</a:t>
            </a:r>
            <a:r>
              <a:rPr lang="en-US" sz="1300" b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sz="1300" b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solution IoT pour </a:t>
            </a:r>
            <a:r>
              <a:rPr lang="en-US" sz="1300" b="1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garentir</a:t>
            </a:r>
            <a:r>
              <a:rPr lang="en-US" sz="1300" b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300" b="1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qualité</a:t>
            </a:r>
            <a:r>
              <a:rPr lang="en-US" sz="1300" b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du café</a:t>
            </a:r>
            <a:endParaRPr lang="en-US" sz="1300" b="1">
              <a:solidFill>
                <a:srgbClr val="2B2B3A"/>
              </a:solidFill>
              <a:ea typeface="Calibri"/>
              <a:cs typeface="Calibri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C540B35-1BD7-99CD-DDC0-6D5DC4EC9AAF}"/>
              </a:ext>
            </a:extLst>
          </p:cNvPr>
          <p:cNvSpPr txBox="1"/>
          <p:nvPr/>
        </p:nvSpPr>
        <p:spPr>
          <a:xfrm>
            <a:off x="386443" y="1728107"/>
            <a:ext cx="249282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err="1">
                <a:solidFill>
                  <a:srgbClr val="2B2B3A"/>
                </a:solidFill>
                <a:latin typeface="Bookman Old Style"/>
              </a:rPr>
              <a:t>Entreprise</a:t>
            </a:r>
            <a:endParaRPr lang="fr-FR" err="1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6009B247-6881-6B66-31E5-E913E7507FCA}"/>
              </a:ext>
            </a:extLst>
          </p:cNvPr>
          <p:cNvSpPr/>
          <p:nvPr/>
        </p:nvSpPr>
        <p:spPr>
          <a:xfrm>
            <a:off x="1635034" y="3537858"/>
            <a:ext cx="581298" cy="468956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Problématique &amp; objectifs du projet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502920" y="1747157"/>
            <a:ext cx="8138160" cy="685800"/>
          </a:xfrm>
          <a:prstGeom prst="rect">
            <a:avLst/>
          </a:prstGeom>
          <a:solidFill>
            <a:srgbClr val="F4F2F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0" name="Text 8"/>
          <p:cNvSpPr/>
          <p:nvPr/>
        </p:nvSpPr>
        <p:spPr>
          <a:xfrm>
            <a:off x="685800" y="1774589"/>
            <a:ext cx="77724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 b="1" err="1">
                <a:solidFill>
                  <a:srgbClr val="1B7967"/>
                </a:solidFill>
                <a:latin typeface="Calibri"/>
                <a:ea typeface="Calibri"/>
                <a:cs typeface="Calibri"/>
              </a:rPr>
              <a:t>Problématique</a:t>
            </a:r>
            <a:r>
              <a:rPr lang="en-US" sz="1250" b="1">
                <a:solidFill>
                  <a:srgbClr val="1B7967"/>
                </a:solidFill>
                <a:latin typeface="Calibri"/>
                <a:ea typeface="Calibri"/>
                <a:cs typeface="Calibri"/>
              </a:rPr>
              <a:t> :  </a:t>
            </a:r>
            <a:r>
              <a:rPr lang="en-US" sz="125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1200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omment </a:t>
            </a:r>
            <a:r>
              <a:rPr lang="en-US" sz="1200" err="1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garantir</a:t>
            </a:r>
            <a:r>
              <a:rPr lang="en-US" sz="1200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 et </a:t>
            </a:r>
            <a:r>
              <a:rPr lang="en-US" sz="1200" err="1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prouver</a:t>
            </a:r>
            <a:r>
              <a:rPr lang="en-US" sz="1200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 err="1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que</a:t>
            </a:r>
            <a:r>
              <a:rPr lang="en-US" sz="1200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 err="1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chaque</a:t>
            </a:r>
            <a:r>
              <a:rPr lang="en-US" sz="1200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 lot de café a </a:t>
            </a:r>
            <a:r>
              <a:rPr lang="en-US" sz="1200" err="1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été</a:t>
            </a:r>
            <a:r>
              <a:rPr lang="en-US" sz="1200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 err="1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stocké</a:t>
            </a:r>
            <a:r>
              <a:rPr lang="en-US" sz="1200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 dans de </a:t>
            </a:r>
            <a:r>
              <a:rPr lang="en-US" sz="1200" err="1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bonnes</a:t>
            </a:r>
            <a:r>
              <a:rPr lang="en-US" sz="1200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 conditions </a:t>
            </a:r>
            <a:r>
              <a:rPr lang="en-US" sz="1200" err="1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jusqu'à</a:t>
            </a:r>
            <a:r>
              <a:rPr lang="en-US" sz="1200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 son</a:t>
            </a:r>
            <a:endParaRPr lang="fr-FR"/>
          </a:p>
          <a:p>
            <a:r>
              <a:rPr lang="en-US" sz="1200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                              </a:t>
            </a:r>
            <a:r>
              <a:rPr lang="en-US" sz="1200" err="1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expédition</a:t>
            </a:r>
            <a:r>
              <a:rPr lang="en-US" sz="1200">
                <a:solidFill>
                  <a:srgbClr val="2B2B3A"/>
                </a:solidFill>
                <a:latin typeface="Times New Roman"/>
                <a:ea typeface="Calibri"/>
                <a:cs typeface="Times New Roman"/>
              </a:rPr>
              <a:t> ?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2824843"/>
            <a:ext cx="1883664" cy="54864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2" name="Shape 10"/>
          <p:cNvSpPr/>
          <p:nvPr/>
        </p:nvSpPr>
        <p:spPr>
          <a:xfrm>
            <a:off x="497476" y="2879707"/>
            <a:ext cx="1889108" cy="13890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8D4068BA-2ECE-0178-8C1B-9D076C6A6CCD}"/>
              </a:ext>
            </a:extLst>
          </p:cNvPr>
          <p:cNvGrpSpPr/>
          <p:nvPr/>
        </p:nvGrpSpPr>
        <p:grpSpPr>
          <a:xfrm>
            <a:off x="1199607" y="2941320"/>
            <a:ext cx="463512" cy="458070"/>
            <a:chOff x="731520" y="2788918"/>
            <a:chExt cx="566928" cy="566928"/>
          </a:xfrm>
        </p:grpSpPr>
        <p:sp>
          <p:nvSpPr>
            <p:cNvPr id="13" name="Shape 11"/>
            <p:cNvSpPr/>
            <p:nvPr/>
          </p:nvSpPr>
          <p:spPr>
            <a:xfrm>
              <a:off x="731520" y="2788918"/>
              <a:ext cx="566928" cy="566928"/>
            </a:xfrm>
            <a:prstGeom prst="ellipse">
              <a:avLst/>
            </a:prstGeom>
            <a:solidFill>
              <a:srgbClr val="22A890"/>
            </a:solidFill>
            <a:ln/>
          </p:spPr>
          <p:txBody>
            <a:bodyPr/>
            <a:lstStyle/>
            <a:p>
              <a:endParaRPr lang="fr-DZ"/>
            </a:p>
          </p:txBody>
        </p:sp>
        <p:pic>
          <p:nvPicPr>
            <p:cNvPr id="1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591" y="2941991"/>
              <a:ext cx="260787" cy="260787"/>
            </a:xfrm>
            <a:prstGeom prst="rect">
              <a:avLst/>
            </a:prstGeom>
          </p:spPr>
        </p:pic>
      </p:grpSp>
      <p:sp>
        <p:nvSpPr>
          <p:cNvPr id="15" name="Text 12"/>
          <p:cNvSpPr/>
          <p:nvPr/>
        </p:nvSpPr>
        <p:spPr>
          <a:xfrm>
            <a:off x="961571" y="3485606"/>
            <a:ext cx="947058" cy="53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Centraliser le suivi</a:t>
            </a:r>
            <a:endParaRPr lang="en-US" sz="11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587752" y="2824843"/>
            <a:ext cx="1883664" cy="54864"/>
          </a:xfrm>
          <a:prstGeom prst="rect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Shape 15"/>
          <p:cNvSpPr/>
          <p:nvPr/>
        </p:nvSpPr>
        <p:spPr>
          <a:xfrm>
            <a:off x="2587752" y="2879707"/>
            <a:ext cx="1861893" cy="13781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CEA0DF1D-8589-2CD9-12FA-5E506BCDE35E}"/>
              </a:ext>
            </a:extLst>
          </p:cNvPr>
          <p:cNvGrpSpPr/>
          <p:nvPr/>
        </p:nvGrpSpPr>
        <p:grpSpPr>
          <a:xfrm>
            <a:off x="3295323" y="2924991"/>
            <a:ext cx="468957" cy="474400"/>
            <a:chOff x="2816352" y="2788920"/>
            <a:chExt cx="566928" cy="566928"/>
          </a:xfrm>
        </p:grpSpPr>
        <p:sp>
          <p:nvSpPr>
            <p:cNvPr id="19" name="Shape 16"/>
            <p:cNvSpPr/>
            <p:nvPr/>
          </p:nvSpPr>
          <p:spPr>
            <a:xfrm>
              <a:off x="2816352" y="2788920"/>
              <a:ext cx="566928" cy="566928"/>
            </a:xfrm>
            <a:prstGeom prst="ellipse">
              <a:avLst/>
            </a:prstGeom>
            <a:solidFill>
              <a:srgbClr val="3968C0"/>
            </a:solidFill>
            <a:ln/>
          </p:spPr>
          <p:txBody>
            <a:bodyPr/>
            <a:lstStyle/>
            <a:p>
              <a:endParaRPr lang="fr-DZ"/>
            </a:p>
          </p:txBody>
        </p:sp>
        <p:pic>
          <p:nvPicPr>
            <p:cNvPr id="2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69423" y="2941991"/>
              <a:ext cx="260787" cy="260787"/>
            </a:xfrm>
            <a:prstGeom prst="rect">
              <a:avLst/>
            </a:prstGeom>
          </p:spPr>
        </p:pic>
      </p:grpSp>
      <p:sp>
        <p:nvSpPr>
          <p:cNvPr id="21" name="Text 17"/>
          <p:cNvSpPr/>
          <p:nvPr/>
        </p:nvSpPr>
        <p:spPr>
          <a:xfrm>
            <a:off x="3049814" y="3496490"/>
            <a:ext cx="963387" cy="57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150" b="1" err="1">
                <a:solidFill>
                  <a:srgbClr val="2B2B3A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Garantir</a:t>
            </a:r>
            <a:r>
              <a:rPr lang="en-US" sz="1150" b="1">
                <a:solidFill>
                  <a:srgbClr val="2B2B3A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 la </a:t>
            </a:r>
            <a:r>
              <a:rPr lang="en-US" sz="1150" b="1" err="1">
                <a:solidFill>
                  <a:srgbClr val="2B2B3A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traçabilité</a:t>
            </a:r>
            <a:endParaRPr lang="en-US" sz="115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672584" y="2824843"/>
            <a:ext cx="1883664" cy="54864"/>
          </a:xfrm>
          <a:prstGeom prst="rect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Shape 20"/>
          <p:cNvSpPr/>
          <p:nvPr/>
        </p:nvSpPr>
        <p:spPr>
          <a:xfrm>
            <a:off x="4672584" y="2874265"/>
            <a:ext cx="1878222" cy="1389015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7" name="Text 22"/>
          <p:cNvSpPr/>
          <p:nvPr/>
        </p:nvSpPr>
        <p:spPr>
          <a:xfrm>
            <a:off x="4953002" y="3496492"/>
            <a:ext cx="12845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b="1" err="1">
                <a:solidFill>
                  <a:srgbClr val="2B2B3A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Surveiller</a:t>
            </a:r>
            <a:r>
              <a:rPr lang="en-US" sz="1150" b="1">
                <a:solidFill>
                  <a:srgbClr val="2B2B3A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 les conditions</a:t>
            </a:r>
            <a:endParaRPr lang="en-US" sz="1150">
              <a:latin typeface="Bookman Old Style"/>
              <a:ea typeface="Calibri"/>
              <a:cs typeface="Calibri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757416" y="2824843"/>
            <a:ext cx="1883664" cy="54864"/>
          </a:xfrm>
          <a:prstGeom prst="rect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0" name="Shape 25"/>
          <p:cNvSpPr/>
          <p:nvPr/>
        </p:nvSpPr>
        <p:spPr>
          <a:xfrm>
            <a:off x="6757416" y="2868822"/>
            <a:ext cx="1883664" cy="13835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33" name="Text 27"/>
          <p:cNvSpPr/>
          <p:nvPr/>
        </p:nvSpPr>
        <p:spPr>
          <a:xfrm>
            <a:off x="7046685" y="3507378"/>
            <a:ext cx="1295402" cy="548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b="1" err="1">
                <a:solidFill>
                  <a:srgbClr val="2B2B3A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Détecter</a:t>
            </a:r>
            <a:r>
              <a:rPr lang="en-US" sz="1150" b="1">
                <a:solidFill>
                  <a:srgbClr val="2B2B3A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 &amp; signaler</a:t>
            </a:r>
            <a:endParaRPr lang="en-US" sz="1150">
              <a:latin typeface="Bookman Old Style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6" name="Text 30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/>
          </a:p>
        </p:txBody>
      </p:sp>
      <p:sp>
        <p:nvSpPr>
          <p:cNvPr id="37" name="Shape 31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8" name="Shape 32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9" name="Text 33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9190C0CA-C464-7A52-025B-0FA94B3A7018}"/>
              </a:ext>
            </a:extLst>
          </p:cNvPr>
          <p:cNvGrpSpPr/>
          <p:nvPr/>
        </p:nvGrpSpPr>
        <p:grpSpPr>
          <a:xfrm>
            <a:off x="5369269" y="2973977"/>
            <a:ext cx="447187" cy="430857"/>
            <a:chOff x="4901184" y="2788920"/>
            <a:chExt cx="566928" cy="566928"/>
          </a:xfrm>
        </p:grpSpPr>
        <p:sp>
          <p:nvSpPr>
            <p:cNvPr id="25" name="Shape 21"/>
            <p:cNvSpPr/>
            <p:nvPr/>
          </p:nvSpPr>
          <p:spPr>
            <a:xfrm>
              <a:off x="4901184" y="2788920"/>
              <a:ext cx="566928" cy="566928"/>
            </a:xfrm>
            <a:prstGeom prst="ellipse">
              <a:avLst/>
            </a:prstGeom>
            <a:solidFill>
              <a:srgbClr val="DEA345"/>
            </a:solidFill>
            <a:ln/>
          </p:spPr>
          <p:txBody>
            <a:bodyPr/>
            <a:lstStyle/>
            <a:p>
              <a:endParaRPr lang="fr-DZ"/>
            </a:p>
          </p:txBody>
        </p:sp>
        <p:pic>
          <p:nvPicPr>
            <p:cNvPr id="40" name="Graphic 40" descr="Thermomètre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54600" y="2946400"/>
              <a:ext cx="266700" cy="266700"/>
            </a:xfrm>
            <a:prstGeom prst="rect">
              <a:avLst/>
            </a:prstGeom>
          </p:spPr>
        </p:pic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9B838FDD-09E2-ACAD-071F-DAC59B17ABFB}"/>
              </a:ext>
            </a:extLst>
          </p:cNvPr>
          <p:cNvGrpSpPr/>
          <p:nvPr/>
        </p:nvGrpSpPr>
        <p:grpSpPr>
          <a:xfrm>
            <a:off x="7470431" y="2973977"/>
            <a:ext cx="452629" cy="447187"/>
            <a:chOff x="6986016" y="2788920"/>
            <a:chExt cx="566928" cy="566928"/>
          </a:xfrm>
        </p:grpSpPr>
        <p:sp>
          <p:nvSpPr>
            <p:cNvPr id="31" name="Shape 26"/>
            <p:cNvSpPr/>
            <p:nvPr/>
          </p:nvSpPr>
          <p:spPr>
            <a:xfrm>
              <a:off x="6986016" y="2788920"/>
              <a:ext cx="566928" cy="566928"/>
            </a:xfrm>
            <a:prstGeom prst="ellipse">
              <a:avLst/>
            </a:prstGeom>
            <a:solidFill>
              <a:srgbClr val="E15A5A"/>
            </a:solidFill>
            <a:ln/>
          </p:spPr>
          <p:txBody>
            <a:bodyPr/>
            <a:lstStyle/>
            <a:p>
              <a:endParaRPr lang="fr-DZ"/>
            </a:p>
          </p:txBody>
        </p:sp>
        <p:pic>
          <p:nvPicPr>
            <p:cNvPr id="41" name="Graphic 41" descr="Cloche d'alerte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37400" y="2946400"/>
              <a:ext cx="266700" cy="266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1174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4712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Collecte des besoins métier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492034" y="1543595"/>
            <a:ext cx="81381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5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Entretiens</a:t>
            </a:r>
            <a:r>
              <a:rPr lang="en-US" sz="125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semi-</a:t>
            </a:r>
            <a:r>
              <a:rPr lang="en-US" sz="125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directifs</a:t>
            </a:r>
            <a:r>
              <a:rPr lang="en-US" sz="125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avec les parties </a:t>
            </a:r>
            <a:r>
              <a:rPr lang="en-US" sz="125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prenantes</a:t>
            </a:r>
            <a:r>
              <a:rPr lang="en-US" sz="125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: exploitation, entrepôt, </a:t>
            </a:r>
            <a:r>
              <a:rPr lang="en-US" sz="125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qualité</a:t>
            </a:r>
            <a:r>
              <a:rPr lang="en-US" sz="125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, Supply Chain, DSI.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7478" y="2034540"/>
            <a:ext cx="2625851" cy="9568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1" name="Shape 9"/>
          <p:cNvSpPr/>
          <p:nvPr/>
        </p:nvSpPr>
        <p:spPr>
          <a:xfrm>
            <a:off x="685800" y="2235708"/>
            <a:ext cx="502920" cy="50292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3" name="Text 10"/>
          <p:cNvSpPr/>
          <p:nvPr/>
        </p:nvSpPr>
        <p:spPr>
          <a:xfrm>
            <a:off x="1280160" y="2235708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Centraliser le suivi</a:t>
            </a:r>
            <a:endParaRPr lang="en-US" sz="1300"/>
          </a:p>
        </p:txBody>
      </p:sp>
      <p:sp>
        <p:nvSpPr>
          <p:cNvPr id="15" name="Shape 12"/>
          <p:cNvSpPr/>
          <p:nvPr/>
        </p:nvSpPr>
        <p:spPr>
          <a:xfrm>
            <a:off x="3278994" y="2034540"/>
            <a:ext cx="2614967" cy="9514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6" name="Shape 13"/>
          <p:cNvSpPr/>
          <p:nvPr/>
        </p:nvSpPr>
        <p:spPr>
          <a:xfrm>
            <a:off x="3456432" y="2235708"/>
            <a:ext cx="502920" cy="502920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4"/>
          <p:cNvSpPr/>
          <p:nvPr/>
        </p:nvSpPr>
        <p:spPr>
          <a:xfrm>
            <a:off x="4050792" y="2235708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Automatiser les relevés</a:t>
            </a:r>
            <a:endParaRPr lang="en-US" sz="1300"/>
          </a:p>
        </p:txBody>
      </p:sp>
      <p:sp>
        <p:nvSpPr>
          <p:cNvPr id="20" name="Shape 16"/>
          <p:cNvSpPr/>
          <p:nvPr/>
        </p:nvSpPr>
        <p:spPr>
          <a:xfrm>
            <a:off x="6044184" y="2034540"/>
            <a:ext cx="2571424" cy="9514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1" name="Shape 17"/>
          <p:cNvSpPr/>
          <p:nvPr/>
        </p:nvSpPr>
        <p:spPr>
          <a:xfrm>
            <a:off x="6227064" y="2235708"/>
            <a:ext cx="502920" cy="502920"/>
          </a:xfrm>
          <a:prstGeom prst="ellipse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3" name="Text 18"/>
          <p:cNvSpPr/>
          <p:nvPr/>
        </p:nvSpPr>
        <p:spPr>
          <a:xfrm>
            <a:off x="6821424" y="2235708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Être alerté</a:t>
            </a:r>
            <a:endParaRPr lang="en-US" sz="1300"/>
          </a:p>
        </p:txBody>
      </p:sp>
      <p:sp>
        <p:nvSpPr>
          <p:cNvPr id="25" name="Shape 20"/>
          <p:cNvSpPr/>
          <p:nvPr/>
        </p:nvSpPr>
        <p:spPr>
          <a:xfrm>
            <a:off x="1869078" y="3383062"/>
            <a:ext cx="2576866" cy="9568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6" name="Shape 21"/>
          <p:cNvSpPr/>
          <p:nvPr/>
        </p:nvSpPr>
        <p:spPr>
          <a:xfrm>
            <a:off x="2062843" y="3584230"/>
            <a:ext cx="502920" cy="502920"/>
          </a:xfrm>
          <a:prstGeom prst="ellipse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8" name="Text 22"/>
          <p:cNvSpPr/>
          <p:nvPr/>
        </p:nvSpPr>
        <p:spPr>
          <a:xfrm>
            <a:off x="2657203" y="3584230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Consulter l'historique</a:t>
            </a:r>
            <a:endParaRPr lang="en-US" sz="1300"/>
          </a:p>
        </p:txBody>
      </p:sp>
      <p:sp>
        <p:nvSpPr>
          <p:cNvPr id="29" name="Text 23"/>
          <p:cNvSpPr/>
          <p:nvPr/>
        </p:nvSpPr>
        <p:spPr>
          <a:xfrm>
            <a:off x="2062843" y="413287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>
              <a:solidFill>
                <a:srgbClr val="5A5A66"/>
              </a:solidFill>
              <a:ea typeface="Calibri"/>
              <a:cs typeface="Calibri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4656037" y="3383062"/>
            <a:ext cx="2614967" cy="96229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31" name="Shape 25"/>
          <p:cNvSpPr/>
          <p:nvPr/>
        </p:nvSpPr>
        <p:spPr>
          <a:xfrm>
            <a:off x="4833475" y="3584230"/>
            <a:ext cx="502920" cy="502920"/>
          </a:xfrm>
          <a:prstGeom prst="ellipse">
            <a:avLst/>
          </a:prstGeom>
          <a:solidFill>
            <a:srgbClr val="5A647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6"/>
          <p:cNvSpPr/>
          <p:nvPr/>
        </p:nvSpPr>
        <p:spPr>
          <a:xfrm>
            <a:off x="5427835" y="3584230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Sécuriser l'accès</a:t>
            </a:r>
            <a:endParaRPr lang="en-US" sz="1300"/>
          </a:p>
        </p:txBody>
      </p:sp>
      <p:sp>
        <p:nvSpPr>
          <p:cNvPr id="34" name="Text 27"/>
          <p:cNvSpPr/>
          <p:nvPr/>
        </p:nvSpPr>
        <p:spPr>
          <a:xfrm>
            <a:off x="4833475" y="413287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>
              <a:solidFill>
                <a:srgbClr val="5A5A66"/>
              </a:solidFill>
              <a:ea typeface="Calibri"/>
              <a:cs typeface="Calibri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6" name="Text 29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/>
          </a:p>
        </p:txBody>
      </p:sp>
      <p:sp>
        <p:nvSpPr>
          <p:cNvPr id="37" name="Shape 30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8" name="Shape 31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9" name="Text 32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/>
          </a:p>
        </p:txBody>
      </p:sp>
      <p:pic>
        <p:nvPicPr>
          <p:cNvPr id="40" name="Graphic 40" descr="Tableau de bord / écran we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500" y="2374900"/>
            <a:ext cx="228600" cy="228600"/>
          </a:xfrm>
          <a:prstGeom prst="rect">
            <a:avLst/>
          </a:prstGeom>
        </p:spPr>
      </p:pic>
      <p:pic>
        <p:nvPicPr>
          <p:cNvPr id="41" name="Graphic 41" descr="Puce électronique / capteu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4100" y="2374900"/>
            <a:ext cx="228600" cy="228600"/>
          </a:xfrm>
          <a:prstGeom prst="rect">
            <a:avLst/>
          </a:prstGeom>
        </p:spPr>
      </p:pic>
      <p:pic>
        <p:nvPicPr>
          <p:cNvPr id="42" name="Graphic 42" descr="Cloche d'aler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2700" y="2374900"/>
            <a:ext cx="228600" cy="228600"/>
          </a:xfrm>
          <a:prstGeom prst="rect">
            <a:avLst/>
          </a:prstGeom>
        </p:spPr>
      </p:pic>
      <p:pic>
        <p:nvPicPr>
          <p:cNvPr id="43" name="Graphic 43" descr="Horloge / historiqu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2543" y="3722914"/>
            <a:ext cx="228600" cy="228600"/>
          </a:xfrm>
          <a:prstGeom prst="rect">
            <a:avLst/>
          </a:prstGeom>
        </p:spPr>
      </p:pic>
      <p:pic>
        <p:nvPicPr>
          <p:cNvPr id="44" name="Graphic 44" descr="Caden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71143" y="3722914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72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Méthodologie de collecte des besoins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1417320" y="1524000"/>
            <a:ext cx="384048" cy="384048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0" name="Text 8"/>
          <p:cNvSpPr/>
          <p:nvPr/>
        </p:nvSpPr>
        <p:spPr>
          <a:xfrm>
            <a:off x="1417320" y="1524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/>
              </a:rPr>
              <a:t>1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1965960" y="1485900"/>
            <a:ext cx="5760720" cy="45720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2" name="Text 10"/>
          <p:cNvSpPr/>
          <p:nvPr/>
        </p:nvSpPr>
        <p:spPr>
          <a:xfrm>
            <a:off x="2148840" y="14859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Préparation : </a:t>
            </a:r>
            <a:r>
              <a:rPr lang="en-US" sz="950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Questionnaire avec les </a:t>
            </a:r>
            <a:r>
              <a:rPr lang="en-US" sz="950" err="1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partie</a:t>
            </a:r>
            <a:r>
              <a:rPr lang="en-US" sz="950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err="1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prenant</a:t>
            </a:r>
            <a:endParaRPr lang="en-US" sz="950">
              <a:solidFill>
                <a:srgbClr val="5A5A6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17320" y="21844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1417320" y="218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/>
              </a:rPr>
              <a:t>2</a:t>
            </a:r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965960" y="2146300"/>
            <a:ext cx="5760720" cy="457200"/>
          </a:xfrm>
          <a:prstGeom prst="rect">
            <a:avLst/>
          </a:prstGeom>
          <a:solidFill>
            <a:srgbClr val="E4F4EF"/>
          </a:solidFill>
          <a:ln/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148840" y="21463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L'analyse</a:t>
            </a:r>
            <a:r>
              <a:rPr lang="en-US" sz="1100" b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 : </a:t>
            </a:r>
            <a:r>
              <a:rPr lang="en-US" sz="1000" err="1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Contexte</a:t>
            </a:r>
            <a:r>
              <a:rPr lang="en-US" sz="1000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sz="1000" err="1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contraintes</a:t>
            </a:r>
            <a:endParaRPr lang="en-US" sz="1000" err="1">
              <a:solidFill>
                <a:srgbClr val="5A5A66"/>
              </a:solidFill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417320" y="28448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6"/>
          <p:cNvSpPr/>
          <p:nvPr/>
        </p:nvSpPr>
        <p:spPr>
          <a:xfrm>
            <a:off x="1417320" y="284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1965960" y="2806700"/>
            <a:ext cx="5760720" cy="457200"/>
          </a:xfrm>
          <a:prstGeom prst="rect">
            <a:avLst/>
          </a:prstGeom>
          <a:solidFill>
            <a:srgbClr val="FBF1DD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0" name="Text 18"/>
          <p:cNvSpPr/>
          <p:nvPr/>
        </p:nvSpPr>
        <p:spPr>
          <a:xfrm>
            <a:off x="2148840" y="28067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err="1">
                <a:solidFill>
                  <a:srgbClr val="2B2B3A"/>
                </a:solidFill>
                <a:ea typeface="Calibri"/>
                <a:cs typeface="Calibri"/>
              </a:rPr>
              <a:t>Priorisation</a:t>
            </a:r>
            <a:r>
              <a:rPr lang="en-US" sz="1100" b="1">
                <a:solidFill>
                  <a:srgbClr val="2B2B3A"/>
                </a:solidFill>
                <a:ea typeface="Calibri"/>
                <a:cs typeface="Calibri"/>
              </a:rPr>
              <a:t> : </a:t>
            </a:r>
            <a:r>
              <a:rPr lang="en-US" sz="1000" err="1">
                <a:solidFill>
                  <a:srgbClr val="5A5A66"/>
                </a:solidFill>
                <a:ea typeface="Calibri"/>
                <a:cs typeface="Calibri"/>
              </a:rPr>
              <a:t>Retranscription</a:t>
            </a:r>
            <a:r>
              <a:rPr lang="en-US" sz="1000">
                <a:solidFill>
                  <a:srgbClr val="5A5A66"/>
                </a:solidFill>
                <a:ea typeface="Calibri"/>
                <a:cs typeface="Calibri"/>
              </a:rPr>
              <a:t> des </a:t>
            </a:r>
            <a:r>
              <a:rPr lang="en-US" sz="1000" err="1">
                <a:solidFill>
                  <a:srgbClr val="5A5A66"/>
                </a:solidFill>
                <a:ea typeface="Calibri"/>
                <a:cs typeface="Calibri"/>
              </a:rPr>
              <a:t>besoin</a:t>
            </a:r>
            <a:endParaRPr lang="fr-FR" err="1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417320" y="35052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1417320" y="3505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1965960" y="3467100"/>
            <a:ext cx="5760720" cy="457200"/>
          </a:xfrm>
          <a:prstGeom prst="rect">
            <a:avLst/>
          </a:prstGeom>
          <a:solidFill>
            <a:srgbClr val="ECE8F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Text 22"/>
          <p:cNvSpPr/>
          <p:nvPr/>
        </p:nvSpPr>
        <p:spPr>
          <a:xfrm>
            <a:off x="2148840" y="34671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Transformation : </a:t>
            </a:r>
            <a:r>
              <a:rPr lang="en-US" sz="1000" err="1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Besoin</a:t>
            </a:r>
            <a:r>
              <a:rPr lang="en-US" sz="1000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err="1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Fonctionnalités</a:t>
            </a:r>
            <a:endParaRPr lang="fr-FR" err="1"/>
          </a:p>
        </p:txBody>
      </p:sp>
      <p:sp>
        <p:nvSpPr>
          <p:cNvPr id="33" name="Shape 31"/>
          <p:cNvSpPr/>
          <p:nvPr/>
        </p:nvSpPr>
        <p:spPr>
          <a:xfrm>
            <a:off x="1417320" y="4165600"/>
            <a:ext cx="384048" cy="384048"/>
          </a:xfrm>
          <a:prstGeom prst="ellipse">
            <a:avLst/>
          </a:prstGeom>
          <a:solidFill>
            <a:srgbClr val="1B7967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4" name="Text 32"/>
          <p:cNvSpPr/>
          <p:nvPr/>
        </p:nvSpPr>
        <p:spPr>
          <a:xfrm>
            <a:off x="1417320" y="4165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1965960" y="4127500"/>
            <a:ext cx="5760720" cy="457200"/>
          </a:xfrm>
          <a:prstGeom prst="rect">
            <a:avLst/>
          </a:prstGeom>
          <a:solidFill>
            <a:srgbClr val="E9F3E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6" name="Text 34"/>
          <p:cNvSpPr/>
          <p:nvPr/>
        </p:nvSpPr>
        <p:spPr>
          <a:xfrm>
            <a:off x="2148840" y="4127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Résultat</a:t>
            </a:r>
            <a:r>
              <a:rPr lang="en-US" sz="1100" b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  </a:t>
            </a:r>
            <a:r>
              <a:rPr lang="en-US" sz="950" err="1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Besoins</a:t>
            </a:r>
            <a:r>
              <a:rPr lang="en-US" sz="950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err="1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fonctionnels</a:t>
            </a:r>
            <a:r>
              <a:rPr lang="en-US" sz="950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err="1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prioritaires</a:t>
            </a:r>
            <a:r>
              <a:rPr lang="en-US" sz="950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 qui </a:t>
            </a:r>
            <a:r>
              <a:rPr lang="en-US" sz="950" err="1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orientent</a:t>
            </a:r>
            <a:r>
              <a:rPr lang="en-US" sz="950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err="1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l'architecture</a:t>
            </a:r>
            <a:r>
              <a:rPr lang="en-US" sz="950">
                <a:solidFill>
                  <a:srgbClr val="5A5A66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37" name="Text 35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0" name="Shape 38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1" name="Text 39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83855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Organisation &amp; gestion de projet</a:t>
            </a:r>
            <a:endParaRPr lang="en-US" sz="2800"/>
          </a:p>
        </p:txBody>
      </p:sp>
      <p:sp>
        <p:nvSpPr>
          <p:cNvPr id="25" name="Text 2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8" name="Shape 2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9" name="Text 2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  <p:sp>
        <p:nvSpPr>
          <p:cNvPr id="200" name="Subtitle"/>
          <p:cNvSpPr txBox="1"/>
          <p:nvPr/>
        </p:nvSpPr>
        <p:spPr>
          <a:xfrm>
            <a:off x="457200" y="1473200"/>
            <a:ext cx="822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5A5A66"/>
                </a:solidFill>
                <a:latin typeface="Calibri" pitchFamily="34" charset="0"/>
              </a:rPr>
              <a:t>Un pilotage en méthode agile via un tableau Trello</a:t>
            </a:r>
          </a:p>
        </p:txBody>
      </p:sp>
      <p:sp>
        <p:nvSpPr>
          <p:cNvPr id="202" name="Card Repartition"/>
          <p:cNvSpPr/>
          <p:nvPr/>
        </p:nvSpPr>
        <p:spPr>
          <a:xfrm>
            <a:off x="5588000" y="1879600"/>
            <a:ext cx="3048000" cy="8001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0C6E8"/>
            </a:solidFill>
          </a:ln>
        </p:spPr>
        <p:txBody>
          <a:bodyPr wrap="square" lIns="54864" tIns="27432" rIns="54864" bIns="27432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3A2B62"/>
                </a:solidFill>
                <a:latin typeface="Calibri" pitchFamily="34" charset="0"/>
              </a:rPr>
              <a:t>Répartition des tâches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Colonnes Kanban : à faire, en cours, en revue, terminé</a:t>
            </a:r>
          </a:p>
        </p:txBody>
      </p:sp>
      <p:sp>
        <p:nvSpPr>
          <p:cNvPr id="203" name="Card Priorisation"/>
          <p:cNvSpPr/>
          <p:nvPr/>
        </p:nvSpPr>
        <p:spPr>
          <a:xfrm>
            <a:off x="5588000" y="2781300"/>
            <a:ext cx="3048000" cy="8001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0C6E8"/>
            </a:solidFill>
          </a:ln>
        </p:spPr>
        <p:txBody>
          <a:bodyPr wrap="square" lIns="54864" tIns="27432" rIns="54864" bIns="27432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B7967"/>
                </a:solidFill>
                <a:latin typeface="Calibri" pitchFamily="34" charset="0"/>
              </a:rPr>
              <a:t>Priorisation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Backlog issu de la collecte des besoins (partie I)</a:t>
            </a:r>
          </a:p>
        </p:txBody>
      </p:sp>
      <p:sp>
        <p:nvSpPr>
          <p:cNvPr id="204" name="Card Suivi"/>
          <p:cNvSpPr/>
          <p:nvPr/>
        </p:nvSpPr>
        <p:spPr>
          <a:xfrm>
            <a:off x="5588000" y="3683000"/>
            <a:ext cx="3048000" cy="8001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0C6E8"/>
            </a:solidFill>
          </a:ln>
        </p:spPr>
        <p:txBody>
          <a:bodyPr wrap="square" lIns="54864" tIns="27432" rIns="54864" bIns="27432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3A2B62"/>
                </a:solidFill>
                <a:latin typeface="Calibri" pitchFamily="34" charset="0"/>
              </a:rPr>
              <a:t>Suivi &amp; collaboration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Cartes assignées par membre ; équipe synchronisée en continu</a:t>
            </a:r>
          </a:p>
        </p:txBody>
      </p:sp>
      <p:pic>
        <p:nvPicPr>
          <p:cNvPr id="9" name="Image 8" descr="Une image contenant texte, capture d’écran, Logiciel multimédia, logiciel&#10;&#10;Le contenu généré par l’IA peut être incorrect.">
            <a:extLst>
              <a:ext uri="{FF2B5EF4-FFF2-40B4-BE49-F238E27FC236}">
                <a16:creationId xmlns:a16="http://schemas.microsoft.com/office/drawing/2014/main" id="{BFC03994-49CE-0C1E-288C-F42123D47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86" y="2028273"/>
            <a:ext cx="4757057" cy="195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058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0" y="1600200"/>
            <a:ext cx="2194560" cy="868680"/>
          </a:xfrm>
          <a:prstGeom prst="rect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1600200"/>
            <a:ext cx="914400" cy="86868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2194560" cy="868680"/>
          </a:xfrm>
          <a:prstGeom prst="rect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1828800" y="2606040"/>
            <a:ext cx="914400" cy="86868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828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960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960120" cy="96012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952" y="1493672"/>
            <a:ext cx="441655" cy="4416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0" y="2230483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PARTIE II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4572000" y="27432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de la solution</a:t>
            </a:r>
            <a:endParaRPr lang="en-US" sz="2800"/>
          </a:p>
        </p:txBody>
      </p:sp>
      <p:sp>
        <p:nvSpPr>
          <p:cNvPr id="12" name="Text 9"/>
          <p:cNvSpPr/>
          <p:nvPr/>
        </p:nvSpPr>
        <p:spPr>
          <a:xfrm>
            <a:off x="4617720" y="3703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globale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distribuée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et module IoT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8229600" y="4617720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1"/>
          <p:cNvSpPr/>
          <p:nvPr/>
        </p:nvSpPr>
        <p:spPr>
          <a:xfrm>
            <a:off x="8229600" y="461772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ea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Conception de la solution</a:t>
            </a:r>
            <a:endParaRPr lang="en-US" sz="15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Architecture globale distribuée</a:t>
            </a:r>
            <a:endParaRPr lang="en-US" sz="3000" err="1">
              <a:latin typeface="Bookman Old Style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1" name="Shape 2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2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100"/>
          </a:p>
        </p:txBody>
      </p:sp>
      <p:pic>
        <p:nvPicPr>
          <p:cNvPr id="34" name="Picture 3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005" y="1589996"/>
            <a:ext cx="6116870" cy="29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24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de la solution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Composants et flux applicatifs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distribuée pays ↔ siège  </a:t>
            </a: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pays dispose d'un back-end autonome, le siège consolide l'ensemble.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1883664" cy="64008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1883664" cy="187452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2" name="Shape 10"/>
          <p:cNvSpPr/>
          <p:nvPr/>
        </p:nvSpPr>
        <p:spPr>
          <a:xfrm>
            <a:off x="1124712" y="2441448"/>
            <a:ext cx="640080" cy="64008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34" y="2614270"/>
            <a:ext cx="294437" cy="29443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" y="31546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Back-end pays (×3)</a:t>
            </a:r>
            <a:endParaRPr lang="en-US" sz="1350"/>
          </a:p>
        </p:txBody>
      </p:sp>
      <p:sp>
        <p:nvSpPr>
          <p:cNvPr id="15" name="Text 12"/>
          <p:cNvSpPr/>
          <p:nvPr/>
        </p:nvSpPr>
        <p:spPr>
          <a:xfrm>
            <a:off x="667512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Spring Boot </a:t>
            </a:r>
            <a:b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</a:br>
            <a: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 ingestion IoT, API REST, </a:t>
            </a:r>
            <a:r>
              <a:rPr lang="en-US" sz="950" err="1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moteur</a:t>
            </a:r>
            <a: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err="1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d'alertes</a:t>
            </a:r>
            <a: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, notification e-mail.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587752" y="2148840"/>
            <a:ext cx="1883664" cy="64008"/>
          </a:xfrm>
          <a:prstGeom prst="rect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7" name="Shape 14"/>
          <p:cNvSpPr/>
          <p:nvPr/>
        </p:nvSpPr>
        <p:spPr>
          <a:xfrm>
            <a:off x="2587752" y="2212848"/>
            <a:ext cx="1883664" cy="187452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Shape 15"/>
          <p:cNvSpPr/>
          <p:nvPr/>
        </p:nvSpPr>
        <p:spPr>
          <a:xfrm>
            <a:off x="3209544" y="2441448"/>
            <a:ext cx="640080" cy="640080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366" y="2614270"/>
            <a:ext cx="294437" cy="29443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87752" y="31546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Back-end central</a:t>
            </a:r>
            <a:endParaRPr lang="en-US" sz="1350"/>
          </a:p>
        </p:txBody>
      </p:sp>
      <p:sp>
        <p:nvSpPr>
          <p:cNvPr id="21" name="Text 17"/>
          <p:cNvSpPr/>
          <p:nvPr/>
        </p:nvSpPr>
        <p:spPr>
          <a:xfrm>
            <a:off x="2752344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Spring Boot</a:t>
            </a:r>
            <a:endParaRPr lang="en-US" sz="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consolidation multi-pays et </a:t>
            </a:r>
            <a:r>
              <a:rPr lang="en-US" sz="950" err="1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 JWT, sans donnée métier.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672584" y="2148840"/>
            <a:ext cx="1883664" cy="64008"/>
          </a:xfrm>
          <a:prstGeom prst="rect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3" name="Shape 19"/>
          <p:cNvSpPr/>
          <p:nvPr/>
        </p:nvSpPr>
        <p:spPr>
          <a:xfrm>
            <a:off x="4672584" y="2212848"/>
            <a:ext cx="1883664" cy="187452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Shape 20"/>
          <p:cNvSpPr/>
          <p:nvPr/>
        </p:nvSpPr>
        <p:spPr>
          <a:xfrm>
            <a:off x="5294376" y="2441448"/>
            <a:ext cx="640080" cy="640080"/>
          </a:xfrm>
          <a:prstGeom prst="ellipse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7198" y="2614270"/>
            <a:ext cx="294437" cy="29443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72584" y="31546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Front-end web</a:t>
            </a:r>
            <a:endParaRPr lang="en-US" sz="1350"/>
          </a:p>
        </p:txBody>
      </p:sp>
      <p:sp>
        <p:nvSpPr>
          <p:cNvPr id="27" name="Text 22"/>
          <p:cNvSpPr/>
          <p:nvPr/>
        </p:nvSpPr>
        <p:spPr>
          <a:xfrm>
            <a:off x="4837176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React / Vite (SPA) stocks, </a:t>
            </a:r>
            <a:r>
              <a:rPr lang="en-US" sz="950" err="1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courbes</a:t>
            </a:r>
            <a: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err="1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température</a:t>
            </a:r>
            <a: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sz="950" err="1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humidité</a:t>
            </a:r>
            <a: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950" err="1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alertes</a:t>
            </a:r>
            <a:r>
              <a:rPr lang="en-US" sz="9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.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6757416" y="2148840"/>
            <a:ext cx="1883664" cy="64008"/>
          </a:xfrm>
          <a:prstGeom prst="rect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9" name="Shape 24"/>
          <p:cNvSpPr/>
          <p:nvPr/>
        </p:nvSpPr>
        <p:spPr>
          <a:xfrm>
            <a:off x="6757416" y="2212848"/>
            <a:ext cx="1883664" cy="187452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0" name="Shape 25"/>
          <p:cNvSpPr/>
          <p:nvPr/>
        </p:nvSpPr>
        <p:spPr>
          <a:xfrm>
            <a:off x="7379208" y="2441448"/>
            <a:ext cx="640080" cy="640080"/>
          </a:xfrm>
          <a:prstGeom prst="ellipse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030" y="2614270"/>
            <a:ext cx="294437" cy="29443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57416" y="31546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Broker MQTT &amp; SMTP</a:t>
            </a:r>
            <a:endParaRPr lang="en-US" sz="1350"/>
          </a:p>
        </p:txBody>
      </p:sp>
      <p:sp>
        <p:nvSpPr>
          <p:cNvPr id="33" name="Text 27"/>
          <p:cNvSpPr/>
          <p:nvPr/>
        </p:nvSpPr>
        <p:spPr>
          <a:xfrm>
            <a:off x="6922008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Mosquitto (transport IoT) + service d'envoi d'e-mails d'alerte.</a:t>
            </a:r>
            <a:endParaRPr lang="en-US" sz="950"/>
          </a:p>
        </p:txBody>
      </p:sp>
      <p:sp>
        <p:nvSpPr>
          <p:cNvPr id="35" name="Text 29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6" name="Text 30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7" name="Shape 31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8" name="Shape 32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9" name="Text 33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009837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409B34-13F0-1BC4-CB47-9C8852D80883}"/>
              </a:ext>
            </a:extLst>
          </p:cNvPr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974496C-FABB-DB73-9428-61E0F2C5E7FB}"/>
              </a:ext>
            </a:extLst>
          </p:cNvPr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7D22D82-948B-AE44-383C-18740E12CA72}"/>
              </a:ext>
            </a:extLst>
          </p:cNvPr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352935-AE1F-1DF4-DB7B-29BFFDD83378}"/>
              </a:ext>
            </a:extLst>
          </p:cNvPr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6BED530-2859-2DD7-1B38-D9D79DD9F73E}"/>
              </a:ext>
            </a:extLst>
          </p:cNvPr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A584A4-BE24-7906-2918-D253D874383B}"/>
              </a:ext>
            </a:extLst>
          </p:cNvPr>
          <p:cNvSpPr/>
          <p:nvPr/>
        </p:nvSpPr>
        <p:spPr>
          <a:xfrm>
            <a:off x="302198" y="0"/>
            <a:ext cx="3485313" cy="58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Bookman Old Style"/>
              </a:rPr>
              <a:t>Le MCD du domaine « Pays »</a:t>
            </a:r>
            <a:endParaRPr lang="fr-FR"/>
          </a:p>
          <a:p>
            <a:endParaRPr lang="en-US" sz="1500" b="1">
              <a:solidFill>
                <a:srgbClr val="FFFFFF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21FEE126-7BEB-5C77-6CA7-E01F6F8FBB63}"/>
              </a:ext>
            </a:extLst>
          </p:cNvPr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9ACB2D69-4E81-DF67-16A2-78AFBDC79F7B}"/>
              </a:ext>
            </a:extLst>
          </p:cNvPr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77F857A5-A506-BDED-FBE3-CE1288B75E59}"/>
              </a:ext>
            </a:extLst>
          </p:cNvPr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6A483A47-D96B-266E-219C-3FE47BEA5E43}"/>
              </a:ext>
            </a:extLst>
          </p:cNvPr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0DDDDE7C-7646-5237-3998-CB82317ADF9B}"/>
              </a:ext>
            </a:extLst>
          </p:cNvPr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10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0ABE7A06-17BE-4082-FBDC-AF0800FDDF35}"/>
              </a:ext>
            </a:extLst>
          </p:cNvPr>
          <p:cNvSpPr/>
          <p:nvPr/>
        </p:nvSpPr>
        <p:spPr>
          <a:xfrm>
            <a:off x="308275" y="789413"/>
            <a:ext cx="8641750" cy="4032807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13"/>
          </a:p>
        </p:txBody>
      </p:sp>
      <p:pic>
        <p:nvPicPr>
          <p:cNvPr id="34" name="Picture 33" descr="mcd_p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010" y="794856"/>
            <a:ext cx="4432247" cy="396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79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de la solution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Dispositif d'alertes — seuils par pays</a:t>
            </a:r>
            <a:endParaRPr lang="en-US" sz="2600"/>
          </a:p>
        </p:txBody>
      </p:sp>
      <p:sp>
        <p:nvSpPr>
          <p:cNvPr id="12" name="Shape 10"/>
          <p:cNvSpPr/>
          <p:nvPr/>
        </p:nvSpPr>
        <p:spPr>
          <a:xfrm>
            <a:off x="1027611" y="2356757"/>
            <a:ext cx="1783080" cy="64008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1027611" y="2420765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1027611" y="2466485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29 °C</a:t>
            </a:r>
          </a:p>
          <a:p>
            <a:pPr algn="ctr"/>
            <a:r>
              <a:rPr lang="en-US" sz="2000" b="1">
                <a:solidFill>
                  <a:srgbClr val="FFFFFF"/>
                </a:solidFill>
                <a:latin typeface="Bookman Old Style"/>
              </a:rPr>
              <a:t>55% Hum</a:t>
            </a:r>
          </a:p>
        </p:txBody>
      </p:sp>
      <p:sp>
        <p:nvSpPr>
          <p:cNvPr id="15" name="Text 13"/>
          <p:cNvSpPr/>
          <p:nvPr/>
        </p:nvSpPr>
        <p:spPr>
          <a:xfrm>
            <a:off x="1027611" y="3069989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err="1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Brésil</a:t>
            </a:r>
            <a:r>
              <a:rPr lang="en-US" sz="10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 _ </a:t>
            </a:r>
            <a:r>
              <a:rPr lang="en-US" sz="1050" err="1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idéa</a:t>
            </a:r>
            <a:endParaRPr lang="en-US" sz="1050" err="1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806555" y="2356757"/>
            <a:ext cx="1783080" cy="64008"/>
          </a:xfrm>
          <a:prstGeom prst="rect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7" name="Shape 15"/>
          <p:cNvSpPr/>
          <p:nvPr/>
        </p:nvSpPr>
        <p:spPr>
          <a:xfrm>
            <a:off x="2806555" y="2420765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6"/>
          <p:cNvSpPr/>
          <p:nvPr/>
        </p:nvSpPr>
        <p:spPr>
          <a:xfrm>
            <a:off x="2806555" y="2466485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31°C</a:t>
            </a:r>
            <a:endParaRPr lang="en-US" sz="2000">
              <a:solidFill>
                <a:srgbClr val="000000"/>
              </a:solidFill>
              <a:latin typeface="Bookman Old Style"/>
              <a:ea typeface="Calibri"/>
              <a:cs typeface="Calibri"/>
            </a:endParaRPr>
          </a:p>
          <a:p>
            <a:pPr algn="ctr"/>
            <a:r>
              <a:rPr lang="en-US" sz="2000" b="1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60% Hum</a:t>
            </a:r>
            <a:endParaRPr lang="en-US" sz="2000">
              <a:solidFill>
                <a:srgbClr val="000000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806555" y="3069989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Équateur _ </a:t>
            </a:r>
            <a:r>
              <a:rPr lang="en-US" sz="1050" err="1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idéal</a:t>
            </a:r>
            <a:endParaRPr lang="en-US" sz="1050" err="1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81797" y="2359152"/>
            <a:ext cx="1783080" cy="64008"/>
          </a:xfrm>
          <a:prstGeom prst="rect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1" name="Shape 19"/>
          <p:cNvSpPr/>
          <p:nvPr/>
        </p:nvSpPr>
        <p:spPr>
          <a:xfrm>
            <a:off x="4581797" y="2423160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4581797" y="2468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Bookman Old Style"/>
              </a:rPr>
              <a:t>26°C</a:t>
            </a:r>
            <a:endParaRPr lang="en-US" sz="2000">
              <a:solidFill>
                <a:srgbClr val="000000"/>
              </a:solidFill>
              <a:latin typeface="Bookman Old Style"/>
            </a:endParaRPr>
          </a:p>
          <a:p>
            <a:pPr algn="ctr"/>
            <a:r>
              <a:rPr lang="en-US" sz="2000" b="1">
                <a:solidFill>
                  <a:srgbClr val="FFFFFF"/>
                </a:solidFill>
                <a:latin typeface="Bookman Old Style"/>
              </a:rPr>
              <a:t>80% Hum</a:t>
            </a: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81797" y="30723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err="1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Colombie</a:t>
            </a:r>
            <a:r>
              <a:rPr lang="en-US" sz="1050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 _ </a:t>
            </a:r>
            <a:r>
              <a:rPr lang="en-US" sz="1050" err="1">
                <a:solidFill>
                  <a:srgbClr val="D8D2E8"/>
                </a:solidFill>
                <a:latin typeface="Calibri"/>
                <a:ea typeface="Calibri"/>
                <a:cs typeface="Calibri"/>
              </a:rPr>
              <a:t>idéal</a:t>
            </a:r>
            <a:endParaRPr lang="en-US" sz="1050" err="1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38969" y="2359152"/>
            <a:ext cx="1783080" cy="64008"/>
          </a:xfrm>
          <a:prstGeom prst="rect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5" name="Shape 23"/>
          <p:cNvSpPr/>
          <p:nvPr/>
        </p:nvSpPr>
        <p:spPr>
          <a:xfrm>
            <a:off x="6338969" y="2423160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6" name="Text 24"/>
          <p:cNvSpPr/>
          <p:nvPr/>
        </p:nvSpPr>
        <p:spPr>
          <a:xfrm>
            <a:off x="6338969" y="2468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365 j</a:t>
            </a:r>
            <a:endParaRPr lang="en-US" sz="3400"/>
          </a:p>
        </p:txBody>
      </p:sp>
      <p:sp>
        <p:nvSpPr>
          <p:cNvPr id="27" name="Text 25"/>
          <p:cNvSpPr/>
          <p:nvPr/>
        </p:nvSpPr>
        <p:spPr>
          <a:xfrm>
            <a:off x="6338969" y="30723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péremption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30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31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110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1DF9F2C-2048-A18A-7079-1E9811A0F5A3}"/>
              </a:ext>
            </a:extLst>
          </p:cNvPr>
          <p:cNvSpPr txBox="1"/>
          <p:nvPr/>
        </p:nvSpPr>
        <p:spPr>
          <a:xfrm>
            <a:off x="1045029" y="1717221"/>
            <a:ext cx="6716484" cy="5616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 rtl="0">
              <a:buFont typeface="Arial"/>
              <a:buChar char="•"/>
            </a:pPr>
            <a:r>
              <a:rPr lang="en-US" sz="1250" kern="12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Une </a:t>
            </a:r>
            <a:r>
              <a:rPr lang="en-US" sz="1250" kern="120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alerte</a:t>
            </a:r>
            <a:r>
              <a:rPr lang="en-US" sz="1250" kern="12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kern="120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automatique</a:t>
            </a:r>
            <a:r>
              <a:rPr lang="en-US" sz="1250" kern="12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est levée dans deux </a:t>
            </a:r>
            <a:r>
              <a:rPr lang="en-US" sz="1250" kern="120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cas</a:t>
            </a:r>
            <a:r>
              <a:rPr lang="en-US" sz="1250" kern="12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: conditions hors plage, </a:t>
            </a:r>
            <a:r>
              <a:rPr lang="en-US" sz="1250" kern="120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ou</a:t>
            </a:r>
            <a:r>
              <a:rPr lang="en-US" sz="1250" kern="12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kern="1200" err="1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péremption</a:t>
            </a:r>
            <a:r>
              <a:rPr lang="en-US" sz="1250" kern="1200">
                <a:solidFill>
                  <a:srgbClr val="2B2B3A"/>
                </a:solidFill>
                <a:latin typeface="Calibri"/>
                <a:ea typeface="Calibri"/>
                <a:cs typeface="Calibri"/>
              </a:rPr>
              <a:t> du lot.</a:t>
            </a:r>
            <a:endParaRPr lang="fr-FR"/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359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de la solution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Logique de décision — anti-fausse-alerte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1417320" y="1524000"/>
            <a:ext cx="384048" cy="384048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0" name="Text 8"/>
          <p:cNvSpPr/>
          <p:nvPr/>
        </p:nvSpPr>
        <p:spPr>
          <a:xfrm>
            <a:off x="1417320" y="1524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1965960" y="1485900"/>
            <a:ext cx="5760720" cy="45720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2" name="Text 10"/>
          <p:cNvSpPr/>
          <p:nvPr/>
        </p:nvSpPr>
        <p:spPr>
          <a:xfrm>
            <a:off x="2148840" y="14859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reçue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back-end pays compare température et humidité aux seuils du pays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417320" y="21844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1417320" y="218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1965960" y="2146300"/>
            <a:ext cx="5760720" cy="457200"/>
          </a:xfrm>
          <a:prstGeom prst="rect">
            <a:avLst/>
          </a:prstGeom>
          <a:solidFill>
            <a:srgbClr val="E4F4EF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4"/>
          <p:cNvSpPr/>
          <p:nvPr/>
        </p:nvSpPr>
        <p:spPr>
          <a:xfrm>
            <a:off x="2148840" y="21463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Anti-flapping &amp; hystérésis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isolée hors plage ignorée ; compteur d'anomalies incrémenté à chaque mesure consécutive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1417320" y="28448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6"/>
          <p:cNvSpPr/>
          <p:nvPr/>
        </p:nvSpPr>
        <p:spPr>
          <a:xfrm>
            <a:off x="1417320" y="284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1965960" y="2806700"/>
            <a:ext cx="5760720" cy="457200"/>
          </a:xfrm>
          <a:prstGeom prst="rect">
            <a:avLst/>
          </a:prstGeom>
          <a:solidFill>
            <a:srgbClr val="FBF1DD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0" name="Text 18"/>
          <p:cNvSpPr/>
          <p:nvPr/>
        </p:nvSpPr>
        <p:spPr>
          <a:xfrm>
            <a:off x="2148840" y="28067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mesures hors plage consécutives → alerte ACTIVE + 1 e-mail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1417320" y="35052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1417320" y="3505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1965960" y="3467100"/>
            <a:ext cx="5760720" cy="457200"/>
          </a:xfrm>
          <a:prstGeom prst="rect">
            <a:avLst/>
          </a:prstGeom>
          <a:solidFill>
            <a:srgbClr val="ECE8F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Text 22"/>
          <p:cNvSpPr/>
          <p:nvPr/>
        </p:nvSpPr>
        <p:spPr>
          <a:xfrm>
            <a:off x="2148840" y="34671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&amp; acquittement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Renotification toutes les 30 min si actif ; un opérateur acquitte → ACQUITTEE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1417320" y="4165600"/>
            <a:ext cx="384048" cy="384048"/>
          </a:xfrm>
          <a:prstGeom prst="ellipse">
            <a:avLst/>
          </a:prstGeom>
          <a:solidFill>
            <a:srgbClr val="1B7967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4" name="Text 32"/>
          <p:cNvSpPr/>
          <p:nvPr/>
        </p:nvSpPr>
        <p:spPr>
          <a:xfrm>
            <a:off x="1417320" y="4165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1965960" y="4127500"/>
            <a:ext cx="5760720" cy="457200"/>
          </a:xfrm>
          <a:prstGeom prst="rect">
            <a:avLst/>
          </a:prstGeom>
          <a:solidFill>
            <a:srgbClr val="E9F3E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6" name="Text 34"/>
          <p:cNvSpPr/>
          <p:nvPr/>
        </p:nvSpPr>
        <p:spPr>
          <a:xfrm>
            <a:off x="2148840" y="4127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mesures normales consécutives → RESOLUE automatiquement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0" name="Shape 38"/>
          <p:cNvSpPr/>
          <p:nvPr/>
        </p:nvSpPr>
        <p:spPr>
          <a:xfrm>
            <a:off x="8229600" y="4784054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1" name="Text 39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37534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Conception de la solution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Sécurité, robustesse et tolérance aux pannes</a:t>
            </a:r>
            <a:endParaRPr lang="en-US" sz="230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813816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back-end central centralise la sécurité ; plusieurs mécanismes assurent en parallèle la robustesse de la solution.</a:t>
            </a:r>
            <a:endParaRPr lang="en-US" sz="1150"/>
          </a:p>
        </p:txBody>
      </p:sp>
      <p:sp>
        <p:nvSpPr>
          <p:cNvPr id="45" name="Text 4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solution</a:t>
            </a:r>
            <a:endParaRPr lang="en-US" sz="850"/>
          </a:p>
        </p:txBody>
      </p:sp>
      <p:sp>
        <p:nvSpPr>
          <p:cNvPr id="47" name="Shape 4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8" name="Shape 4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9" name="Text 4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1100"/>
          </a:p>
        </p:txBody>
      </p:sp>
      <p:sp>
        <p:nvSpPr>
          <p:cNvPr id="100" name="Label Sécurité"/>
          <p:cNvSpPr txBox="1"/>
          <p:nvPr/>
        </p:nvSpPr>
        <p:spPr>
          <a:xfrm>
            <a:off x="508000" y="20701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400" b="1">
                <a:solidFill>
                  <a:srgbClr val="1B7967"/>
                </a:solidFill>
                <a:latin typeface="Calibri" pitchFamily="34" charset="0"/>
              </a:rPr>
              <a:t>SÉCURITÉ</a:t>
            </a:r>
          </a:p>
        </p:txBody>
      </p:sp>
      <p:sp>
        <p:nvSpPr>
          <p:cNvPr id="101" name="Label Robustesse"/>
          <p:cNvSpPr txBox="1"/>
          <p:nvPr/>
        </p:nvSpPr>
        <p:spPr>
          <a:xfrm>
            <a:off x="508000" y="33909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400" b="1">
                <a:solidFill>
                  <a:srgbClr val="1B7967"/>
                </a:solidFill>
                <a:latin typeface="Calibri" pitchFamily="34" charset="0"/>
              </a:rPr>
              <a:t>ROBUSTESSE</a:t>
            </a:r>
          </a:p>
        </p:txBody>
      </p:sp>
      <p:sp>
        <p:nvSpPr>
          <p:cNvPr id="102" name="Card Sec 0"/>
          <p:cNvSpPr/>
          <p:nvPr/>
        </p:nvSpPr>
        <p:spPr>
          <a:xfrm>
            <a:off x="508000" y="22987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8BBE4F"/>
                </a:solidFill>
                <a:latin typeface="Calibri" pitchFamily="34" charset="0"/>
              </a:rPr>
              <a:t>JWT · Authentification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Jeton d'accès 15 min + refresh révocable</a:t>
            </a:r>
          </a:p>
        </p:txBody>
      </p:sp>
      <p:sp>
        <p:nvSpPr>
          <p:cNvPr id="103" name="Card Sec 1"/>
          <p:cNvSpPr/>
          <p:nvPr/>
        </p:nvSpPr>
        <p:spPr>
          <a:xfrm>
            <a:off x="2578100" y="22987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2A890"/>
                </a:solidFill>
                <a:latin typeface="Calibri" pitchFamily="34" charset="0"/>
              </a:rPr>
              <a:t>RBAC · Contrôle d'accès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Rôles porteurs de permissions</a:t>
            </a:r>
          </a:p>
        </p:txBody>
      </p:sp>
      <p:sp>
        <p:nvSpPr>
          <p:cNvPr id="104" name="Card Sec 2"/>
          <p:cNvSpPr/>
          <p:nvPr/>
        </p:nvSpPr>
        <p:spPr>
          <a:xfrm>
            <a:off x="4648200" y="22987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DEA345"/>
                </a:solidFill>
                <a:latin typeface="Calibri" pitchFamily="34" charset="0"/>
              </a:rPr>
              <a:t>Isolation par pays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Cloisonnement strict, 403 si refusé</a:t>
            </a:r>
          </a:p>
        </p:txBody>
      </p:sp>
      <p:sp>
        <p:nvSpPr>
          <p:cNvPr id="105" name="Card Sec 3"/>
          <p:cNvSpPr/>
          <p:nvPr/>
        </p:nvSpPr>
        <p:spPr>
          <a:xfrm>
            <a:off x="6718300" y="22987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E15A5A"/>
                </a:solidFill>
                <a:latin typeface="Calibri" pitchFamily="34" charset="0"/>
              </a:rPr>
              <a:t>Protection &amp; audit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Mots de passe hashés, actions consignées</a:t>
            </a:r>
          </a:p>
        </p:txBody>
      </p:sp>
      <p:sp>
        <p:nvSpPr>
          <p:cNvPr id="106" name="Card Rob 0"/>
          <p:cNvSpPr/>
          <p:nvPr/>
        </p:nvSpPr>
        <p:spPr>
          <a:xfrm>
            <a:off x="508000" y="36195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B2B3A"/>
                </a:solidFill>
                <a:latin typeface="Calibri" pitchFamily="34" charset="0"/>
              </a:rPr>
              <a:t>Conteneurisation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Docker Compose, orchestrable sur Kubernetes</a:t>
            </a:r>
          </a:p>
        </p:txBody>
      </p:sp>
      <p:sp>
        <p:nvSpPr>
          <p:cNvPr id="107" name="Card Rob 1"/>
          <p:cNvSpPr/>
          <p:nvPr/>
        </p:nvSpPr>
        <p:spPr>
          <a:xfrm>
            <a:off x="2578100" y="36195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B2B3A"/>
                </a:solidFill>
                <a:latin typeface="Calibri" pitchFamily="34" charset="0"/>
              </a:rPr>
              <a:t>Auto-réparation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Sondes liveness/readiness, redémarrage automatique</a:t>
            </a:r>
          </a:p>
        </p:txBody>
      </p:sp>
      <p:sp>
        <p:nvSpPr>
          <p:cNvPr id="108" name="Card Rob 2"/>
          <p:cNvSpPr/>
          <p:nvPr/>
        </p:nvSpPr>
        <p:spPr>
          <a:xfrm>
            <a:off x="4648200" y="36195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B2B3A"/>
                </a:solidFill>
                <a:latin typeface="Calibri" pitchFamily="34" charset="0"/>
              </a:rPr>
              <a:t>Reconnexion MQTT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Reconnexion automatique après coupure réseau</a:t>
            </a:r>
          </a:p>
        </p:txBody>
      </p:sp>
      <p:sp>
        <p:nvSpPr>
          <p:cNvPr id="109" name="Card Rob 3"/>
          <p:cNvSpPr/>
          <p:nvPr/>
        </p:nvSpPr>
        <p:spPr>
          <a:xfrm>
            <a:off x="6718300" y="3619500"/>
            <a:ext cx="1892300" cy="10414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9DCE3"/>
            </a:solidFill>
          </a:ln>
        </p:spPr>
        <p:txBody>
          <a:bodyPr wrap="square" lIns="64008" tIns="45720" rIns="64008" bIns="4572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B2B3A"/>
                </a:solidFill>
                <a:latin typeface="Calibri" pitchFamily="34" charset="0"/>
              </a:rPr>
              <a:t>Anti-fausse-alerte</a:t>
            </a:r>
          </a:p>
          <a:p>
            <a:pPr marL="0" indent="0" algn="l">
              <a:buNone/>
            </a:pPr>
            <a:r>
              <a:rPr lang="en-US" sz="1400">
                <a:solidFill>
                  <a:srgbClr val="5A5A66"/>
                </a:solidFill>
                <a:latin typeface="Calibri" pitchFamily="34" charset="0"/>
              </a:rPr>
              <a:t>Hystérésis : pas d'incident sur variation passagère</a:t>
            </a:r>
          </a:p>
        </p:txBody>
      </p:sp>
    </p:spTree>
    <p:extLst>
      <p:ext uri="{BB962C8B-B14F-4D97-AF65-F5344CB8AC3E}">
        <p14:creationId xmlns:p14="http://schemas.microsoft.com/office/powerpoint/2010/main" val="3866742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703320" cy="566928"/>
            <a:chOff x="0" y="0"/>
            <a:chExt cx="987552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75520" cy="1511808"/>
            </a:xfrm>
            <a:custGeom>
              <a:avLst/>
              <a:gdLst/>
              <a:ahLst/>
              <a:cxnLst/>
              <a:rect l="l" t="t" r="r" b="b"/>
              <a:pathLst>
                <a:path w="9875520" h="1511808">
                  <a:moveTo>
                    <a:pt x="0" y="0"/>
                  </a:moveTo>
                  <a:lnTo>
                    <a:pt x="9875520" y="0"/>
                  </a:lnTo>
                  <a:lnTo>
                    <a:pt x="98755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3A2B62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246120" y="0"/>
            <a:ext cx="777240" cy="566928"/>
            <a:chOff x="0" y="0"/>
            <a:chExt cx="2072640" cy="15118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2640" cy="1511808"/>
            </a:xfrm>
            <a:custGeom>
              <a:avLst/>
              <a:gdLst/>
              <a:ahLst/>
              <a:cxnLst/>
              <a:rect l="l" t="t" r="r" b="b"/>
              <a:pathLst>
                <a:path w="2072640" h="1511808">
                  <a:moveTo>
                    <a:pt x="0" y="0"/>
                  </a:moveTo>
                  <a:lnTo>
                    <a:pt x="1316736" y="0"/>
                  </a:lnTo>
                  <a:lnTo>
                    <a:pt x="2072640" y="755904"/>
                  </a:lnTo>
                  <a:lnTo>
                    <a:pt x="1316736" y="1511808"/>
                  </a:lnTo>
                  <a:lnTo>
                    <a:pt x="0" y="1511808"/>
                  </a:lnTo>
                  <a:lnTo>
                    <a:pt x="755904" y="755904"/>
                  </a:lnTo>
                  <a:close/>
                </a:path>
              </a:pathLst>
            </a:custGeom>
            <a:solidFill>
              <a:srgbClr val="3A2B62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603504"/>
            <a:ext cx="3337560" cy="182880"/>
            <a:chOff x="0" y="0"/>
            <a:chExt cx="8900160" cy="4876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00160" cy="487680"/>
            </a:xfrm>
            <a:custGeom>
              <a:avLst/>
              <a:gdLst/>
              <a:ahLst/>
              <a:cxnLst/>
              <a:rect l="l" t="t" r="r" b="b"/>
              <a:pathLst>
                <a:path w="8900160" h="487680">
                  <a:moveTo>
                    <a:pt x="0" y="0"/>
                  </a:moveTo>
                  <a:lnTo>
                    <a:pt x="8900160" y="0"/>
                  </a:lnTo>
                  <a:lnTo>
                    <a:pt x="89001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D0C6E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71800" y="603504"/>
            <a:ext cx="640080" cy="182880"/>
            <a:chOff x="0" y="0"/>
            <a:chExt cx="1706880" cy="4876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06880" cy="487680"/>
            </a:xfrm>
            <a:custGeom>
              <a:avLst/>
              <a:gdLst/>
              <a:ahLst/>
              <a:cxnLst/>
              <a:rect l="l" t="t" r="r" b="b"/>
              <a:pathLst>
                <a:path w="1706880" h="487680">
                  <a:moveTo>
                    <a:pt x="0" y="0"/>
                  </a:moveTo>
                  <a:lnTo>
                    <a:pt x="1463040" y="0"/>
                  </a:lnTo>
                  <a:lnTo>
                    <a:pt x="1706880" y="243840"/>
                  </a:lnTo>
                  <a:lnTo>
                    <a:pt x="1463040" y="487680"/>
                  </a:lnTo>
                  <a:lnTo>
                    <a:pt x="0" y="487680"/>
                  </a:lnTo>
                  <a:lnTo>
                    <a:pt x="243840" y="243840"/>
                  </a:lnTo>
                  <a:close/>
                </a:path>
              </a:pathLst>
            </a:custGeom>
            <a:solidFill>
              <a:srgbClr val="D0C6E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60520" y="0"/>
            <a:ext cx="502920" cy="274320"/>
            <a:chOff x="0" y="0"/>
            <a:chExt cx="134112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41120" cy="731520"/>
            </a:xfrm>
            <a:custGeom>
              <a:avLst/>
              <a:gdLst/>
              <a:ahLst/>
              <a:cxnLst/>
              <a:rect l="l" t="t" r="r" b="b"/>
              <a:pathLst>
                <a:path w="1341120" h="731520">
                  <a:moveTo>
                    <a:pt x="0" y="0"/>
                  </a:moveTo>
                  <a:lnTo>
                    <a:pt x="975360" y="0"/>
                  </a:lnTo>
                  <a:lnTo>
                    <a:pt x="1341120" y="365760"/>
                  </a:lnTo>
                  <a:lnTo>
                    <a:pt x="975360" y="731520"/>
                  </a:lnTo>
                  <a:lnTo>
                    <a:pt x="0" y="731520"/>
                  </a:lnTo>
                  <a:lnTo>
                    <a:pt x="365760" y="365760"/>
                  </a:lnTo>
                  <a:close/>
                </a:path>
              </a:pathLst>
            </a:custGeom>
            <a:solidFill>
              <a:srgbClr val="2E235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02200" y="0"/>
            <a:ext cx="3485312" cy="587836"/>
            <a:chOff x="0" y="0"/>
            <a:chExt cx="9294165" cy="15675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94168" cy="1567563"/>
            </a:xfrm>
            <a:custGeom>
              <a:avLst/>
              <a:gdLst/>
              <a:ahLst/>
              <a:cxnLst/>
              <a:rect l="l" t="t" r="r" b="b"/>
              <a:pathLst>
                <a:path w="9294168" h="1567563">
                  <a:moveTo>
                    <a:pt x="0" y="0"/>
                  </a:moveTo>
                  <a:lnTo>
                    <a:pt x="9294168" y="0"/>
                  </a:lnTo>
                  <a:lnTo>
                    <a:pt x="9294168" y="1567563"/>
                  </a:lnTo>
                  <a:lnTo>
                    <a:pt x="0" y="15675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527" b="-6552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9294165" cy="1567561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800"/>
                </a:lnSpc>
              </a:pPr>
              <a:r>
                <a:rPr lang="en-US" sz="1500" b="1" spc="12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Choix matériel du module IoT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0040" y="4828032"/>
            <a:ext cx="1828800" cy="274320"/>
            <a:chOff x="0" y="0"/>
            <a:chExt cx="487680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876800" cy="731520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080"/>
                </a:lnSpc>
              </a:pPr>
              <a:r>
                <a:rPr lang="en-US" sz="900" i="1" spc="7">
                  <a:solidFill>
                    <a:srgbClr val="5A5A66"/>
                  </a:solidFill>
                  <a:latin typeface="TT Phobos Italics"/>
                  <a:ea typeface="TT Phobos Italics"/>
                  <a:cs typeface="TT Phobos Italics"/>
                  <a:sym typeface="TT Phobos Italics"/>
                </a:rPr>
                <a:t>FutureKawa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200400" y="4828032"/>
            <a:ext cx="2743200" cy="274320"/>
            <a:chOff x="0" y="0"/>
            <a:chExt cx="731520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15200" cy="731520"/>
            </a:xfrm>
            <a:custGeom>
              <a:avLst/>
              <a:gdLst/>
              <a:ahLst/>
              <a:cxnLst/>
              <a:rect l="l" t="t" r="r" b="b"/>
              <a:pathLst>
                <a:path w="7315200" h="73152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020"/>
                </a:lnSpc>
              </a:pPr>
              <a:r>
                <a:rPr lang="en-US" sz="850">
                  <a:solidFill>
                    <a:srgbClr val="5A5A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Conception de la solution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03720" y="4882896"/>
            <a:ext cx="1234440" cy="146304"/>
            <a:chOff x="0" y="0"/>
            <a:chExt cx="3291840" cy="3901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291840" cy="390144"/>
            </a:xfrm>
            <a:custGeom>
              <a:avLst/>
              <a:gdLst/>
              <a:ahLst/>
              <a:cxnLst/>
              <a:rect l="l" t="t" r="r" b="b"/>
              <a:pathLst>
                <a:path w="3291840" h="390144">
                  <a:moveTo>
                    <a:pt x="0" y="0"/>
                  </a:moveTo>
                  <a:lnTo>
                    <a:pt x="3291840" y="0"/>
                  </a:lnTo>
                  <a:lnTo>
                    <a:pt x="3291840" y="39014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D0C6E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29600" y="4773168"/>
            <a:ext cx="914400" cy="365760"/>
            <a:chOff x="0" y="0"/>
            <a:chExt cx="2438400" cy="9753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8400" cy="975360"/>
            </a:xfrm>
            <a:custGeom>
              <a:avLst/>
              <a:gdLst/>
              <a:ahLst/>
              <a:cxnLst/>
              <a:rect l="l" t="t" r="r" b="b"/>
              <a:pathLst>
                <a:path w="2438400" h="975360">
                  <a:moveTo>
                    <a:pt x="0" y="0"/>
                  </a:moveTo>
                  <a:lnTo>
                    <a:pt x="1950720" y="0"/>
                  </a:lnTo>
                  <a:lnTo>
                    <a:pt x="2438400" y="487680"/>
                  </a:lnTo>
                  <a:lnTo>
                    <a:pt x="1950720" y="975360"/>
                  </a:lnTo>
                  <a:lnTo>
                    <a:pt x="0" y="975360"/>
                  </a:lnTo>
                  <a:lnTo>
                    <a:pt x="487680" y="487680"/>
                  </a:ln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229600" y="4755309"/>
            <a:ext cx="713232" cy="383619"/>
            <a:chOff x="0" y="-47625"/>
            <a:chExt cx="1901952" cy="102298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01952" cy="975360"/>
            </a:xfrm>
            <a:custGeom>
              <a:avLst/>
              <a:gdLst/>
              <a:ahLst/>
              <a:cxnLst/>
              <a:rect l="l" t="t" r="r" b="b"/>
              <a:pathLst>
                <a:path w="1901952" h="975360">
                  <a:moveTo>
                    <a:pt x="0" y="0"/>
                  </a:moveTo>
                  <a:lnTo>
                    <a:pt x="1901952" y="0"/>
                  </a:lnTo>
                  <a:lnTo>
                    <a:pt x="190195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96" r="-1579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901952" cy="1022985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0"/>
                </a:lnSpc>
              </a:pPr>
              <a:r>
                <a:rPr lang="en-US" sz="1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57188" y="1023938"/>
            <a:ext cx="8429625" cy="1096266"/>
            <a:chOff x="0" y="0"/>
            <a:chExt cx="22479000" cy="292337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478909" cy="2923286"/>
            </a:xfrm>
            <a:custGeom>
              <a:avLst/>
              <a:gdLst/>
              <a:ahLst/>
              <a:cxnLst/>
              <a:rect l="l" t="t" r="r" b="b"/>
              <a:pathLst>
                <a:path w="22478909" h="2923286">
                  <a:moveTo>
                    <a:pt x="0" y="147955"/>
                  </a:moveTo>
                  <a:cubicBezTo>
                    <a:pt x="0" y="66294"/>
                    <a:pt x="68370" y="0"/>
                    <a:pt x="152587" y="0"/>
                  </a:cubicBezTo>
                  <a:lnTo>
                    <a:pt x="22326321" y="0"/>
                  </a:lnTo>
                  <a:cubicBezTo>
                    <a:pt x="22410671" y="0"/>
                    <a:pt x="22478909" y="66294"/>
                    <a:pt x="22478909" y="147955"/>
                  </a:cubicBezTo>
                  <a:lnTo>
                    <a:pt x="22478909" y="2775331"/>
                  </a:lnTo>
                  <a:cubicBezTo>
                    <a:pt x="22478909" y="2857119"/>
                    <a:pt x="22410539" y="2923286"/>
                    <a:pt x="22326321" y="2923286"/>
                  </a:cubicBezTo>
                  <a:lnTo>
                    <a:pt x="152587" y="2923286"/>
                  </a:lnTo>
                  <a:cubicBezTo>
                    <a:pt x="68370" y="2923413"/>
                    <a:pt x="0" y="2857119"/>
                    <a:pt x="0" y="277533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6DEEA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33500" y="1200150"/>
            <a:ext cx="7143750" cy="342900"/>
            <a:chOff x="0" y="0"/>
            <a:chExt cx="19050000" cy="914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050000" cy="914400"/>
            </a:xfrm>
            <a:custGeom>
              <a:avLst/>
              <a:gdLst/>
              <a:ahLst/>
              <a:cxnLst/>
              <a:rect l="l" t="t" r="r" b="b"/>
              <a:pathLst>
                <a:path w="19050000" h="914400">
                  <a:moveTo>
                    <a:pt x="0" y="0"/>
                  </a:moveTo>
                  <a:lnTo>
                    <a:pt x="19050000" y="0"/>
                  </a:lnTo>
                  <a:lnTo>
                    <a:pt x="19050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318" r="9760" b="-31631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9050000" cy="914400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620"/>
                </a:lnSpc>
              </a:pPr>
              <a:r>
                <a:rPr lang="en-US" sz="1350" b="1" spc="11">
                  <a:solidFill>
                    <a:srgbClr val="1B2A41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NodeMCU v2 (ESP8266, ESP-12E)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452438" y="11906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0" y="0"/>
                </a:moveTo>
                <a:lnTo>
                  <a:pt x="1524000" y="0"/>
                </a:lnTo>
                <a:lnTo>
                  <a:pt x="15240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4" name="TextBox 34"/>
          <p:cNvSpPr txBox="1"/>
          <p:nvPr/>
        </p:nvSpPr>
        <p:spPr>
          <a:xfrm>
            <a:off x="1333500" y="1509713"/>
            <a:ext cx="7143750" cy="322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584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Wi-Fi </a:t>
            </a:r>
            <a:r>
              <a:rPr lang="en-US" sz="1800" u="none" strike="noStrike" err="1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intégré</a:t>
            </a: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800" u="none" strike="noStrike" err="1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logique</a:t>
            </a: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 3,3 V, </a:t>
            </a:r>
            <a:r>
              <a:rPr lang="en-US" sz="1800" u="none" strike="noStrike" err="1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faible</a:t>
            </a: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u="none" strike="noStrike" err="1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coût</a:t>
            </a: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800" u="none" strike="noStrike" err="1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largement</a:t>
            </a: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0" u="none" strike="noStrike" err="1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documenté</a:t>
            </a: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  <a:endParaRPr lang="en-US" sz="1800" u="none" strike="noStrike">
              <a:solidFill>
                <a:srgbClr val="5A6B82"/>
              </a:solidFill>
              <a:latin typeface="Calibri (MS)"/>
              <a:ea typeface="Calibri (MS)"/>
              <a:cs typeface="Calibri (MS)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357188" y="2228850"/>
            <a:ext cx="8429625" cy="1096266"/>
            <a:chOff x="0" y="0"/>
            <a:chExt cx="22479000" cy="292337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478909" cy="2923286"/>
            </a:xfrm>
            <a:custGeom>
              <a:avLst/>
              <a:gdLst/>
              <a:ahLst/>
              <a:cxnLst/>
              <a:rect l="l" t="t" r="r" b="b"/>
              <a:pathLst>
                <a:path w="22478909" h="2923286">
                  <a:moveTo>
                    <a:pt x="0" y="147955"/>
                  </a:moveTo>
                  <a:cubicBezTo>
                    <a:pt x="0" y="66294"/>
                    <a:pt x="68370" y="0"/>
                    <a:pt x="152587" y="0"/>
                  </a:cubicBezTo>
                  <a:lnTo>
                    <a:pt x="22326321" y="0"/>
                  </a:lnTo>
                  <a:cubicBezTo>
                    <a:pt x="22410671" y="0"/>
                    <a:pt x="22478909" y="66294"/>
                    <a:pt x="22478909" y="147955"/>
                  </a:cubicBezTo>
                  <a:lnTo>
                    <a:pt x="22478909" y="2775331"/>
                  </a:lnTo>
                  <a:cubicBezTo>
                    <a:pt x="22478909" y="2857119"/>
                    <a:pt x="22410539" y="2923286"/>
                    <a:pt x="22326321" y="2923286"/>
                  </a:cubicBezTo>
                  <a:lnTo>
                    <a:pt x="152587" y="2923286"/>
                  </a:lnTo>
                  <a:cubicBezTo>
                    <a:pt x="68370" y="2923413"/>
                    <a:pt x="0" y="2857119"/>
                    <a:pt x="0" y="277533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6DEEA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33500" y="2405063"/>
            <a:ext cx="7143750" cy="342900"/>
            <a:chOff x="0" y="0"/>
            <a:chExt cx="19050000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050000" cy="914400"/>
            </a:xfrm>
            <a:custGeom>
              <a:avLst/>
              <a:gdLst/>
              <a:ahLst/>
              <a:cxnLst/>
              <a:rect l="l" t="t" r="r" b="b"/>
              <a:pathLst>
                <a:path w="19050000" h="914400">
                  <a:moveTo>
                    <a:pt x="0" y="0"/>
                  </a:moveTo>
                  <a:lnTo>
                    <a:pt x="19050000" y="0"/>
                  </a:lnTo>
                  <a:lnTo>
                    <a:pt x="19050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318" r="9760" b="-31631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9050000" cy="914400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620"/>
                </a:lnSpc>
              </a:pPr>
              <a:r>
                <a:rPr lang="en-US" sz="1350" b="1" spc="11">
                  <a:solidFill>
                    <a:srgbClr val="1B2A41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DHT22</a:t>
              </a:r>
            </a:p>
          </p:txBody>
        </p:sp>
      </p:grpSp>
      <p:sp>
        <p:nvSpPr>
          <p:cNvPr id="40" name="Freeform 40"/>
          <p:cNvSpPr/>
          <p:nvPr/>
        </p:nvSpPr>
        <p:spPr>
          <a:xfrm>
            <a:off x="452438" y="239553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0" y="0"/>
                </a:moveTo>
                <a:lnTo>
                  <a:pt x="1524000" y="0"/>
                </a:lnTo>
                <a:lnTo>
                  <a:pt x="15240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1" name="TextBox 41"/>
          <p:cNvSpPr txBox="1"/>
          <p:nvPr/>
        </p:nvSpPr>
        <p:spPr>
          <a:xfrm>
            <a:off x="1333500" y="2714625"/>
            <a:ext cx="7143750" cy="322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561"/>
              </a:lnSpc>
              <a:spcBef>
                <a:spcPct val="0"/>
              </a:spcBef>
            </a:pPr>
            <a:r>
              <a:rPr lang="en-US" sz="1800" u="none" strike="noStrike" err="1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Température</a:t>
            </a: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 −40 à +80 °C, </a:t>
            </a:r>
            <a:r>
              <a:rPr lang="en-US" sz="1800" u="none" strike="noStrike" err="1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humidité</a:t>
            </a: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 0-100 %, </a:t>
            </a:r>
            <a:r>
              <a:rPr lang="en-US" sz="1800" u="none" strike="noStrike" err="1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précision</a:t>
            </a: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 ± 0,5 °C.</a:t>
            </a:r>
            <a:endParaRPr lang="en-US" sz="1800" u="none" strike="noStrike">
              <a:solidFill>
                <a:srgbClr val="5A6B82"/>
              </a:solidFill>
              <a:latin typeface="Calibri (MS)"/>
              <a:ea typeface="Calibri (MS)"/>
              <a:cs typeface="Calibri (MS)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357188" y="3433763"/>
            <a:ext cx="8429625" cy="1096266"/>
            <a:chOff x="0" y="0"/>
            <a:chExt cx="22479000" cy="292337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478909" cy="2923286"/>
            </a:xfrm>
            <a:custGeom>
              <a:avLst/>
              <a:gdLst/>
              <a:ahLst/>
              <a:cxnLst/>
              <a:rect l="l" t="t" r="r" b="b"/>
              <a:pathLst>
                <a:path w="22478909" h="2923286">
                  <a:moveTo>
                    <a:pt x="0" y="147955"/>
                  </a:moveTo>
                  <a:cubicBezTo>
                    <a:pt x="0" y="66294"/>
                    <a:pt x="68370" y="0"/>
                    <a:pt x="152587" y="0"/>
                  </a:cubicBezTo>
                  <a:lnTo>
                    <a:pt x="22326321" y="0"/>
                  </a:lnTo>
                  <a:cubicBezTo>
                    <a:pt x="22410671" y="0"/>
                    <a:pt x="22478909" y="66294"/>
                    <a:pt x="22478909" y="147955"/>
                  </a:cubicBezTo>
                  <a:lnTo>
                    <a:pt x="22478909" y="2775331"/>
                  </a:lnTo>
                  <a:cubicBezTo>
                    <a:pt x="22478909" y="2857119"/>
                    <a:pt x="22410539" y="2923286"/>
                    <a:pt x="22326321" y="2923286"/>
                  </a:cubicBezTo>
                  <a:lnTo>
                    <a:pt x="152587" y="2923286"/>
                  </a:lnTo>
                  <a:cubicBezTo>
                    <a:pt x="68370" y="2923413"/>
                    <a:pt x="0" y="2857119"/>
                    <a:pt x="0" y="277533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6DEEA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33500" y="3609975"/>
            <a:ext cx="7143750" cy="342900"/>
            <a:chOff x="0" y="0"/>
            <a:chExt cx="19050000" cy="9144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050000" cy="914400"/>
            </a:xfrm>
            <a:custGeom>
              <a:avLst/>
              <a:gdLst/>
              <a:ahLst/>
              <a:cxnLst/>
              <a:rect l="l" t="t" r="r" b="b"/>
              <a:pathLst>
                <a:path w="19050000" h="914400">
                  <a:moveTo>
                    <a:pt x="0" y="0"/>
                  </a:moveTo>
                  <a:lnTo>
                    <a:pt x="19050000" y="0"/>
                  </a:lnTo>
                  <a:lnTo>
                    <a:pt x="19050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318" r="9760" b="-31631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9050000" cy="914400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620"/>
                </a:lnSpc>
              </a:pPr>
              <a:r>
                <a:rPr lang="en-US" sz="1350" b="1" spc="11">
                  <a:solidFill>
                    <a:srgbClr val="1B2A41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OLED SSD1306</a:t>
              </a:r>
            </a:p>
          </p:txBody>
        </p:sp>
      </p:grpSp>
      <p:sp>
        <p:nvSpPr>
          <p:cNvPr id="47" name="Freeform 47"/>
          <p:cNvSpPr/>
          <p:nvPr/>
        </p:nvSpPr>
        <p:spPr>
          <a:xfrm>
            <a:off x="452438" y="36004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0" y="0"/>
                </a:moveTo>
                <a:lnTo>
                  <a:pt x="1524000" y="0"/>
                </a:lnTo>
                <a:lnTo>
                  <a:pt x="15240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8" name="TextBox 48"/>
          <p:cNvSpPr txBox="1"/>
          <p:nvPr/>
        </p:nvSpPr>
        <p:spPr>
          <a:xfrm>
            <a:off x="1333500" y="3919538"/>
            <a:ext cx="7143750" cy="327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728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0,96" 128×64 I2C — </a:t>
            </a:r>
            <a:r>
              <a:rPr lang="en-US" sz="1800" u="none" strike="noStrike" err="1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affichage</a:t>
            </a: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 local des </a:t>
            </a:r>
            <a:r>
              <a:rPr lang="en-US" sz="1800" u="none" strike="noStrike" err="1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mesures</a:t>
            </a: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 et de </a:t>
            </a:r>
            <a:r>
              <a:rPr lang="en-US" sz="1800" u="none" strike="noStrike" err="1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l'état</a:t>
            </a:r>
            <a:r>
              <a:rPr lang="en-US" sz="1800" u="none" strike="noStrike">
                <a:solidFill>
                  <a:srgbClr val="5A6B8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  <a:endParaRPr lang="en-US" sz="1800" u="none" strike="noStrike">
              <a:solidFill>
                <a:srgbClr val="5A6B82"/>
              </a:solidFill>
              <a:latin typeface="Calibri (MS)"/>
              <a:ea typeface="Calibri (MS)"/>
              <a:cs typeface="Calibri (MS)"/>
            </a:endParaRPr>
          </a:p>
        </p:txBody>
      </p:sp>
    </p:spTree>
    <p:extLst>
      <p:ext uri="{BB962C8B-B14F-4D97-AF65-F5344CB8AC3E}">
        <p14:creationId xmlns:p14="http://schemas.microsoft.com/office/powerpoint/2010/main" val="1518192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703320" cy="566928"/>
            <a:chOff x="0" y="0"/>
            <a:chExt cx="987552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75520" cy="1511808"/>
            </a:xfrm>
            <a:custGeom>
              <a:avLst/>
              <a:gdLst/>
              <a:ahLst/>
              <a:cxnLst/>
              <a:rect l="l" t="t" r="r" b="b"/>
              <a:pathLst>
                <a:path w="9875520" h="1511808">
                  <a:moveTo>
                    <a:pt x="0" y="0"/>
                  </a:moveTo>
                  <a:lnTo>
                    <a:pt x="9875520" y="0"/>
                  </a:lnTo>
                  <a:lnTo>
                    <a:pt x="98755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3A2B62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246120" y="0"/>
            <a:ext cx="777240" cy="566928"/>
            <a:chOff x="0" y="0"/>
            <a:chExt cx="2072640" cy="15118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2640" cy="1511808"/>
            </a:xfrm>
            <a:custGeom>
              <a:avLst/>
              <a:gdLst/>
              <a:ahLst/>
              <a:cxnLst/>
              <a:rect l="l" t="t" r="r" b="b"/>
              <a:pathLst>
                <a:path w="2072640" h="1511808">
                  <a:moveTo>
                    <a:pt x="0" y="0"/>
                  </a:moveTo>
                  <a:lnTo>
                    <a:pt x="1316736" y="0"/>
                  </a:lnTo>
                  <a:lnTo>
                    <a:pt x="2072640" y="755904"/>
                  </a:lnTo>
                  <a:lnTo>
                    <a:pt x="1316736" y="1511808"/>
                  </a:lnTo>
                  <a:lnTo>
                    <a:pt x="0" y="1511808"/>
                  </a:lnTo>
                  <a:lnTo>
                    <a:pt x="755904" y="755904"/>
                  </a:lnTo>
                  <a:close/>
                </a:path>
              </a:pathLst>
            </a:custGeom>
            <a:solidFill>
              <a:srgbClr val="3A2B62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603504"/>
            <a:ext cx="3337560" cy="182880"/>
            <a:chOff x="0" y="0"/>
            <a:chExt cx="8900160" cy="4876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00160" cy="487680"/>
            </a:xfrm>
            <a:custGeom>
              <a:avLst/>
              <a:gdLst/>
              <a:ahLst/>
              <a:cxnLst/>
              <a:rect l="l" t="t" r="r" b="b"/>
              <a:pathLst>
                <a:path w="8900160" h="487680">
                  <a:moveTo>
                    <a:pt x="0" y="0"/>
                  </a:moveTo>
                  <a:lnTo>
                    <a:pt x="8900160" y="0"/>
                  </a:lnTo>
                  <a:lnTo>
                    <a:pt x="89001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D0C6E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71800" y="603504"/>
            <a:ext cx="640080" cy="182880"/>
            <a:chOff x="0" y="0"/>
            <a:chExt cx="1706880" cy="4876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06880" cy="487680"/>
            </a:xfrm>
            <a:custGeom>
              <a:avLst/>
              <a:gdLst/>
              <a:ahLst/>
              <a:cxnLst/>
              <a:rect l="l" t="t" r="r" b="b"/>
              <a:pathLst>
                <a:path w="1706880" h="487680">
                  <a:moveTo>
                    <a:pt x="0" y="0"/>
                  </a:moveTo>
                  <a:lnTo>
                    <a:pt x="1463040" y="0"/>
                  </a:lnTo>
                  <a:lnTo>
                    <a:pt x="1706880" y="243840"/>
                  </a:lnTo>
                  <a:lnTo>
                    <a:pt x="1463040" y="487680"/>
                  </a:lnTo>
                  <a:lnTo>
                    <a:pt x="0" y="487680"/>
                  </a:lnTo>
                  <a:lnTo>
                    <a:pt x="243840" y="243840"/>
                  </a:lnTo>
                  <a:close/>
                </a:path>
              </a:pathLst>
            </a:custGeom>
            <a:solidFill>
              <a:srgbClr val="D0C6E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60520" y="0"/>
            <a:ext cx="502920" cy="274320"/>
            <a:chOff x="0" y="0"/>
            <a:chExt cx="134112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41120" cy="731520"/>
            </a:xfrm>
            <a:custGeom>
              <a:avLst/>
              <a:gdLst/>
              <a:ahLst/>
              <a:cxnLst/>
              <a:rect l="l" t="t" r="r" b="b"/>
              <a:pathLst>
                <a:path w="1341120" h="731520">
                  <a:moveTo>
                    <a:pt x="0" y="0"/>
                  </a:moveTo>
                  <a:lnTo>
                    <a:pt x="975360" y="0"/>
                  </a:lnTo>
                  <a:lnTo>
                    <a:pt x="1341120" y="365760"/>
                  </a:lnTo>
                  <a:lnTo>
                    <a:pt x="975360" y="731520"/>
                  </a:lnTo>
                  <a:lnTo>
                    <a:pt x="0" y="731520"/>
                  </a:lnTo>
                  <a:lnTo>
                    <a:pt x="365760" y="365760"/>
                  </a:lnTo>
                  <a:close/>
                </a:path>
              </a:pathLst>
            </a:custGeom>
            <a:solidFill>
              <a:srgbClr val="2E235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74320" y="0"/>
            <a:ext cx="3108960" cy="566928"/>
            <a:chOff x="0" y="0"/>
            <a:chExt cx="8290560" cy="15118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290560" cy="1511808"/>
            </a:xfrm>
            <a:custGeom>
              <a:avLst/>
              <a:gdLst/>
              <a:ahLst/>
              <a:cxnLst/>
              <a:rect l="l" t="t" r="r" b="b"/>
              <a:pathLst>
                <a:path w="8290560" h="1511808">
                  <a:moveTo>
                    <a:pt x="0" y="0"/>
                  </a:moveTo>
                  <a:lnTo>
                    <a:pt x="8290560" y="0"/>
                  </a:lnTo>
                  <a:lnTo>
                    <a:pt x="82905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6853" b="-5685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8290560" cy="1511808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800"/>
                </a:lnSpc>
              </a:pPr>
              <a:r>
                <a:rPr lang="en-US" sz="1500" b="1" spc="12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Conception de la solution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896112"/>
            <a:ext cx="8229600" cy="566928"/>
            <a:chOff x="0" y="0"/>
            <a:chExt cx="21945600" cy="15118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1945600" cy="1511808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120"/>
                </a:lnSpc>
              </a:pPr>
              <a:r>
                <a:rPr lang="en-US" sz="2600" b="1" spc="21">
                  <a:solidFill>
                    <a:srgbClr val="1B7967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Protocole MQTT — topics et pilotage à distance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20040" y="4828032"/>
            <a:ext cx="1828800" cy="274320"/>
            <a:chOff x="0" y="0"/>
            <a:chExt cx="487680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900" b="-7990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4876800" cy="731520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080"/>
                </a:lnSpc>
              </a:pPr>
              <a:r>
                <a:rPr lang="en-US" sz="900" i="1" spc="7">
                  <a:solidFill>
                    <a:srgbClr val="5A5A66"/>
                  </a:solidFill>
                  <a:latin typeface="TT Phobos Italics"/>
                  <a:ea typeface="TT Phobos Italics"/>
                  <a:cs typeface="TT Phobos Italics"/>
                  <a:sym typeface="TT Phobos Italics"/>
                </a:rPr>
                <a:t>FutureKawa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200400" y="4828032"/>
            <a:ext cx="2743200" cy="274320"/>
            <a:chOff x="0" y="0"/>
            <a:chExt cx="731520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15200" cy="731520"/>
            </a:xfrm>
            <a:custGeom>
              <a:avLst/>
              <a:gdLst/>
              <a:ahLst/>
              <a:cxnLst/>
              <a:rect l="l" t="t" r="r" b="b"/>
              <a:pathLst>
                <a:path w="7315200" h="73152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020"/>
                </a:lnSpc>
              </a:pPr>
              <a:r>
                <a:rPr lang="en-US" sz="850">
                  <a:solidFill>
                    <a:srgbClr val="5A5A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Conception de la solution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903720" y="4882896"/>
            <a:ext cx="1234440" cy="146304"/>
            <a:chOff x="0" y="0"/>
            <a:chExt cx="3291840" cy="3901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291840" cy="390144"/>
            </a:xfrm>
            <a:custGeom>
              <a:avLst/>
              <a:gdLst/>
              <a:ahLst/>
              <a:cxnLst/>
              <a:rect l="l" t="t" r="r" b="b"/>
              <a:pathLst>
                <a:path w="3291840" h="390144">
                  <a:moveTo>
                    <a:pt x="0" y="0"/>
                  </a:moveTo>
                  <a:lnTo>
                    <a:pt x="3291840" y="0"/>
                  </a:lnTo>
                  <a:lnTo>
                    <a:pt x="3291840" y="39014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D0C6E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229600" y="4773168"/>
            <a:ext cx="914400" cy="365760"/>
            <a:chOff x="0" y="0"/>
            <a:chExt cx="2438400" cy="9753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438400" cy="975360"/>
            </a:xfrm>
            <a:custGeom>
              <a:avLst/>
              <a:gdLst/>
              <a:ahLst/>
              <a:cxnLst/>
              <a:rect l="l" t="t" r="r" b="b"/>
              <a:pathLst>
                <a:path w="2438400" h="975360">
                  <a:moveTo>
                    <a:pt x="0" y="0"/>
                  </a:moveTo>
                  <a:lnTo>
                    <a:pt x="1950720" y="0"/>
                  </a:lnTo>
                  <a:lnTo>
                    <a:pt x="2438400" y="487680"/>
                  </a:lnTo>
                  <a:lnTo>
                    <a:pt x="1950720" y="975360"/>
                  </a:lnTo>
                  <a:lnTo>
                    <a:pt x="0" y="975360"/>
                  </a:lnTo>
                  <a:lnTo>
                    <a:pt x="487680" y="487680"/>
                  </a:ln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29600" y="4755309"/>
            <a:ext cx="713232" cy="383619"/>
            <a:chOff x="0" y="-47625"/>
            <a:chExt cx="1901952" cy="102298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01952" cy="975360"/>
            </a:xfrm>
            <a:custGeom>
              <a:avLst/>
              <a:gdLst/>
              <a:ahLst/>
              <a:cxnLst/>
              <a:rect l="l" t="t" r="r" b="b"/>
              <a:pathLst>
                <a:path w="1901952" h="975360">
                  <a:moveTo>
                    <a:pt x="0" y="0"/>
                  </a:moveTo>
                  <a:lnTo>
                    <a:pt x="1901952" y="0"/>
                  </a:lnTo>
                  <a:lnTo>
                    <a:pt x="190195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96" r="-1579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901952" cy="1022985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0"/>
                </a:lnSpc>
              </a:pPr>
              <a:r>
                <a:rPr lang="en-US" sz="1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14375" y="3409950"/>
            <a:ext cx="7715250" cy="133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050"/>
              </a:lnSpc>
              <a:spcBef>
                <a:spcPct val="0"/>
              </a:spcBef>
            </a:pPr>
            <a:r>
              <a:rPr lang="en-US" sz="750" u="none" strike="noStrike">
                <a:solidFill>
                  <a:srgbClr val="3A2B62"/>
                </a:solidFill>
                <a:latin typeface="Inter"/>
                <a:ea typeface="Inter"/>
                <a:cs typeface="Inter"/>
                <a:sym typeface="Inter"/>
              </a:rPr>
              <a:t>Payload JSON {capteurId, temperature, humidite} · frequence reglable (min. 2 s) · capteur pilotable a distance : le meme firmware equipe n'importe quel entrepot.</a:t>
            </a:r>
          </a:p>
        </p:txBody>
      </p:sp>
      <p:sp>
        <p:nvSpPr>
          <p:cNvPr id="32" name="AutoShape 32"/>
          <p:cNvSpPr/>
          <p:nvPr/>
        </p:nvSpPr>
        <p:spPr>
          <a:xfrm>
            <a:off x="3143250" y="3667125"/>
            <a:ext cx="2857500" cy="0"/>
          </a:xfrm>
          <a:prstGeom prst="line">
            <a:avLst/>
          </a:prstGeom>
          <a:ln w="19050" cap="flat">
            <a:solidFill>
              <a:srgbClr val="D0C6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3" name="Group 33"/>
          <p:cNvGrpSpPr/>
          <p:nvPr/>
        </p:nvGrpSpPr>
        <p:grpSpPr>
          <a:xfrm>
            <a:off x="7000875" y="2476500"/>
            <a:ext cx="1428750" cy="714375"/>
            <a:chOff x="0" y="0"/>
            <a:chExt cx="3810000" cy="1905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95250" y="0"/>
                  </a:moveTo>
                  <a:lnTo>
                    <a:pt x="3714750" y="0"/>
                  </a:lnTo>
                  <a:cubicBezTo>
                    <a:pt x="3767355" y="0"/>
                    <a:pt x="3810000" y="85290"/>
                    <a:pt x="3810000" y="190500"/>
                  </a:cubicBezTo>
                  <a:lnTo>
                    <a:pt x="3810000" y="1714500"/>
                  </a:lnTo>
                  <a:cubicBezTo>
                    <a:pt x="3810000" y="1819710"/>
                    <a:pt x="3767355" y="1905000"/>
                    <a:pt x="3714750" y="1905000"/>
                  </a:cubicBezTo>
                  <a:lnTo>
                    <a:pt x="95250" y="1905000"/>
                  </a:lnTo>
                  <a:cubicBezTo>
                    <a:pt x="42645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1050"/>
                </a:lnSpc>
                <a:spcBef>
                  <a:spcPct val="0"/>
                </a:spcBef>
              </a:pPr>
              <a:r>
                <a:rPr lang="en-US" sz="7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Enregistrement</a:t>
              </a:r>
            </a:p>
            <a:p>
              <a:pPr marL="0" lvl="0" indent="0" algn="ctr">
                <a:lnSpc>
                  <a:spcPts val="1050"/>
                </a:lnSpc>
                <a:spcBef>
                  <a:spcPct val="0"/>
                </a:spcBef>
              </a:pPr>
              <a:r>
                <a:rPr lang="en-US" sz="7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+ evaluation d'alerte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>
            <a:off x="6858000" y="2833688"/>
            <a:ext cx="142875" cy="0"/>
          </a:xfrm>
          <a:prstGeom prst="line">
            <a:avLst/>
          </a:prstGeom>
          <a:ln w="28575" cap="flat">
            <a:solidFill>
              <a:srgbClr val="3A2B6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37" name="Group 37"/>
          <p:cNvGrpSpPr/>
          <p:nvPr/>
        </p:nvGrpSpPr>
        <p:grpSpPr>
          <a:xfrm>
            <a:off x="5429250" y="2476500"/>
            <a:ext cx="1428750" cy="714375"/>
            <a:chOff x="0" y="0"/>
            <a:chExt cx="3810000" cy="1905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95250" y="0"/>
                  </a:moveTo>
                  <a:lnTo>
                    <a:pt x="3714750" y="0"/>
                  </a:lnTo>
                  <a:cubicBezTo>
                    <a:pt x="3767355" y="0"/>
                    <a:pt x="3810000" y="85290"/>
                    <a:pt x="3810000" y="190500"/>
                  </a:cubicBezTo>
                  <a:lnTo>
                    <a:pt x="3810000" y="1714500"/>
                  </a:lnTo>
                  <a:cubicBezTo>
                    <a:pt x="3810000" y="1819710"/>
                    <a:pt x="3767355" y="1905000"/>
                    <a:pt x="3714750" y="1905000"/>
                  </a:cubicBezTo>
                  <a:lnTo>
                    <a:pt x="95250" y="1905000"/>
                  </a:lnTo>
                  <a:cubicBezTo>
                    <a:pt x="42645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3A2B62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1050"/>
                </a:lnSpc>
                <a:spcBef>
                  <a:spcPct val="0"/>
                </a:spcBef>
              </a:pPr>
              <a:r>
                <a:rPr lang="en-US" sz="7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Back-end pays</a:t>
              </a:r>
            </a:p>
            <a:p>
              <a:pPr marL="0" lvl="0" indent="0" algn="ctr">
                <a:lnSpc>
                  <a:spcPts val="1050"/>
                </a:lnSpc>
                <a:spcBef>
                  <a:spcPct val="0"/>
                </a:spcBef>
              </a:pPr>
              <a:r>
                <a:rPr lang="en-US" sz="7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(abonne avec joker +)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>
            <a:off x="5286375" y="2833688"/>
            <a:ext cx="142875" cy="0"/>
          </a:xfrm>
          <a:prstGeom prst="line">
            <a:avLst/>
          </a:prstGeom>
          <a:ln w="28575" cap="flat">
            <a:solidFill>
              <a:srgbClr val="3A2B6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41" name="Group 41"/>
          <p:cNvGrpSpPr/>
          <p:nvPr/>
        </p:nvGrpSpPr>
        <p:grpSpPr>
          <a:xfrm>
            <a:off x="3857625" y="2476500"/>
            <a:ext cx="1428750" cy="714375"/>
            <a:chOff x="0" y="0"/>
            <a:chExt cx="3810000" cy="1905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95250" y="0"/>
                  </a:moveTo>
                  <a:lnTo>
                    <a:pt x="3714750" y="0"/>
                  </a:lnTo>
                  <a:cubicBezTo>
                    <a:pt x="3767355" y="0"/>
                    <a:pt x="3810000" y="85290"/>
                    <a:pt x="3810000" y="190500"/>
                  </a:cubicBezTo>
                  <a:lnTo>
                    <a:pt x="3810000" y="1714500"/>
                  </a:lnTo>
                  <a:cubicBezTo>
                    <a:pt x="3810000" y="1819710"/>
                    <a:pt x="3767355" y="1905000"/>
                    <a:pt x="3714750" y="1905000"/>
                  </a:cubicBezTo>
                  <a:lnTo>
                    <a:pt x="95250" y="1905000"/>
                  </a:lnTo>
                  <a:cubicBezTo>
                    <a:pt x="42645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1050"/>
                </a:lnSpc>
                <a:spcBef>
                  <a:spcPct val="0"/>
                </a:spcBef>
              </a:pPr>
              <a:r>
                <a:rPr lang="en-US" sz="7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Broker</a:t>
              </a:r>
            </a:p>
            <a:p>
              <a:pPr marL="0" lvl="0" indent="0" algn="ctr">
                <a:lnSpc>
                  <a:spcPts val="1050"/>
                </a:lnSpc>
                <a:spcBef>
                  <a:spcPct val="0"/>
                </a:spcBef>
              </a:pPr>
              <a:r>
                <a:rPr lang="en-US" sz="7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Mosquitto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>
            <a:off x="3714750" y="2833688"/>
            <a:ext cx="142875" cy="0"/>
          </a:xfrm>
          <a:prstGeom prst="line">
            <a:avLst/>
          </a:prstGeom>
          <a:ln w="28575" cap="flat">
            <a:solidFill>
              <a:srgbClr val="3A2B6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45" name="Group 45"/>
          <p:cNvGrpSpPr/>
          <p:nvPr/>
        </p:nvGrpSpPr>
        <p:grpSpPr>
          <a:xfrm>
            <a:off x="2286000" y="2476500"/>
            <a:ext cx="1428750" cy="714375"/>
            <a:chOff x="0" y="0"/>
            <a:chExt cx="3810000" cy="1905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122464" y="0"/>
                  </a:moveTo>
                  <a:lnTo>
                    <a:pt x="3687536" y="0"/>
                  </a:lnTo>
                  <a:cubicBezTo>
                    <a:pt x="3755171" y="0"/>
                    <a:pt x="3810000" y="85290"/>
                    <a:pt x="3810000" y="190500"/>
                  </a:cubicBezTo>
                  <a:lnTo>
                    <a:pt x="3810000" y="1714500"/>
                  </a:lnTo>
                  <a:cubicBezTo>
                    <a:pt x="3810000" y="1819710"/>
                    <a:pt x="3755171" y="1905000"/>
                    <a:pt x="3687536" y="1905000"/>
                  </a:cubicBezTo>
                  <a:lnTo>
                    <a:pt x="122464" y="1905000"/>
                  </a:lnTo>
                  <a:cubicBezTo>
                    <a:pt x="54829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54829" y="0"/>
                    <a:pt x="122464" y="0"/>
                  </a:cubicBezTo>
                  <a:close/>
                </a:path>
              </a:pathLst>
            </a:custGeom>
            <a:solidFill>
              <a:srgbClr val="3A2B62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1050"/>
                </a:lnSpc>
                <a:spcBef>
                  <a:spcPct val="0"/>
                </a:spcBef>
              </a:pPr>
              <a:r>
                <a:rPr lang="en-US" sz="7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Topic MQTT</a:t>
              </a:r>
            </a:p>
            <a:p>
              <a:pPr marL="0" lvl="0" indent="0" algn="ctr">
                <a:lnSpc>
                  <a:spcPts val="1050"/>
                </a:lnSpc>
                <a:spcBef>
                  <a:spcPct val="0"/>
                </a:spcBef>
              </a:pPr>
              <a:r>
                <a:rPr lang="en-US" sz="7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futurekawa/pays/</a:t>
              </a:r>
            </a:p>
            <a:p>
              <a:pPr marL="0" lvl="0" indent="0" algn="ctr">
                <a:lnSpc>
                  <a:spcPts val="1050"/>
                </a:lnSpc>
                <a:spcBef>
                  <a:spcPct val="0"/>
                </a:spcBef>
              </a:pPr>
              <a:r>
                <a:rPr lang="en-US" sz="7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entrepot/mesures</a:t>
              </a:r>
            </a:p>
          </p:txBody>
        </p:sp>
      </p:grpSp>
      <p:sp>
        <p:nvSpPr>
          <p:cNvPr id="48" name="AutoShape 48"/>
          <p:cNvSpPr/>
          <p:nvPr/>
        </p:nvSpPr>
        <p:spPr>
          <a:xfrm>
            <a:off x="2143125" y="2833688"/>
            <a:ext cx="142875" cy="0"/>
          </a:xfrm>
          <a:prstGeom prst="line">
            <a:avLst/>
          </a:prstGeom>
          <a:ln w="28575" cap="flat">
            <a:solidFill>
              <a:srgbClr val="3A2B6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49" name="Group 49"/>
          <p:cNvGrpSpPr/>
          <p:nvPr/>
        </p:nvGrpSpPr>
        <p:grpSpPr>
          <a:xfrm>
            <a:off x="714375" y="2476500"/>
            <a:ext cx="1428750" cy="714375"/>
            <a:chOff x="0" y="0"/>
            <a:chExt cx="3810000" cy="19050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95250" y="0"/>
                  </a:moveTo>
                  <a:lnTo>
                    <a:pt x="3714750" y="0"/>
                  </a:lnTo>
                  <a:cubicBezTo>
                    <a:pt x="3767355" y="0"/>
                    <a:pt x="3810000" y="85290"/>
                    <a:pt x="3810000" y="190500"/>
                  </a:cubicBezTo>
                  <a:lnTo>
                    <a:pt x="3810000" y="1714500"/>
                  </a:lnTo>
                  <a:cubicBezTo>
                    <a:pt x="3810000" y="1819710"/>
                    <a:pt x="3767355" y="1905000"/>
                    <a:pt x="3714750" y="1905000"/>
                  </a:cubicBezTo>
                  <a:lnTo>
                    <a:pt x="95250" y="1905000"/>
                  </a:lnTo>
                  <a:cubicBezTo>
                    <a:pt x="42645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1050"/>
                </a:lnSpc>
                <a:spcBef>
                  <a:spcPct val="0"/>
                </a:spcBef>
              </a:pPr>
              <a:r>
                <a:rPr lang="en-US" sz="7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Capteur</a:t>
              </a:r>
            </a:p>
            <a:p>
              <a:pPr marL="0" lvl="0" indent="0" algn="ctr">
                <a:lnSpc>
                  <a:spcPts val="1050"/>
                </a:lnSpc>
                <a:spcBef>
                  <a:spcPct val="0"/>
                </a:spcBef>
              </a:pPr>
              <a:r>
                <a:rPr lang="en-US" sz="75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ESP8266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703320" cy="566928"/>
            <a:chOff x="0" y="0"/>
            <a:chExt cx="987552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75520" cy="1511808"/>
            </a:xfrm>
            <a:custGeom>
              <a:avLst/>
              <a:gdLst/>
              <a:ahLst/>
              <a:cxnLst/>
              <a:rect l="l" t="t" r="r" b="b"/>
              <a:pathLst>
                <a:path w="9875520" h="1511808">
                  <a:moveTo>
                    <a:pt x="0" y="0"/>
                  </a:moveTo>
                  <a:lnTo>
                    <a:pt x="9875520" y="0"/>
                  </a:lnTo>
                  <a:lnTo>
                    <a:pt x="98755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3A2B62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246120" y="0"/>
            <a:ext cx="777240" cy="566928"/>
            <a:chOff x="0" y="0"/>
            <a:chExt cx="2072640" cy="15118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2640" cy="1511808"/>
            </a:xfrm>
            <a:custGeom>
              <a:avLst/>
              <a:gdLst/>
              <a:ahLst/>
              <a:cxnLst/>
              <a:rect l="l" t="t" r="r" b="b"/>
              <a:pathLst>
                <a:path w="2072640" h="1511808">
                  <a:moveTo>
                    <a:pt x="0" y="0"/>
                  </a:moveTo>
                  <a:lnTo>
                    <a:pt x="1316736" y="0"/>
                  </a:lnTo>
                  <a:lnTo>
                    <a:pt x="2072640" y="755904"/>
                  </a:lnTo>
                  <a:lnTo>
                    <a:pt x="1316736" y="1511808"/>
                  </a:lnTo>
                  <a:lnTo>
                    <a:pt x="0" y="1511808"/>
                  </a:lnTo>
                  <a:lnTo>
                    <a:pt x="755904" y="755904"/>
                  </a:lnTo>
                  <a:close/>
                </a:path>
              </a:pathLst>
            </a:custGeom>
            <a:solidFill>
              <a:srgbClr val="3A2B62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603504"/>
            <a:ext cx="3337560" cy="182880"/>
            <a:chOff x="0" y="0"/>
            <a:chExt cx="8900160" cy="4876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00160" cy="487680"/>
            </a:xfrm>
            <a:custGeom>
              <a:avLst/>
              <a:gdLst/>
              <a:ahLst/>
              <a:cxnLst/>
              <a:rect l="l" t="t" r="r" b="b"/>
              <a:pathLst>
                <a:path w="8900160" h="487680">
                  <a:moveTo>
                    <a:pt x="0" y="0"/>
                  </a:moveTo>
                  <a:lnTo>
                    <a:pt x="8900160" y="0"/>
                  </a:lnTo>
                  <a:lnTo>
                    <a:pt x="89001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D0C6E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71800" y="603504"/>
            <a:ext cx="640080" cy="182880"/>
            <a:chOff x="0" y="0"/>
            <a:chExt cx="1706880" cy="4876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06880" cy="487680"/>
            </a:xfrm>
            <a:custGeom>
              <a:avLst/>
              <a:gdLst/>
              <a:ahLst/>
              <a:cxnLst/>
              <a:rect l="l" t="t" r="r" b="b"/>
              <a:pathLst>
                <a:path w="1706880" h="487680">
                  <a:moveTo>
                    <a:pt x="0" y="0"/>
                  </a:moveTo>
                  <a:lnTo>
                    <a:pt x="1463040" y="0"/>
                  </a:lnTo>
                  <a:lnTo>
                    <a:pt x="1706880" y="243840"/>
                  </a:lnTo>
                  <a:lnTo>
                    <a:pt x="1463040" y="487680"/>
                  </a:lnTo>
                  <a:lnTo>
                    <a:pt x="0" y="487680"/>
                  </a:lnTo>
                  <a:lnTo>
                    <a:pt x="243840" y="243840"/>
                  </a:lnTo>
                  <a:close/>
                </a:path>
              </a:pathLst>
            </a:custGeom>
            <a:solidFill>
              <a:srgbClr val="D0C6E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60520" y="0"/>
            <a:ext cx="502920" cy="274320"/>
            <a:chOff x="0" y="0"/>
            <a:chExt cx="134112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41120" cy="731520"/>
            </a:xfrm>
            <a:custGeom>
              <a:avLst/>
              <a:gdLst/>
              <a:ahLst/>
              <a:cxnLst/>
              <a:rect l="l" t="t" r="r" b="b"/>
              <a:pathLst>
                <a:path w="1341120" h="731520">
                  <a:moveTo>
                    <a:pt x="0" y="0"/>
                  </a:moveTo>
                  <a:lnTo>
                    <a:pt x="975360" y="0"/>
                  </a:lnTo>
                  <a:lnTo>
                    <a:pt x="1341120" y="365760"/>
                  </a:lnTo>
                  <a:lnTo>
                    <a:pt x="975360" y="731520"/>
                  </a:lnTo>
                  <a:lnTo>
                    <a:pt x="0" y="731520"/>
                  </a:lnTo>
                  <a:lnTo>
                    <a:pt x="365760" y="365760"/>
                  </a:lnTo>
                  <a:close/>
                </a:path>
              </a:pathLst>
            </a:custGeom>
            <a:solidFill>
              <a:srgbClr val="2E235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74320" y="0"/>
            <a:ext cx="3108960" cy="566928"/>
            <a:chOff x="0" y="0"/>
            <a:chExt cx="8290560" cy="15118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290560" cy="1511808"/>
            </a:xfrm>
            <a:custGeom>
              <a:avLst/>
              <a:gdLst/>
              <a:ahLst/>
              <a:cxnLst/>
              <a:rect l="l" t="t" r="r" b="b"/>
              <a:pathLst>
                <a:path w="8290560" h="1511808">
                  <a:moveTo>
                    <a:pt x="0" y="0"/>
                  </a:moveTo>
                  <a:lnTo>
                    <a:pt x="8290560" y="0"/>
                  </a:lnTo>
                  <a:lnTo>
                    <a:pt x="829056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6853" b="-5685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8290560" cy="1511808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800"/>
                </a:lnSpc>
              </a:pPr>
              <a:r>
                <a:rPr lang="en-US" sz="1500" b="1" spc="12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Conception de la solution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896112"/>
            <a:ext cx="8229600" cy="566928"/>
            <a:chOff x="0" y="0"/>
            <a:chExt cx="21945600" cy="15118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1945600" cy="1511808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120"/>
                </a:lnSpc>
              </a:pPr>
              <a:r>
                <a:rPr lang="en-US" sz="3600" b="1" spc="21">
                  <a:solidFill>
                    <a:srgbClr val="1B7967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Reconnexion et gestion des erreurs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02920" y="1536621"/>
            <a:ext cx="8138160" cy="292179"/>
            <a:chOff x="0" y="-47625"/>
            <a:chExt cx="21701761" cy="7791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701761" cy="731520"/>
            </a:xfrm>
            <a:custGeom>
              <a:avLst/>
              <a:gdLst/>
              <a:ahLst/>
              <a:cxnLst/>
              <a:rect l="l" t="t" r="r" b="b"/>
              <a:pathLst>
                <a:path w="21701761" h="731520">
                  <a:moveTo>
                    <a:pt x="0" y="0"/>
                  </a:moveTo>
                  <a:lnTo>
                    <a:pt x="21701761" y="0"/>
                  </a:lnTo>
                  <a:lnTo>
                    <a:pt x="21701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8056" b="-52805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1701760" cy="779145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500"/>
                </a:lnSpc>
              </a:pPr>
              <a:r>
                <a:rPr lang="en-US" sz="1800">
                  <a:solidFill>
                    <a:srgbClr val="2B2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robustesse « terrain » du module IoT repose sur plusieurs garde-fous.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20040" y="4828032"/>
            <a:ext cx="1828800" cy="274320"/>
            <a:chOff x="0" y="0"/>
            <a:chExt cx="487680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900" b="-7990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876800" cy="731520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080"/>
                </a:lnSpc>
              </a:pPr>
              <a:r>
                <a:rPr lang="en-US" sz="900" i="1" spc="7">
                  <a:solidFill>
                    <a:srgbClr val="5A5A66"/>
                  </a:solidFill>
                  <a:latin typeface="TT Phobos Italics"/>
                  <a:ea typeface="TT Phobos Italics"/>
                  <a:cs typeface="TT Phobos Italics"/>
                  <a:sym typeface="TT Phobos Italics"/>
                </a:rPr>
                <a:t>FutureKawa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200400" y="4828032"/>
            <a:ext cx="2743200" cy="274320"/>
            <a:chOff x="0" y="0"/>
            <a:chExt cx="7315200" cy="731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315200" cy="731520"/>
            </a:xfrm>
            <a:custGeom>
              <a:avLst/>
              <a:gdLst/>
              <a:ahLst/>
              <a:cxnLst/>
              <a:rect l="l" t="t" r="r" b="b"/>
              <a:pathLst>
                <a:path w="7315200" h="73152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020"/>
                </a:lnSpc>
              </a:pPr>
              <a:r>
                <a:rPr lang="en-US" sz="850">
                  <a:solidFill>
                    <a:srgbClr val="5A5A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Conception de la solution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903720" y="4882896"/>
            <a:ext cx="1234440" cy="146304"/>
            <a:chOff x="0" y="0"/>
            <a:chExt cx="3291840" cy="3901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291840" cy="390144"/>
            </a:xfrm>
            <a:custGeom>
              <a:avLst/>
              <a:gdLst/>
              <a:ahLst/>
              <a:cxnLst/>
              <a:rect l="l" t="t" r="r" b="b"/>
              <a:pathLst>
                <a:path w="3291840" h="390144">
                  <a:moveTo>
                    <a:pt x="0" y="0"/>
                  </a:moveTo>
                  <a:lnTo>
                    <a:pt x="3291840" y="0"/>
                  </a:lnTo>
                  <a:lnTo>
                    <a:pt x="3291840" y="39014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D0C6E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229600" y="4773168"/>
            <a:ext cx="914400" cy="365760"/>
            <a:chOff x="0" y="0"/>
            <a:chExt cx="2438400" cy="9753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438400" cy="975360"/>
            </a:xfrm>
            <a:custGeom>
              <a:avLst/>
              <a:gdLst/>
              <a:ahLst/>
              <a:cxnLst/>
              <a:rect l="l" t="t" r="r" b="b"/>
              <a:pathLst>
                <a:path w="2438400" h="975360">
                  <a:moveTo>
                    <a:pt x="0" y="0"/>
                  </a:moveTo>
                  <a:lnTo>
                    <a:pt x="1950720" y="0"/>
                  </a:lnTo>
                  <a:lnTo>
                    <a:pt x="2438400" y="487680"/>
                  </a:lnTo>
                  <a:lnTo>
                    <a:pt x="1950720" y="975360"/>
                  </a:lnTo>
                  <a:lnTo>
                    <a:pt x="0" y="975360"/>
                  </a:lnTo>
                  <a:lnTo>
                    <a:pt x="487680" y="487680"/>
                  </a:ln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29600" y="4773168"/>
            <a:ext cx="713232" cy="365760"/>
            <a:chOff x="0" y="0"/>
            <a:chExt cx="1901952" cy="9753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01952" cy="975360"/>
            </a:xfrm>
            <a:custGeom>
              <a:avLst/>
              <a:gdLst/>
              <a:ahLst/>
              <a:cxnLst/>
              <a:rect l="l" t="t" r="r" b="b"/>
              <a:pathLst>
                <a:path w="1901952" h="975360">
                  <a:moveTo>
                    <a:pt x="0" y="0"/>
                  </a:moveTo>
                  <a:lnTo>
                    <a:pt x="1901952" y="0"/>
                  </a:lnTo>
                  <a:lnTo>
                    <a:pt x="190195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96" r="-1579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1901952" cy="1022985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0"/>
                </a:lnSpc>
              </a:pPr>
              <a:r>
                <a:rPr lang="en-US" sz="1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781050" y="2190750"/>
            <a:ext cx="0" cy="1876425"/>
          </a:xfrm>
          <a:prstGeom prst="line">
            <a:avLst/>
          </a:prstGeom>
          <a:ln w="19050" cap="flat">
            <a:solidFill>
              <a:srgbClr val="D0C6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Box 35"/>
          <p:cNvSpPr txBox="1"/>
          <p:nvPr/>
        </p:nvSpPr>
        <p:spPr>
          <a:xfrm>
            <a:off x="952500" y="4024313"/>
            <a:ext cx="7143750" cy="1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980"/>
              </a:lnSpc>
              <a:spcBef>
                <a:spcPct val="0"/>
              </a:spcBef>
            </a:pPr>
            <a:r>
              <a:rPr lang="fr-FR" sz="1000" dirty="0">
                <a:latin typeface="Inter"/>
              </a:rPr>
              <a:t>Période minimale de 2 s pour protéger le broker.</a:t>
            </a:r>
            <a:endParaRPr lang="en-US" sz="1000" u="none" strike="noStrike" dirty="0">
              <a:solidFill>
                <a:srgbClr val="5A5A6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52500" y="3905250"/>
            <a:ext cx="7143750" cy="143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080"/>
              </a:lnSpc>
              <a:spcBef>
                <a:spcPct val="0"/>
              </a:spcBef>
            </a:pPr>
            <a:r>
              <a:rPr lang="fr-FR" sz="1100" b="1" dirty="0">
                <a:solidFill>
                  <a:srgbClr val="7030A0"/>
                </a:solidFill>
                <a:latin typeface="Inter"/>
              </a:rPr>
              <a:t>Plancher de fréquence</a:t>
            </a:r>
            <a:endParaRPr lang="en-US" sz="1100" b="1" u="none" strike="noStrike" dirty="0">
              <a:solidFill>
                <a:srgbClr val="7030A0"/>
              </a:solidFill>
              <a:latin typeface="Inter"/>
              <a:ea typeface="Inter Bold"/>
              <a:cs typeface="Inter Bold"/>
              <a:sym typeface="Inter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14375" y="3914775"/>
            <a:ext cx="133350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236"/>
              </a:lnSpc>
              <a:spcBef>
                <a:spcPct val="0"/>
              </a:spcBef>
            </a:pPr>
            <a:r>
              <a:rPr lang="en-US" sz="105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714375" y="3919537"/>
            <a:ext cx="133350" cy="147638"/>
            <a:chOff x="0" y="-38100"/>
            <a:chExt cx="355600" cy="3937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35560" y="0"/>
                  </a:moveTo>
                  <a:lnTo>
                    <a:pt x="320040" y="0"/>
                  </a:lnTo>
                  <a:cubicBezTo>
                    <a:pt x="339679" y="0"/>
                    <a:pt x="355600" y="15921"/>
                    <a:pt x="355600" y="35560"/>
                  </a:cubicBezTo>
                  <a:lnTo>
                    <a:pt x="355600" y="320040"/>
                  </a:lnTo>
                  <a:cubicBezTo>
                    <a:pt x="355600" y="339679"/>
                    <a:pt x="339679" y="355600"/>
                    <a:pt x="320040" y="355600"/>
                  </a:cubicBezTo>
                  <a:lnTo>
                    <a:pt x="35560" y="355600"/>
                  </a:lnTo>
                  <a:cubicBezTo>
                    <a:pt x="15921" y="355600"/>
                    <a:pt x="0" y="339679"/>
                    <a:pt x="0" y="3200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800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52500" y="3548063"/>
            <a:ext cx="7143750" cy="1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980"/>
              </a:lnSpc>
              <a:spcBef>
                <a:spcPct val="0"/>
              </a:spcBef>
            </a:pPr>
            <a:r>
              <a:rPr lang="fr-FR" sz="1000" dirty="0">
                <a:latin typeface="Inter"/>
              </a:rPr>
              <a:t>Envoi uniquement si actif, configuré et topic renseigné.</a:t>
            </a:r>
            <a:endParaRPr lang="en-US" sz="1000" u="none" strike="noStrike" dirty="0">
              <a:solidFill>
                <a:srgbClr val="5A5A6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952500" y="3429000"/>
            <a:ext cx="7143750" cy="143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080"/>
              </a:lnSpc>
              <a:spcBef>
                <a:spcPct val="0"/>
              </a:spcBef>
            </a:pPr>
            <a:r>
              <a:rPr lang="fr-FR" sz="1100" b="1" dirty="0">
                <a:solidFill>
                  <a:srgbClr val="7030A0"/>
                </a:solidFill>
                <a:latin typeface="Inter"/>
              </a:rPr>
              <a:t>Publication conditionnelle </a:t>
            </a:r>
            <a:endParaRPr lang="en-US" sz="1100" b="1" u="none" strike="noStrike" dirty="0">
              <a:solidFill>
                <a:srgbClr val="7030A0"/>
              </a:solidFill>
              <a:latin typeface="Inter"/>
              <a:ea typeface="Inter Bold"/>
              <a:cs typeface="Inter Bold"/>
              <a:sym typeface="Inter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14375" y="3438525"/>
            <a:ext cx="133350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236"/>
              </a:lnSpc>
              <a:spcBef>
                <a:spcPct val="0"/>
              </a:spcBef>
            </a:pPr>
            <a:r>
              <a:rPr lang="en-US" sz="105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714375" y="3443287"/>
            <a:ext cx="133350" cy="147638"/>
            <a:chOff x="0" y="-38100"/>
            <a:chExt cx="355600" cy="3937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35560" y="0"/>
                  </a:moveTo>
                  <a:lnTo>
                    <a:pt x="320040" y="0"/>
                  </a:lnTo>
                  <a:cubicBezTo>
                    <a:pt x="339679" y="0"/>
                    <a:pt x="355600" y="15921"/>
                    <a:pt x="355600" y="35560"/>
                  </a:cubicBezTo>
                  <a:lnTo>
                    <a:pt x="355600" y="320040"/>
                  </a:lnTo>
                  <a:cubicBezTo>
                    <a:pt x="355600" y="339679"/>
                    <a:pt x="339679" y="355600"/>
                    <a:pt x="320040" y="355600"/>
                  </a:cubicBezTo>
                  <a:lnTo>
                    <a:pt x="35560" y="355600"/>
                  </a:lnTo>
                  <a:cubicBezTo>
                    <a:pt x="15921" y="355600"/>
                    <a:pt x="0" y="339679"/>
                    <a:pt x="0" y="3200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800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52500" y="3071813"/>
            <a:ext cx="7143750" cy="1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980"/>
              </a:lnSpc>
              <a:spcBef>
                <a:spcPct val="0"/>
              </a:spcBef>
            </a:pPr>
            <a:r>
              <a:rPr lang="fr-FR" sz="1000" dirty="0">
                <a:latin typeface="Inter"/>
              </a:rPr>
              <a:t>Valeur NaN du DHT22 ignorée, erreur affichée sur l'OLED. </a:t>
            </a:r>
            <a:endParaRPr lang="en-US" sz="1000" u="none" strike="noStrike" dirty="0">
              <a:solidFill>
                <a:srgbClr val="5A5A6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952500" y="2952750"/>
            <a:ext cx="7143750" cy="143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080"/>
              </a:lnSpc>
              <a:spcBef>
                <a:spcPct val="0"/>
              </a:spcBef>
            </a:pPr>
            <a:r>
              <a:rPr lang="fr-FR" sz="1100" b="1" dirty="0">
                <a:solidFill>
                  <a:srgbClr val="7030A0"/>
                </a:solidFill>
                <a:latin typeface="Inter"/>
              </a:rPr>
              <a:t>Lecture invalide</a:t>
            </a:r>
            <a:endParaRPr lang="en-US" sz="1100" b="1" u="none" strike="noStrike" dirty="0">
              <a:solidFill>
                <a:srgbClr val="7030A0"/>
              </a:solidFill>
              <a:latin typeface="Inter"/>
              <a:ea typeface="Inter Bold"/>
              <a:cs typeface="Inter Bold"/>
              <a:sym typeface="Inter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14375" y="2962275"/>
            <a:ext cx="133350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236"/>
              </a:lnSpc>
              <a:spcBef>
                <a:spcPct val="0"/>
              </a:spcBef>
            </a:pPr>
            <a:r>
              <a:rPr lang="en-US" sz="105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714375" y="2967037"/>
            <a:ext cx="133350" cy="147638"/>
            <a:chOff x="0" y="-38100"/>
            <a:chExt cx="355600" cy="3937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35560" y="0"/>
                  </a:moveTo>
                  <a:lnTo>
                    <a:pt x="320040" y="0"/>
                  </a:lnTo>
                  <a:cubicBezTo>
                    <a:pt x="339679" y="0"/>
                    <a:pt x="355600" y="15921"/>
                    <a:pt x="355600" y="35560"/>
                  </a:cubicBezTo>
                  <a:lnTo>
                    <a:pt x="355600" y="320040"/>
                  </a:lnTo>
                  <a:cubicBezTo>
                    <a:pt x="355600" y="339679"/>
                    <a:pt x="339679" y="355600"/>
                    <a:pt x="320040" y="355600"/>
                  </a:cubicBezTo>
                  <a:lnTo>
                    <a:pt x="35560" y="355600"/>
                  </a:lnTo>
                  <a:cubicBezTo>
                    <a:pt x="15921" y="355600"/>
                    <a:pt x="0" y="339679"/>
                    <a:pt x="0" y="3200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800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952500" y="2595563"/>
            <a:ext cx="7143750" cy="1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980"/>
              </a:lnSpc>
              <a:spcBef>
                <a:spcPct val="0"/>
              </a:spcBef>
            </a:pP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Si le broker MQTT </a:t>
            </a:r>
            <a:r>
              <a:rPr lang="en-US" sz="1000" u="none" strike="noStrike" dirty="0" err="1">
                <a:latin typeface="Inter"/>
                <a:ea typeface="Inter"/>
                <a:cs typeface="Inter"/>
                <a:sym typeface="Inter"/>
              </a:rPr>
              <a:t>devient</a:t>
            </a: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 u="none" strike="noStrike" dirty="0" err="1">
                <a:latin typeface="Inter"/>
                <a:ea typeface="Inter"/>
                <a:cs typeface="Inter"/>
                <a:sym typeface="Inter"/>
              </a:rPr>
              <a:t>injoignable</a:t>
            </a: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, le client se </a:t>
            </a:r>
            <a:r>
              <a:rPr lang="en-US" sz="1000" u="none" strike="noStrike" dirty="0" err="1">
                <a:latin typeface="Inter"/>
                <a:ea typeface="Inter"/>
                <a:cs typeface="Inter"/>
                <a:sym typeface="Inter"/>
              </a:rPr>
              <a:t>reconnecte</a:t>
            </a: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 et se </a:t>
            </a:r>
            <a:r>
              <a:rPr lang="en-US" sz="1000" u="none" strike="noStrike" dirty="0" err="1">
                <a:latin typeface="Inter"/>
                <a:ea typeface="Inter"/>
                <a:cs typeface="Inter"/>
                <a:sym typeface="Inter"/>
              </a:rPr>
              <a:t>réabonne</a:t>
            </a: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 u="none" strike="noStrike" dirty="0" err="1">
                <a:latin typeface="Inter"/>
                <a:ea typeface="Inter"/>
                <a:cs typeface="Inter"/>
                <a:sym typeface="Inter"/>
              </a:rPr>
              <a:t>automatiquement</a:t>
            </a: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 aux topics de pilotage.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52500" y="2476500"/>
            <a:ext cx="7143750" cy="1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080"/>
              </a:lnSpc>
              <a:spcBef>
                <a:spcPct val="0"/>
              </a:spcBef>
            </a:pPr>
            <a:r>
              <a:rPr lang="en-US" sz="1100" b="1" u="none" strike="noStrike" dirty="0">
                <a:solidFill>
                  <a:srgbClr val="7030A0"/>
                </a:solidFill>
                <a:latin typeface="Inter Bold"/>
                <a:ea typeface="Inter Bold"/>
                <a:cs typeface="Inter Bold"/>
                <a:sym typeface="Inter Bold"/>
              </a:rPr>
              <a:t>Reconnexion MQTT </a:t>
            </a:r>
            <a:r>
              <a:rPr lang="en-US" sz="1100" b="1" u="none" strike="noStrike" dirty="0" err="1">
                <a:solidFill>
                  <a:srgbClr val="7030A0"/>
                </a:solidFill>
                <a:latin typeface="Inter Bold"/>
                <a:ea typeface="Inter Bold"/>
                <a:cs typeface="Inter Bold"/>
                <a:sym typeface="Inter Bold"/>
              </a:rPr>
              <a:t>automatique</a:t>
            </a:r>
            <a:endParaRPr lang="en-US" sz="1100" b="1" u="none" strike="noStrike" dirty="0">
              <a:solidFill>
                <a:srgbClr val="7030A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714375" y="2486025"/>
            <a:ext cx="133350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236"/>
              </a:lnSpc>
              <a:spcBef>
                <a:spcPct val="0"/>
              </a:spcBef>
            </a:pPr>
            <a:r>
              <a:rPr lang="en-US" sz="105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714375" y="2490787"/>
            <a:ext cx="133350" cy="147638"/>
            <a:chOff x="0" y="-38100"/>
            <a:chExt cx="355600" cy="3937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35560" y="0"/>
                  </a:moveTo>
                  <a:lnTo>
                    <a:pt x="320040" y="0"/>
                  </a:lnTo>
                  <a:cubicBezTo>
                    <a:pt x="339679" y="0"/>
                    <a:pt x="355600" y="15921"/>
                    <a:pt x="355600" y="35560"/>
                  </a:cubicBezTo>
                  <a:lnTo>
                    <a:pt x="355600" y="320040"/>
                  </a:lnTo>
                  <a:cubicBezTo>
                    <a:pt x="355600" y="339679"/>
                    <a:pt x="339679" y="355600"/>
                    <a:pt x="320040" y="355600"/>
                  </a:cubicBezTo>
                  <a:lnTo>
                    <a:pt x="35560" y="355600"/>
                  </a:lnTo>
                  <a:cubicBezTo>
                    <a:pt x="15921" y="355600"/>
                    <a:pt x="0" y="339679"/>
                    <a:pt x="0" y="3200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800"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952500" y="2119313"/>
            <a:ext cx="7143750" cy="131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980"/>
              </a:lnSpc>
              <a:spcBef>
                <a:spcPct val="0"/>
              </a:spcBef>
            </a:pP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Si la </a:t>
            </a:r>
            <a:r>
              <a:rPr lang="en-US" sz="1000" u="none" strike="noStrike" dirty="0" err="1">
                <a:latin typeface="Inter"/>
                <a:ea typeface="Inter"/>
                <a:cs typeface="Inter"/>
                <a:sym typeface="Inter"/>
              </a:rPr>
              <a:t>connexion</a:t>
            </a: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 Wi-Fi est perdue, le module </a:t>
            </a:r>
            <a:r>
              <a:rPr lang="en-US" sz="1000" u="none" strike="noStrike" dirty="0" err="1">
                <a:latin typeface="Inter"/>
                <a:ea typeface="Inter"/>
                <a:cs typeface="Inter"/>
                <a:sym typeface="Inter"/>
              </a:rPr>
              <a:t>tente</a:t>
            </a: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 u="none" strike="noStrike" dirty="0" err="1">
                <a:latin typeface="Inter"/>
                <a:ea typeface="Inter"/>
                <a:cs typeface="Inter"/>
                <a:sym typeface="Inter"/>
              </a:rPr>
              <a:t>une</a:t>
            </a: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 reconnexion </a:t>
            </a:r>
            <a:r>
              <a:rPr lang="en-US" sz="1000" u="none" strike="noStrike" dirty="0" err="1">
                <a:latin typeface="Inter"/>
                <a:ea typeface="Inter"/>
                <a:cs typeface="Inter"/>
                <a:sym typeface="Inter"/>
              </a:rPr>
              <a:t>toutes</a:t>
            </a: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 les 5 </a:t>
            </a:r>
            <a:r>
              <a:rPr lang="en-US" sz="1000" u="none" strike="noStrike" dirty="0" err="1">
                <a:latin typeface="Inter"/>
                <a:ea typeface="Inter"/>
                <a:cs typeface="Inter"/>
                <a:sym typeface="Inter"/>
              </a:rPr>
              <a:t>secondes</a:t>
            </a: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 sans </a:t>
            </a:r>
            <a:r>
              <a:rPr lang="en-US" sz="1000" u="none" strike="noStrike" dirty="0" err="1">
                <a:latin typeface="Inter"/>
                <a:ea typeface="Inter"/>
                <a:cs typeface="Inter"/>
                <a:sym typeface="Inter"/>
              </a:rPr>
              <a:t>bloquer</a:t>
            </a: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 la boucle </a:t>
            </a:r>
            <a:r>
              <a:rPr lang="en-US" sz="1000" u="none" strike="noStrike" dirty="0" err="1">
                <a:latin typeface="Inter"/>
                <a:ea typeface="Inter"/>
                <a:cs typeface="Inter"/>
                <a:sym typeface="Inter"/>
              </a:rPr>
              <a:t>principale</a:t>
            </a:r>
            <a:r>
              <a:rPr lang="en-US" sz="1000" u="none" strike="noStrike" dirty="0"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52500" y="2000250"/>
            <a:ext cx="7143750" cy="1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080"/>
              </a:lnSpc>
              <a:spcBef>
                <a:spcPct val="0"/>
              </a:spcBef>
            </a:pPr>
            <a:r>
              <a:rPr lang="en-US" sz="1100" b="1" u="none" strike="noStrike" dirty="0">
                <a:solidFill>
                  <a:srgbClr val="7030A0"/>
                </a:solidFill>
                <a:latin typeface="Inter Bold"/>
                <a:ea typeface="Inter Bold"/>
                <a:cs typeface="Inter Bold"/>
                <a:sym typeface="Inter Bold"/>
              </a:rPr>
              <a:t>Reconnexion Wi-Fi </a:t>
            </a:r>
            <a:r>
              <a:rPr lang="en-US" sz="1100" b="1" u="none" strike="noStrike" dirty="0" err="1">
                <a:solidFill>
                  <a:srgbClr val="7030A0"/>
                </a:solidFill>
                <a:latin typeface="Inter Bold"/>
                <a:ea typeface="Inter Bold"/>
                <a:cs typeface="Inter Bold"/>
                <a:sym typeface="Inter Bold"/>
              </a:rPr>
              <a:t>automatique</a:t>
            </a:r>
            <a:endParaRPr lang="en-US" sz="1100" b="1" u="none" strike="noStrike" dirty="0">
              <a:solidFill>
                <a:srgbClr val="7030A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714375" y="2009775"/>
            <a:ext cx="133350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236"/>
              </a:lnSpc>
              <a:spcBef>
                <a:spcPct val="0"/>
              </a:spcBef>
            </a:pPr>
            <a:r>
              <a:rPr lang="en-US" sz="105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714375" y="2014537"/>
            <a:ext cx="133350" cy="147638"/>
            <a:chOff x="0" y="-38100"/>
            <a:chExt cx="355600" cy="3937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35560" y="0"/>
                  </a:moveTo>
                  <a:lnTo>
                    <a:pt x="320040" y="0"/>
                  </a:lnTo>
                  <a:cubicBezTo>
                    <a:pt x="339679" y="0"/>
                    <a:pt x="355600" y="15921"/>
                    <a:pt x="355600" y="35560"/>
                  </a:cubicBezTo>
                  <a:lnTo>
                    <a:pt x="355600" y="320040"/>
                  </a:lnTo>
                  <a:cubicBezTo>
                    <a:pt x="355600" y="339679"/>
                    <a:pt x="339679" y="355600"/>
                    <a:pt x="320040" y="355600"/>
                  </a:cubicBezTo>
                  <a:lnTo>
                    <a:pt x="35560" y="355600"/>
                  </a:lnTo>
                  <a:cubicBezTo>
                    <a:pt x="15921" y="355600"/>
                    <a:pt x="0" y="339679"/>
                    <a:pt x="0" y="3200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800"/>
            </a:p>
          </p:txBody>
        </p:sp>
      </p:grpSp>
    </p:spTree>
    <p:extLst>
      <p:ext uri="{BB962C8B-B14F-4D97-AF65-F5344CB8AC3E}">
        <p14:creationId xmlns:p14="http://schemas.microsoft.com/office/powerpoint/2010/main" val="1035756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703320" cy="566928"/>
            <a:chOff x="0" y="0"/>
            <a:chExt cx="987552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75520" cy="1511808"/>
            </a:xfrm>
            <a:custGeom>
              <a:avLst/>
              <a:gdLst/>
              <a:ahLst/>
              <a:cxnLst/>
              <a:rect l="l" t="t" r="r" b="b"/>
              <a:pathLst>
                <a:path w="9875520" h="1511808">
                  <a:moveTo>
                    <a:pt x="0" y="0"/>
                  </a:moveTo>
                  <a:lnTo>
                    <a:pt x="9875520" y="0"/>
                  </a:lnTo>
                  <a:lnTo>
                    <a:pt x="98755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3A2B62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246120" y="0"/>
            <a:ext cx="777240" cy="566928"/>
            <a:chOff x="0" y="0"/>
            <a:chExt cx="2072640" cy="15118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2640" cy="1511808"/>
            </a:xfrm>
            <a:custGeom>
              <a:avLst/>
              <a:gdLst/>
              <a:ahLst/>
              <a:cxnLst/>
              <a:rect l="l" t="t" r="r" b="b"/>
              <a:pathLst>
                <a:path w="2072640" h="1511808">
                  <a:moveTo>
                    <a:pt x="0" y="0"/>
                  </a:moveTo>
                  <a:lnTo>
                    <a:pt x="1316736" y="0"/>
                  </a:lnTo>
                  <a:lnTo>
                    <a:pt x="2072640" y="755904"/>
                  </a:lnTo>
                  <a:lnTo>
                    <a:pt x="1316736" y="1511808"/>
                  </a:lnTo>
                  <a:lnTo>
                    <a:pt x="0" y="1511808"/>
                  </a:lnTo>
                  <a:lnTo>
                    <a:pt x="755904" y="755904"/>
                  </a:lnTo>
                  <a:close/>
                </a:path>
              </a:pathLst>
            </a:custGeom>
            <a:solidFill>
              <a:srgbClr val="3A2B62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603504"/>
            <a:ext cx="3337560" cy="182880"/>
            <a:chOff x="0" y="0"/>
            <a:chExt cx="8900160" cy="4876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00160" cy="487680"/>
            </a:xfrm>
            <a:custGeom>
              <a:avLst/>
              <a:gdLst/>
              <a:ahLst/>
              <a:cxnLst/>
              <a:rect l="l" t="t" r="r" b="b"/>
              <a:pathLst>
                <a:path w="8900160" h="487680">
                  <a:moveTo>
                    <a:pt x="0" y="0"/>
                  </a:moveTo>
                  <a:lnTo>
                    <a:pt x="8900160" y="0"/>
                  </a:lnTo>
                  <a:lnTo>
                    <a:pt x="89001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D0C6E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71800" y="603504"/>
            <a:ext cx="640080" cy="182880"/>
            <a:chOff x="0" y="0"/>
            <a:chExt cx="1706880" cy="4876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06880" cy="487680"/>
            </a:xfrm>
            <a:custGeom>
              <a:avLst/>
              <a:gdLst/>
              <a:ahLst/>
              <a:cxnLst/>
              <a:rect l="l" t="t" r="r" b="b"/>
              <a:pathLst>
                <a:path w="1706880" h="487680">
                  <a:moveTo>
                    <a:pt x="0" y="0"/>
                  </a:moveTo>
                  <a:lnTo>
                    <a:pt x="1463040" y="0"/>
                  </a:lnTo>
                  <a:lnTo>
                    <a:pt x="1706880" y="243840"/>
                  </a:lnTo>
                  <a:lnTo>
                    <a:pt x="1463040" y="487680"/>
                  </a:lnTo>
                  <a:lnTo>
                    <a:pt x="0" y="487680"/>
                  </a:lnTo>
                  <a:lnTo>
                    <a:pt x="243840" y="243840"/>
                  </a:lnTo>
                  <a:close/>
                </a:path>
              </a:pathLst>
            </a:custGeom>
            <a:solidFill>
              <a:srgbClr val="D0C6E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60520" y="0"/>
            <a:ext cx="502920" cy="274320"/>
            <a:chOff x="0" y="0"/>
            <a:chExt cx="134112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41120" cy="731520"/>
            </a:xfrm>
            <a:custGeom>
              <a:avLst/>
              <a:gdLst/>
              <a:ahLst/>
              <a:cxnLst/>
              <a:rect l="l" t="t" r="r" b="b"/>
              <a:pathLst>
                <a:path w="1341120" h="731520">
                  <a:moveTo>
                    <a:pt x="0" y="0"/>
                  </a:moveTo>
                  <a:lnTo>
                    <a:pt x="975360" y="0"/>
                  </a:lnTo>
                  <a:lnTo>
                    <a:pt x="1341120" y="365760"/>
                  </a:lnTo>
                  <a:lnTo>
                    <a:pt x="975360" y="731520"/>
                  </a:lnTo>
                  <a:lnTo>
                    <a:pt x="0" y="731520"/>
                  </a:lnTo>
                  <a:lnTo>
                    <a:pt x="365760" y="365760"/>
                  </a:lnTo>
                  <a:close/>
                </a:path>
              </a:pathLst>
            </a:custGeom>
            <a:solidFill>
              <a:srgbClr val="2E235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02200" y="0"/>
            <a:ext cx="3485312" cy="587836"/>
            <a:chOff x="0" y="0"/>
            <a:chExt cx="9294165" cy="15675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94168" cy="1567563"/>
            </a:xfrm>
            <a:custGeom>
              <a:avLst/>
              <a:gdLst/>
              <a:ahLst/>
              <a:cxnLst/>
              <a:rect l="l" t="t" r="r" b="b"/>
              <a:pathLst>
                <a:path w="9294168" h="1567563">
                  <a:moveTo>
                    <a:pt x="0" y="0"/>
                  </a:moveTo>
                  <a:lnTo>
                    <a:pt x="9294168" y="0"/>
                  </a:lnTo>
                  <a:lnTo>
                    <a:pt x="9294168" y="1567563"/>
                  </a:lnTo>
                  <a:lnTo>
                    <a:pt x="0" y="15675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5527" b="-6552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9294165" cy="1567561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680"/>
                </a:lnSpc>
              </a:pPr>
              <a:r>
                <a:rPr lang="en-US" sz="1400" b="1" spc="11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Limites et risques du module IoT</a:t>
              </a:r>
            </a:p>
            <a:p>
              <a:pPr algn="l">
                <a:lnSpc>
                  <a:spcPts val="1680"/>
                </a:lnSpc>
              </a:pPr>
              <a:endParaRPr lang="en-US" sz="1400" b="1" spc="11">
                <a:solidFill>
                  <a:srgbClr val="FFFFFF"/>
                </a:solidFill>
                <a:latin typeface="TT Phobos Bold"/>
                <a:ea typeface="TT Phobos Bold"/>
                <a:cs typeface="TT Phobos Bold"/>
                <a:sym typeface="TT Phobos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0040" y="4828032"/>
            <a:ext cx="1828800" cy="274320"/>
            <a:chOff x="0" y="0"/>
            <a:chExt cx="487680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76800" cy="731520"/>
            </a:xfrm>
            <a:custGeom>
              <a:avLst/>
              <a:gdLst/>
              <a:ahLst/>
              <a:cxnLst/>
              <a:rect l="l" t="t" r="r" b="b"/>
              <a:pathLst>
                <a:path w="4876800" h="73152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900" b="-7990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876800" cy="731520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080"/>
                </a:lnSpc>
              </a:pPr>
              <a:r>
                <a:rPr lang="en-US" sz="900" i="1" spc="7">
                  <a:solidFill>
                    <a:srgbClr val="5A5A66"/>
                  </a:solidFill>
                  <a:latin typeface="TT Phobos Italics"/>
                  <a:ea typeface="TT Phobos Italics"/>
                  <a:cs typeface="TT Phobos Italics"/>
                  <a:sym typeface="TT Phobos Italics"/>
                </a:rPr>
                <a:t>FutureKawa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200400" y="4828032"/>
            <a:ext cx="2743200" cy="274320"/>
            <a:chOff x="0" y="0"/>
            <a:chExt cx="731520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15200" cy="731520"/>
            </a:xfrm>
            <a:custGeom>
              <a:avLst/>
              <a:gdLst/>
              <a:ahLst/>
              <a:cxnLst/>
              <a:rect l="l" t="t" r="r" b="b"/>
              <a:pathLst>
                <a:path w="7315200" h="73152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020"/>
                </a:lnSpc>
              </a:pPr>
              <a:r>
                <a:rPr lang="en-US" sz="850">
                  <a:solidFill>
                    <a:srgbClr val="5A5A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Conception de la solution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03720" y="4882896"/>
            <a:ext cx="1234440" cy="146304"/>
            <a:chOff x="0" y="0"/>
            <a:chExt cx="3291840" cy="3901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291840" cy="390144"/>
            </a:xfrm>
            <a:custGeom>
              <a:avLst/>
              <a:gdLst/>
              <a:ahLst/>
              <a:cxnLst/>
              <a:rect l="l" t="t" r="r" b="b"/>
              <a:pathLst>
                <a:path w="3291840" h="390144">
                  <a:moveTo>
                    <a:pt x="0" y="0"/>
                  </a:moveTo>
                  <a:lnTo>
                    <a:pt x="3291840" y="0"/>
                  </a:lnTo>
                  <a:lnTo>
                    <a:pt x="3291840" y="39014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D0C6E8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29600" y="4773168"/>
            <a:ext cx="914400" cy="365760"/>
            <a:chOff x="0" y="0"/>
            <a:chExt cx="2438400" cy="9753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8400" cy="975360"/>
            </a:xfrm>
            <a:custGeom>
              <a:avLst/>
              <a:gdLst/>
              <a:ahLst/>
              <a:cxnLst/>
              <a:rect l="l" t="t" r="r" b="b"/>
              <a:pathLst>
                <a:path w="2438400" h="975360">
                  <a:moveTo>
                    <a:pt x="0" y="0"/>
                  </a:moveTo>
                  <a:lnTo>
                    <a:pt x="1950720" y="0"/>
                  </a:lnTo>
                  <a:lnTo>
                    <a:pt x="2438400" y="487680"/>
                  </a:lnTo>
                  <a:lnTo>
                    <a:pt x="1950720" y="975360"/>
                  </a:lnTo>
                  <a:lnTo>
                    <a:pt x="0" y="975360"/>
                  </a:lnTo>
                  <a:lnTo>
                    <a:pt x="487680" y="487680"/>
                  </a:ln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229600" y="4755309"/>
            <a:ext cx="713232" cy="383619"/>
            <a:chOff x="0" y="-47625"/>
            <a:chExt cx="1901952" cy="102298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01952" cy="975360"/>
            </a:xfrm>
            <a:custGeom>
              <a:avLst/>
              <a:gdLst/>
              <a:ahLst/>
              <a:cxnLst/>
              <a:rect l="l" t="t" r="r" b="b"/>
              <a:pathLst>
                <a:path w="1901952" h="975360">
                  <a:moveTo>
                    <a:pt x="0" y="0"/>
                  </a:moveTo>
                  <a:lnTo>
                    <a:pt x="1901952" y="0"/>
                  </a:lnTo>
                  <a:lnTo>
                    <a:pt x="190195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96" r="-1579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901952" cy="1022985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20"/>
                </a:lnSpc>
              </a:pPr>
              <a:r>
                <a:rPr lang="en-US" sz="1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76250" y="4319588"/>
            <a:ext cx="8191500" cy="1120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910"/>
              </a:lnSpc>
              <a:spcBef>
                <a:spcPct val="0"/>
              </a:spcBef>
            </a:pPr>
            <a:r>
              <a:rPr lang="en-US" sz="65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Ces limites sont assumées : le livrable est un prototype avancé destiné à démontrer la faisabilité, pas une solution de production.</a:t>
            </a:r>
          </a:p>
        </p:txBody>
      </p:sp>
      <p:sp>
        <p:nvSpPr>
          <p:cNvPr id="29" name="AutoShape 29"/>
          <p:cNvSpPr/>
          <p:nvPr/>
        </p:nvSpPr>
        <p:spPr>
          <a:xfrm>
            <a:off x="381000" y="1190625"/>
            <a:ext cx="8382000" cy="0"/>
          </a:xfrm>
          <a:prstGeom prst="line">
            <a:avLst/>
          </a:prstGeom>
          <a:ln w="9525" cap="flat">
            <a:solidFill>
              <a:srgbClr val="E0DC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0" name="Group 30"/>
          <p:cNvGrpSpPr/>
          <p:nvPr/>
        </p:nvGrpSpPr>
        <p:grpSpPr>
          <a:xfrm>
            <a:off x="381000" y="4286250"/>
            <a:ext cx="8382000" cy="238125"/>
            <a:chOff x="0" y="0"/>
            <a:chExt cx="22352000" cy="635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352000" cy="635000"/>
            </a:xfrm>
            <a:custGeom>
              <a:avLst/>
              <a:gdLst/>
              <a:ahLst/>
              <a:cxnLst/>
              <a:rect l="l" t="t" r="r" b="b"/>
              <a:pathLst>
                <a:path w="22352000" h="635000">
                  <a:moveTo>
                    <a:pt x="63500" y="0"/>
                  </a:moveTo>
                  <a:lnTo>
                    <a:pt x="22288500" y="0"/>
                  </a:lnTo>
                  <a:cubicBezTo>
                    <a:pt x="22323571" y="0"/>
                    <a:pt x="22352000" y="28430"/>
                    <a:pt x="22352000" y="63500"/>
                  </a:cubicBezTo>
                  <a:lnTo>
                    <a:pt x="22352000" y="571500"/>
                  </a:lnTo>
                  <a:cubicBezTo>
                    <a:pt x="22352000" y="606570"/>
                    <a:pt x="22323571" y="635000"/>
                    <a:pt x="22288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4F2F8"/>
            </a:solidFill>
            <a:ln w="9525" cap="sq">
              <a:solidFill>
                <a:srgbClr val="E0DCE8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2352000" cy="6731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450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4800600" y="3509963"/>
            <a:ext cx="3886200" cy="143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125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Second capteur par entrepôt à prévoir.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00600" y="3371850"/>
            <a:ext cx="3886200" cy="13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02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3A2B62"/>
                </a:solidFill>
                <a:latin typeface="Inter Bold"/>
                <a:ea typeface="Inter Bold"/>
                <a:cs typeface="Inter Bold"/>
                <a:sym typeface="Inter Bold"/>
              </a:rPr>
              <a:t>Redondance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4724400" y="3367087"/>
            <a:ext cx="19050" cy="371476"/>
            <a:chOff x="0" y="-38100"/>
            <a:chExt cx="50800" cy="990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0800" cy="952500"/>
            </a:xfrm>
            <a:custGeom>
              <a:avLst/>
              <a:gdLst/>
              <a:ahLst/>
              <a:cxnLst/>
              <a:rect l="l" t="t" r="r" b="b"/>
              <a:pathLst>
                <a:path w="50800" h="952500">
                  <a:moveTo>
                    <a:pt x="5080" y="0"/>
                  </a:moveTo>
                  <a:lnTo>
                    <a:pt x="45720" y="0"/>
                  </a:lnTo>
                  <a:cubicBezTo>
                    <a:pt x="47067" y="0"/>
                    <a:pt x="48359" y="637"/>
                    <a:pt x="49312" y="1771"/>
                  </a:cubicBezTo>
                  <a:cubicBezTo>
                    <a:pt x="50265" y="2905"/>
                    <a:pt x="50800" y="4444"/>
                    <a:pt x="50800" y="6048"/>
                  </a:cubicBezTo>
                  <a:lnTo>
                    <a:pt x="50800" y="946452"/>
                  </a:lnTo>
                  <a:cubicBezTo>
                    <a:pt x="50800" y="948056"/>
                    <a:pt x="50265" y="949595"/>
                    <a:pt x="49312" y="950729"/>
                  </a:cubicBezTo>
                  <a:cubicBezTo>
                    <a:pt x="48359" y="951863"/>
                    <a:pt x="47067" y="952500"/>
                    <a:pt x="45720" y="952500"/>
                  </a:cubicBezTo>
                  <a:lnTo>
                    <a:pt x="5080" y="952500"/>
                  </a:lnTo>
                  <a:cubicBezTo>
                    <a:pt x="3733" y="952500"/>
                    <a:pt x="2441" y="951863"/>
                    <a:pt x="1488" y="950729"/>
                  </a:cubicBezTo>
                  <a:cubicBezTo>
                    <a:pt x="535" y="949595"/>
                    <a:pt x="0" y="948056"/>
                    <a:pt x="0" y="946452"/>
                  </a:cubicBezTo>
                  <a:lnTo>
                    <a:pt x="0" y="6048"/>
                  </a:lnTo>
                  <a:cubicBezTo>
                    <a:pt x="0" y="2708"/>
                    <a:pt x="2274" y="0"/>
                    <a:pt x="5080" y="0"/>
                  </a:cubicBez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50800" cy="9906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1000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800600" y="2890838"/>
            <a:ext cx="3886200" cy="143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125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TLS à ajouter en production.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800600" y="2752725"/>
            <a:ext cx="3886200" cy="13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02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3A2B62"/>
                </a:solidFill>
                <a:latin typeface="Inter Bold"/>
                <a:ea typeface="Inter Bold"/>
                <a:cs typeface="Inter Bold"/>
                <a:sym typeface="Inter Bold"/>
              </a:rPr>
              <a:t>Chiffrement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724400" y="2747962"/>
            <a:ext cx="19050" cy="371476"/>
            <a:chOff x="0" y="-38100"/>
            <a:chExt cx="50800" cy="9906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0800" cy="952500"/>
            </a:xfrm>
            <a:custGeom>
              <a:avLst/>
              <a:gdLst/>
              <a:ahLst/>
              <a:cxnLst/>
              <a:rect l="l" t="t" r="r" b="b"/>
              <a:pathLst>
                <a:path w="50800" h="952500">
                  <a:moveTo>
                    <a:pt x="5080" y="0"/>
                  </a:moveTo>
                  <a:lnTo>
                    <a:pt x="45720" y="0"/>
                  </a:lnTo>
                  <a:cubicBezTo>
                    <a:pt x="47067" y="0"/>
                    <a:pt x="48359" y="637"/>
                    <a:pt x="49312" y="1771"/>
                  </a:cubicBezTo>
                  <a:cubicBezTo>
                    <a:pt x="50265" y="2905"/>
                    <a:pt x="50800" y="4444"/>
                    <a:pt x="50800" y="6048"/>
                  </a:cubicBezTo>
                  <a:lnTo>
                    <a:pt x="50800" y="946452"/>
                  </a:lnTo>
                  <a:cubicBezTo>
                    <a:pt x="50800" y="948056"/>
                    <a:pt x="50265" y="949595"/>
                    <a:pt x="49312" y="950729"/>
                  </a:cubicBezTo>
                  <a:cubicBezTo>
                    <a:pt x="48359" y="951863"/>
                    <a:pt x="47067" y="952500"/>
                    <a:pt x="45720" y="952500"/>
                  </a:cubicBezTo>
                  <a:lnTo>
                    <a:pt x="5080" y="952500"/>
                  </a:lnTo>
                  <a:cubicBezTo>
                    <a:pt x="3733" y="952500"/>
                    <a:pt x="2441" y="951863"/>
                    <a:pt x="1488" y="950729"/>
                  </a:cubicBezTo>
                  <a:cubicBezTo>
                    <a:pt x="535" y="949595"/>
                    <a:pt x="0" y="948056"/>
                    <a:pt x="0" y="946452"/>
                  </a:cubicBezTo>
                  <a:lnTo>
                    <a:pt x="0" y="6048"/>
                  </a:lnTo>
                  <a:cubicBezTo>
                    <a:pt x="0" y="2708"/>
                    <a:pt x="2274" y="0"/>
                    <a:pt x="5080" y="0"/>
                  </a:cubicBez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50800" cy="9906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1000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4800600" y="2271713"/>
            <a:ext cx="3886200" cy="143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125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Entrepôts mal couverts, prévoir un repli LoRa.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800600" y="2133600"/>
            <a:ext cx="3886200" cy="13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02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3A2B62"/>
                </a:solidFill>
                <a:latin typeface="Inter Bold"/>
                <a:ea typeface="Inter Bold"/>
                <a:cs typeface="Inter Bold"/>
                <a:sym typeface="Inter Bold"/>
              </a:rPr>
              <a:t>Dépendance Wi-Fi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4724400" y="2128837"/>
            <a:ext cx="19050" cy="371476"/>
            <a:chOff x="0" y="-38100"/>
            <a:chExt cx="50800" cy="9906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0800" cy="952500"/>
            </a:xfrm>
            <a:custGeom>
              <a:avLst/>
              <a:gdLst/>
              <a:ahLst/>
              <a:cxnLst/>
              <a:rect l="l" t="t" r="r" b="b"/>
              <a:pathLst>
                <a:path w="50800" h="952500">
                  <a:moveTo>
                    <a:pt x="5080" y="0"/>
                  </a:moveTo>
                  <a:lnTo>
                    <a:pt x="45720" y="0"/>
                  </a:lnTo>
                  <a:cubicBezTo>
                    <a:pt x="47067" y="0"/>
                    <a:pt x="48359" y="637"/>
                    <a:pt x="49312" y="1771"/>
                  </a:cubicBezTo>
                  <a:cubicBezTo>
                    <a:pt x="50265" y="2905"/>
                    <a:pt x="50800" y="4444"/>
                    <a:pt x="50800" y="6048"/>
                  </a:cubicBezTo>
                  <a:lnTo>
                    <a:pt x="50800" y="946452"/>
                  </a:lnTo>
                  <a:cubicBezTo>
                    <a:pt x="50800" y="948056"/>
                    <a:pt x="50265" y="949595"/>
                    <a:pt x="49312" y="950729"/>
                  </a:cubicBezTo>
                  <a:cubicBezTo>
                    <a:pt x="48359" y="951863"/>
                    <a:pt x="47067" y="952500"/>
                    <a:pt x="45720" y="952500"/>
                  </a:cubicBezTo>
                  <a:lnTo>
                    <a:pt x="5080" y="952500"/>
                  </a:lnTo>
                  <a:cubicBezTo>
                    <a:pt x="3733" y="952500"/>
                    <a:pt x="2441" y="951863"/>
                    <a:pt x="1488" y="950729"/>
                  </a:cubicBezTo>
                  <a:cubicBezTo>
                    <a:pt x="535" y="949595"/>
                    <a:pt x="0" y="948056"/>
                    <a:pt x="0" y="946452"/>
                  </a:cubicBezTo>
                  <a:lnTo>
                    <a:pt x="0" y="6048"/>
                  </a:lnTo>
                  <a:cubicBezTo>
                    <a:pt x="0" y="2708"/>
                    <a:pt x="2274" y="0"/>
                    <a:pt x="5080" y="0"/>
                  </a:cubicBez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50800" cy="9906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1000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4800600" y="1652588"/>
            <a:ext cx="3886200" cy="143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125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Broker en accès anonyme pour la démonstration.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800600" y="1514475"/>
            <a:ext cx="3886200" cy="13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02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3A2B62"/>
                </a:solidFill>
                <a:latin typeface="Inter Bold"/>
                <a:ea typeface="Inter Bold"/>
                <a:cs typeface="Inter Bold"/>
                <a:sym typeface="Inter Bold"/>
              </a:rPr>
              <a:t>Sécurité MQTT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4724400" y="1509712"/>
            <a:ext cx="19050" cy="371476"/>
            <a:chOff x="0" y="-38100"/>
            <a:chExt cx="50800" cy="9906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0800" cy="952500"/>
            </a:xfrm>
            <a:custGeom>
              <a:avLst/>
              <a:gdLst/>
              <a:ahLst/>
              <a:cxnLst/>
              <a:rect l="l" t="t" r="r" b="b"/>
              <a:pathLst>
                <a:path w="50800" h="952500">
                  <a:moveTo>
                    <a:pt x="5080" y="0"/>
                  </a:moveTo>
                  <a:lnTo>
                    <a:pt x="45720" y="0"/>
                  </a:lnTo>
                  <a:cubicBezTo>
                    <a:pt x="47067" y="0"/>
                    <a:pt x="48359" y="637"/>
                    <a:pt x="49312" y="1771"/>
                  </a:cubicBezTo>
                  <a:cubicBezTo>
                    <a:pt x="50265" y="2905"/>
                    <a:pt x="50800" y="4444"/>
                    <a:pt x="50800" y="6048"/>
                  </a:cubicBezTo>
                  <a:lnTo>
                    <a:pt x="50800" y="946452"/>
                  </a:lnTo>
                  <a:cubicBezTo>
                    <a:pt x="50800" y="948056"/>
                    <a:pt x="50265" y="949595"/>
                    <a:pt x="49312" y="950729"/>
                  </a:cubicBezTo>
                  <a:cubicBezTo>
                    <a:pt x="48359" y="951863"/>
                    <a:pt x="47067" y="952500"/>
                    <a:pt x="45720" y="952500"/>
                  </a:cubicBezTo>
                  <a:lnTo>
                    <a:pt x="5080" y="952500"/>
                  </a:lnTo>
                  <a:cubicBezTo>
                    <a:pt x="3733" y="952500"/>
                    <a:pt x="2441" y="951863"/>
                    <a:pt x="1488" y="950729"/>
                  </a:cubicBezTo>
                  <a:cubicBezTo>
                    <a:pt x="535" y="949595"/>
                    <a:pt x="0" y="948056"/>
                    <a:pt x="0" y="946452"/>
                  </a:cubicBezTo>
                  <a:lnTo>
                    <a:pt x="0" y="6048"/>
                  </a:lnTo>
                  <a:cubicBezTo>
                    <a:pt x="0" y="2708"/>
                    <a:pt x="2274" y="0"/>
                    <a:pt x="5080" y="0"/>
                  </a:cubicBezTo>
                  <a:close/>
                </a:path>
              </a:pathLst>
            </a:custGeom>
            <a:solidFill>
              <a:srgbClr val="22A8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50800" cy="9906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1000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514350" y="3319463"/>
            <a:ext cx="3886200" cy="143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125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Coupure réseau prolongée = mesures perdues, non mémorisées.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14350" y="3181350"/>
            <a:ext cx="3886200" cy="13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02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3A2B62"/>
                </a:solidFill>
                <a:latin typeface="Inter Bold"/>
                <a:ea typeface="Inter Bold"/>
                <a:cs typeface="Inter Bold"/>
                <a:sym typeface="Inter Bold"/>
              </a:rPr>
              <a:t>Pas de tampon local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438150" y="3176587"/>
            <a:ext cx="19050" cy="371476"/>
            <a:chOff x="0" y="-38100"/>
            <a:chExt cx="50800" cy="9906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0800" cy="952500"/>
            </a:xfrm>
            <a:custGeom>
              <a:avLst/>
              <a:gdLst/>
              <a:ahLst/>
              <a:cxnLst/>
              <a:rect l="l" t="t" r="r" b="b"/>
              <a:pathLst>
                <a:path w="50800" h="952500">
                  <a:moveTo>
                    <a:pt x="5080" y="0"/>
                  </a:moveTo>
                  <a:lnTo>
                    <a:pt x="45720" y="0"/>
                  </a:lnTo>
                  <a:cubicBezTo>
                    <a:pt x="47067" y="0"/>
                    <a:pt x="48359" y="446"/>
                    <a:pt x="49312" y="1240"/>
                  </a:cubicBezTo>
                  <a:cubicBezTo>
                    <a:pt x="50265" y="2034"/>
                    <a:pt x="50800" y="3111"/>
                    <a:pt x="50800" y="4233"/>
                  </a:cubicBezTo>
                  <a:lnTo>
                    <a:pt x="50800" y="948267"/>
                  </a:lnTo>
                  <a:cubicBezTo>
                    <a:pt x="50800" y="949389"/>
                    <a:pt x="50265" y="950466"/>
                    <a:pt x="49312" y="951260"/>
                  </a:cubicBezTo>
                  <a:cubicBezTo>
                    <a:pt x="48359" y="952054"/>
                    <a:pt x="47067" y="952500"/>
                    <a:pt x="45720" y="952500"/>
                  </a:cubicBezTo>
                  <a:lnTo>
                    <a:pt x="5080" y="952500"/>
                  </a:lnTo>
                  <a:cubicBezTo>
                    <a:pt x="3733" y="952500"/>
                    <a:pt x="2441" y="952054"/>
                    <a:pt x="1488" y="951260"/>
                  </a:cubicBezTo>
                  <a:cubicBezTo>
                    <a:pt x="535" y="950466"/>
                    <a:pt x="0" y="949389"/>
                    <a:pt x="0" y="948267"/>
                  </a:cubicBezTo>
                  <a:lnTo>
                    <a:pt x="0" y="4233"/>
                  </a:lnTo>
                  <a:cubicBezTo>
                    <a:pt x="0" y="1895"/>
                    <a:pt x="2274" y="0"/>
                    <a:pt x="5080" y="0"/>
                  </a:cubicBezTo>
                  <a:close/>
                </a:path>
              </a:pathLst>
            </a:custGeom>
            <a:solidFill>
              <a:srgbClr val="C97A2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50800" cy="9906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1000"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514350" y="2486025"/>
            <a:ext cx="3886200" cy="143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125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Point de défaillance unique par entrepôt, sans redondance.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14350" y="2347913"/>
            <a:ext cx="3886200" cy="13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02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3A2B62"/>
                </a:solidFill>
                <a:latin typeface="Inter Bold"/>
                <a:ea typeface="Inter Bold"/>
                <a:cs typeface="Inter Bold"/>
                <a:sym typeface="Inter Bold"/>
              </a:rPr>
              <a:t>Capteur unique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438150" y="2343150"/>
            <a:ext cx="19050" cy="371476"/>
            <a:chOff x="0" y="-38100"/>
            <a:chExt cx="50800" cy="9906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0800" cy="952500"/>
            </a:xfrm>
            <a:custGeom>
              <a:avLst/>
              <a:gdLst/>
              <a:ahLst/>
              <a:cxnLst/>
              <a:rect l="l" t="t" r="r" b="b"/>
              <a:pathLst>
                <a:path w="50800" h="952500">
                  <a:moveTo>
                    <a:pt x="5080" y="0"/>
                  </a:moveTo>
                  <a:lnTo>
                    <a:pt x="45720" y="0"/>
                  </a:lnTo>
                  <a:cubicBezTo>
                    <a:pt x="47067" y="0"/>
                    <a:pt x="48359" y="446"/>
                    <a:pt x="49312" y="1240"/>
                  </a:cubicBezTo>
                  <a:cubicBezTo>
                    <a:pt x="50265" y="2034"/>
                    <a:pt x="50800" y="3111"/>
                    <a:pt x="50800" y="4233"/>
                  </a:cubicBezTo>
                  <a:lnTo>
                    <a:pt x="50800" y="948267"/>
                  </a:lnTo>
                  <a:cubicBezTo>
                    <a:pt x="50800" y="949389"/>
                    <a:pt x="50265" y="950466"/>
                    <a:pt x="49312" y="951260"/>
                  </a:cubicBezTo>
                  <a:cubicBezTo>
                    <a:pt x="48359" y="952054"/>
                    <a:pt x="47067" y="952500"/>
                    <a:pt x="45720" y="952500"/>
                  </a:cubicBezTo>
                  <a:lnTo>
                    <a:pt x="5080" y="952500"/>
                  </a:lnTo>
                  <a:cubicBezTo>
                    <a:pt x="3733" y="952500"/>
                    <a:pt x="2441" y="952054"/>
                    <a:pt x="1488" y="951260"/>
                  </a:cubicBezTo>
                  <a:cubicBezTo>
                    <a:pt x="535" y="950466"/>
                    <a:pt x="0" y="949389"/>
                    <a:pt x="0" y="948267"/>
                  </a:cubicBezTo>
                  <a:lnTo>
                    <a:pt x="0" y="4233"/>
                  </a:lnTo>
                  <a:cubicBezTo>
                    <a:pt x="0" y="1895"/>
                    <a:pt x="2274" y="0"/>
                    <a:pt x="5080" y="0"/>
                  </a:cubicBezTo>
                  <a:close/>
                </a:path>
              </a:pathLst>
            </a:custGeom>
            <a:solidFill>
              <a:srgbClr val="C97A2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50800" cy="9906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1000"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514350" y="1652588"/>
            <a:ext cx="3886200" cy="282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125"/>
              </a:lnSpc>
              <a:spcBef>
                <a:spcPct val="0"/>
              </a:spcBef>
            </a:pPr>
            <a:r>
              <a:rPr lang="en-US" sz="1100" u="none" strike="noStrike" err="1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Précision</a:t>
            </a:r>
            <a:r>
              <a:rPr lang="en-US" sz="110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 et cadence </a:t>
            </a:r>
            <a:r>
              <a:rPr lang="en-US" sz="1100" u="none" strike="noStrike" err="1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limitées</a:t>
            </a:r>
            <a:r>
              <a:rPr lang="en-US" sz="110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 (~0,5 Hz), </a:t>
            </a:r>
            <a:r>
              <a:rPr lang="en-US" sz="1100" u="none" strike="noStrike" err="1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suffisant</a:t>
            </a:r>
            <a:r>
              <a:rPr lang="en-US" sz="110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 pour des </a:t>
            </a:r>
            <a:r>
              <a:rPr lang="en-US" sz="1100" u="none" strike="noStrike" err="1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dérives</a:t>
            </a:r>
            <a:r>
              <a:rPr lang="en-US" sz="110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u="none" strike="noStrike" err="1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lentes</a:t>
            </a:r>
            <a:r>
              <a:rPr lang="en-US" sz="110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14350" y="1514475"/>
            <a:ext cx="3886200" cy="13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02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3A2B62"/>
                </a:solidFill>
                <a:latin typeface="Inter Bold"/>
                <a:ea typeface="Inter Bold"/>
                <a:cs typeface="Inter Bold"/>
                <a:sym typeface="Inter Bold"/>
              </a:rPr>
              <a:t>DHT22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438150" y="1509712"/>
            <a:ext cx="19050" cy="371476"/>
            <a:chOff x="0" y="-38100"/>
            <a:chExt cx="50800" cy="9906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0800" cy="952500"/>
            </a:xfrm>
            <a:custGeom>
              <a:avLst/>
              <a:gdLst/>
              <a:ahLst/>
              <a:cxnLst/>
              <a:rect l="l" t="t" r="r" b="b"/>
              <a:pathLst>
                <a:path w="50800" h="952500">
                  <a:moveTo>
                    <a:pt x="5080" y="0"/>
                  </a:moveTo>
                  <a:lnTo>
                    <a:pt x="45720" y="0"/>
                  </a:lnTo>
                  <a:cubicBezTo>
                    <a:pt x="47067" y="0"/>
                    <a:pt x="48359" y="446"/>
                    <a:pt x="49312" y="1240"/>
                  </a:cubicBezTo>
                  <a:cubicBezTo>
                    <a:pt x="50265" y="2034"/>
                    <a:pt x="50800" y="3111"/>
                    <a:pt x="50800" y="4233"/>
                  </a:cubicBezTo>
                  <a:lnTo>
                    <a:pt x="50800" y="948267"/>
                  </a:lnTo>
                  <a:cubicBezTo>
                    <a:pt x="50800" y="949389"/>
                    <a:pt x="50265" y="950466"/>
                    <a:pt x="49312" y="951260"/>
                  </a:cubicBezTo>
                  <a:cubicBezTo>
                    <a:pt x="48359" y="952054"/>
                    <a:pt x="47067" y="952500"/>
                    <a:pt x="45720" y="952500"/>
                  </a:cubicBezTo>
                  <a:lnTo>
                    <a:pt x="5080" y="952500"/>
                  </a:lnTo>
                  <a:cubicBezTo>
                    <a:pt x="3733" y="952500"/>
                    <a:pt x="2441" y="952054"/>
                    <a:pt x="1488" y="951260"/>
                  </a:cubicBezTo>
                  <a:cubicBezTo>
                    <a:pt x="535" y="950466"/>
                    <a:pt x="0" y="949389"/>
                    <a:pt x="0" y="948267"/>
                  </a:cubicBezTo>
                  <a:lnTo>
                    <a:pt x="0" y="4233"/>
                  </a:lnTo>
                  <a:cubicBezTo>
                    <a:pt x="0" y="1895"/>
                    <a:pt x="2274" y="0"/>
                    <a:pt x="5080" y="0"/>
                  </a:cubicBezTo>
                  <a:close/>
                </a:path>
              </a:pathLst>
            </a:custGeom>
            <a:solidFill>
              <a:srgbClr val="C97A2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50800" cy="9906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840"/>
                </a:lnSpc>
              </a:pPr>
              <a:endParaRPr sz="1200"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4667250" y="1257300"/>
            <a:ext cx="4095750" cy="167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20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22A890"/>
                </a:solidFill>
                <a:latin typeface="Telegraf"/>
                <a:ea typeface="Telegraf"/>
                <a:cs typeface="Telegraf"/>
                <a:sym typeface="Telegraf"/>
              </a:rPr>
              <a:t>✓  Risques &amp; pistes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81000" y="1257300"/>
            <a:ext cx="4095750" cy="167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20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C97A2E"/>
                </a:solidFill>
                <a:latin typeface="Telegraf"/>
                <a:ea typeface="Telegraf"/>
                <a:cs typeface="Telegraf"/>
                <a:sym typeface="Telegraf"/>
              </a:rPr>
              <a:t>⚠  Limites techniques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81000" y="976313"/>
            <a:ext cx="8382000" cy="156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190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5A5A6E"/>
                </a:solidFill>
                <a:latin typeface="Inter"/>
                <a:ea typeface="Inter"/>
                <a:cs typeface="Inter"/>
                <a:sym typeface="Inter"/>
              </a:rPr>
              <a:t>Limites assumées dans ce prototype, et pistes identifiées pour la production.</a:t>
            </a:r>
          </a:p>
        </p:txBody>
      </p:sp>
    </p:spTree>
    <p:extLst>
      <p:ext uri="{BB962C8B-B14F-4D97-AF65-F5344CB8AC3E}">
        <p14:creationId xmlns:p14="http://schemas.microsoft.com/office/powerpoint/2010/main" val="1678295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0" y="1600200"/>
            <a:ext cx="2194560" cy="868680"/>
          </a:xfrm>
          <a:prstGeom prst="rect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1600200"/>
            <a:ext cx="914400" cy="86868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2194560" cy="868680"/>
          </a:xfrm>
          <a:prstGeom prst="rect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1828800" y="2606040"/>
            <a:ext cx="914400" cy="86868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828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960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960120" cy="96012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952" y="1493672"/>
            <a:ext cx="441655" cy="4416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26671" y="21717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>
                <a:solidFill>
                  <a:srgbClr val="22A8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PARTIE III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4572000" y="27432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err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</a:t>
            </a:r>
            <a:r>
              <a:rPr lang="en-US" sz="3600" b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et </a:t>
            </a:r>
            <a:r>
              <a:rPr lang="en-US" sz="3600" b="1" err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industrialisation</a:t>
            </a:r>
            <a:endParaRPr lang="en-US" sz="3600"/>
          </a:p>
        </p:txBody>
      </p:sp>
      <p:sp>
        <p:nvSpPr>
          <p:cNvPr id="12" name="Text 9"/>
          <p:cNvSpPr/>
          <p:nvPr/>
        </p:nvSpPr>
        <p:spPr>
          <a:xfrm>
            <a:off x="4526671" y="39090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Plans de tests,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continus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8229600" y="4617720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1"/>
          <p:cNvSpPr/>
          <p:nvPr/>
        </p:nvSpPr>
        <p:spPr>
          <a:xfrm>
            <a:off x="8229600" y="461772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ea typeface="Calibri"/>
                <a:cs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et industrialisation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Stratégie de test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automatisés ciblant la logique métier critique, isolés et rejouables.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 qui est ciblé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d'alertes : seuils, hystérésis, péremption.</a:t>
            </a:r>
            <a:endParaRPr lang="en-US" sz="120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 par pays.</a:t>
            </a:r>
            <a:endParaRPr lang="en-US" sz="120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multi-pays.</a:t>
            </a:r>
            <a:endParaRPr lang="en-US" sz="120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d'affichage du front-end.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892040" y="1600200"/>
            <a:ext cx="1783080" cy="64008"/>
          </a:xfrm>
          <a:prstGeom prst="rect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4892040" y="1664208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4892040" y="17099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3400"/>
          </a:p>
        </p:txBody>
      </p:sp>
      <p:sp>
        <p:nvSpPr>
          <p:cNvPr id="15" name="Text 13"/>
          <p:cNvSpPr/>
          <p:nvPr/>
        </p:nvSpPr>
        <p:spPr>
          <a:xfrm>
            <a:off x="4892040" y="2313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back-end pays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6839712" y="1600200"/>
            <a:ext cx="1783080" cy="64008"/>
          </a:xfrm>
          <a:prstGeom prst="rect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7" name="Shape 15"/>
          <p:cNvSpPr/>
          <p:nvPr/>
        </p:nvSpPr>
        <p:spPr>
          <a:xfrm>
            <a:off x="6839712" y="1664208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6"/>
          <p:cNvSpPr/>
          <p:nvPr/>
        </p:nvSpPr>
        <p:spPr>
          <a:xfrm>
            <a:off x="6839712" y="17099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3400"/>
          </a:p>
        </p:txBody>
      </p:sp>
      <p:sp>
        <p:nvSpPr>
          <p:cNvPr id="19" name="Text 17"/>
          <p:cNvSpPr/>
          <p:nvPr/>
        </p:nvSpPr>
        <p:spPr>
          <a:xfrm>
            <a:off x="6839712" y="2313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back-end central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892040" y="2816352"/>
            <a:ext cx="1783080" cy="64008"/>
          </a:xfrm>
          <a:prstGeom prst="rect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1" name="Shape 19"/>
          <p:cNvSpPr/>
          <p:nvPr/>
        </p:nvSpPr>
        <p:spPr>
          <a:xfrm>
            <a:off x="4892040" y="2880360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489204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892040" y="35295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front-end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6839712" y="2816352"/>
            <a:ext cx="1783080" cy="64008"/>
          </a:xfrm>
          <a:prstGeom prst="rect">
            <a:avLst/>
          </a:prstGeom>
          <a:solidFill>
            <a:srgbClr val="E15A5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5" name="Shape 23"/>
          <p:cNvSpPr/>
          <p:nvPr/>
        </p:nvSpPr>
        <p:spPr>
          <a:xfrm>
            <a:off x="6839712" y="2880360"/>
            <a:ext cx="1783080" cy="105156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6" name="Text 24"/>
          <p:cNvSpPr/>
          <p:nvPr/>
        </p:nvSpPr>
        <p:spPr>
          <a:xfrm>
            <a:off x="6839712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</a:t>
            </a:r>
            <a:endParaRPr lang="en-US" sz="3400"/>
          </a:p>
        </p:txBody>
      </p:sp>
      <p:sp>
        <p:nvSpPr>
          <p:cNvPr id="27" name="Text 25"/>
          <p:cNvSpPr/>
          <p:nvPr/>
        </p:nvSpPr>
        <p:spPr>
          <a:xfrm>
            <a:off x="6839712" y="35295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 total, 100 % verts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30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31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253177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et industrialisation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 de test — moteur d'alertes (back-end pays)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tests couvrent seuils, hystérésis et péremption.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1B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de données construits dans les tests eux-mêmes : résultats prévisibles et vérifiables.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14" name="Shape 11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5" name="Shape 12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3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  <a:endParaRPr lang="en-US" sz="1100"/>
          </a:p>
        </p:txBody>
      </p:sp>
      <p:sp>
        <p:nvSpPr>
          <p:cNvPr id="19" name="Flèche : bas 18">
            <a:extLst>
              <a:ext uri="{FF2B5EF4-FFF2-40B4-BE49-F238E27FC236}">
                <a16:creationId xmlns:a16="http://schemas.microsoft.com/office/drawing/2014/main" id="{621FAFB6-6E2B-16A8-1BB2-8B2FA1F6A039}"/>
              </a:ext>
            </a:extLst>
          </p:cNvPr>
          <p:cNvSpPr/>
          <p:nvPr/>
        </p:nvSpPr>
        <p:spPr>
          <a:xfrm>
            <a:off x="1924594" y="2959826"/>
            <a:ext cx="99060" cy="2286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7236AD0B-5089-72CB-55EA-9007673CC757}"/>
              </a:ext>
            </a:extLst>
          </p:cNvPr>
          <p:cNvGrpSpPr/>
          <p:nvPr/>
        </p:nvGrpSpPr>
        <p:grpSpPr>
          <a:xfrm>
            <a:off x="1008018" y="2198914"/>
            <a:ext cx="2029097" cy="2099854"/>
            <a:chOff x="1008018" y="2198914"/>
            <a:chExt cx="2029097" cy="2099854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96C614BF-510A-CDD0-1266-337F904D70F3}"/>
                </a:ext>
              </a:extLst>
            </p:cNvPr>
            <p:cNvSpPr/>
            <p:nvPr/>
          </p:nvSpPr>
          <p:spPr>
            <a:xfrm>
              <a:off x="1008018" y="2198914"/>
              <a:ext cx="2029097" cy="2099854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0070C0"/>
                </a:solidFill>
                <a:ea typeface="Calibri"/>
                <a:cs typeface="Calibri"/>
              </a:endParaRP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A11809FB-B118-BE0C-6CC3-661E43D0DD24}"/>
                </a:ext>
              </a:extLst>
            </p:cNvPr>
            <p:cNvSpPr txBox="1"/>
            <p:nvPr/>
          </p:nvSpPr>
          <p:spPr>
            <a:xfrm>
              <a:off x="1234440" y="2267494"/>
              <a:ext cx="1468482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fr-FR" b="1" err="1">
                  <a:solidFill>
                    <a:schemeClr val="tx2">
                      <a:lumMod val="49000"/>
                    </a:schemeClr>
                  </a:solidFill>
                  <a:ea typeface="Calibri"/>
                  <a:cs typeface="Calibri"/>
                </a:rPr>
                <a:t>Hyterisis</a:t>
              </a:r>
              <a:endParaRPr lang="fr-FR" b="1">
                <a:solidFill>
                  <a:schemeClr val="tx2">
                    <a:lumMod val="49000"/>
                  </a:schemeClr>
                </a:solidFill>
                <a:ea typeface="Calibri"/>
                <a:cs typeface="Calibri"/>
              </a:endParaRPr>
            </a:p>
            <a:p>
              <a:pPr algn="ctr"/>
              <a:r>
                <a:rPr lang="fr-FR" b="1">
                  <a:solidFill>
                    <a:schemeClr val="tx2">
                      <a:lumMod val="49000"/>
                    </a:schemeClr>
                  </a:solidFill>
                  <a:ea typeface="Calibri"/>
                  <a:cs typeface="Calibri"/>
                </a:rPr>
                <a:t>7 tests</a:t>
              </a:r>
              <a:endParaRPr lang="en-US" b="1">
                <a:solidFill>
                  <a:schemeClr val="tx2">
                    <a:lumMod val="49000"/>
                  </a:schemeClr>
                </a:solidFill>
                <a:ea typeface="Calibri"/>
                <a:cs typeface="Calibri"/>
              </a:endParaRPr>
            </a:p>
            <a:p>
              <a:pPr algn="l"/>
              <a:endParaRPr lang="fr-FR" b="1">
                <a:solidFill>
                  <a:schemeClr val="accent1"/>
                </a:solidFill>
                <a:ea typeface="Calibri"/>
                <a:cs typeface="Calibri"/>
              </a:endParaRP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88AA66C-5982-5403-062C-55A075CE3360}"/>
                </a:ext>
              </a:extLst>
            </p:cNvPr>
            <p:cNvSpPr txBox="1"/>
            <p:nvPr/>
          </p:nvSpPr>
          <p:spPr>
            <a:xfrm>
              <a:off x="1233351" y="3248297"/>
              <a:ext cx="1660072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fr-FR" sz="1200">
                  <a:ea typeface="Calibri"/>
                  <a:cs typeface="Calibri"/>
                </a:rPr>
                <a:t>3 mesures hors plage consécutives</a:t>
              </a:r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31E6DBF4-17CB-71C4-675D-0A276DF5897B}"/>
                </a:ext>
              </a:extLst>
            </p:cNvPr>
            <p:cNvSpPr txBox="1"/>
            <p:nvPr/>
          </p:nvSpPr>
          <p:spPr>
            <a:xfrm>
              <a:off x="1361802" y="3785491"/>
              <a:ext cx="1397724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1200">
                  <a:ea typeface="Calibri"/>
                  <a:cs typeface="Calibri"/>
                </a:rPr>
                <a:t>1 alerte + 1 email</a:t>
              </a:r>
            </a:p>
          </p:txBody>
        </p:sp>
      </p:grpSp>
      <p:sp>
        <p:nvSpPr>
          <p:cNvPr id="24" name="Flèche : droite 23">
            <a:extLst>
              <a:ext uri="{FF2B5EF4-FFF2-40B4-BE49-F238E27FC236}">
                <a16:creationId xmlns:a16="http://schemas.microsoft.com/office/drawing/2014/main" id="{825BFEED-AFE8-AFFA-1C21-A77FEC890451}"/>
              </a:ext>
            </a:extLst>
          </p:cNvPr>
          <p:cNvSpPr/>
          <p:nvPr/>
        </p:nvSpPr>
        <p:spPr>
          <a:xfrm>
            <a:off x="1173480" y="3898174"/>
            <a:ext cx="190500" cy="45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9A576B3C-EA86-6B30-3D36-35314E72D60A}"/>
              </a:ext>
            </a:extLst>
          </p:cNvPr>
          <p:cNvGrpSpPr/>
          <p:nvPr/>
        </p:nvGrpSpPr>
        <p:grpSpPr>
          <a:xfrm>
            <a:off x="3860075" y="2198914"/>
            <a:ext cx="2029097" cy="2099854"/>
            <a:chOff x="1008018" y="2198914"/>
            <a:chExt cx="2029097" cy="2099854"/>
          </a:xfrm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B6D0500C-6D87-F91A-DD80-AD450819F34E}"/>
                </a:ext>
              </a:extLst>
            </p:cNvPr>
            <p:cNvSpPr/>
            <p:nvPr/>
          </p:nvSpPr>
          <p:spPr>
            <a:xfrm>
              <a:off x="1008018" y="2198914"/>
              <a:ext cx="2029097" cy="2099854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0070C0"/>
                </a:solidFill>
                <a:ea typeface="Calibri"/>
                <a:cs typeface="Calibri"/>
              </a:endParaRPr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3AC84C53-71BE-0327-5DFE-CE70FF809093}"/>
                </a:ext>
              </a:extLst>
            </p:cNvPr>
            <p:cNvSpPr txBox="1"/>
            <p:nvPr/>
          </p:nvSpPr>
          <p:spPr>
            <a:xfrm>
              <a:off x="1234440" y="2267494"/>
              <a:ext cx="1468482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fr-FR" b="1">
                  <a:solidFill>
                    <a:schemeClr val="tx2">
                      <a:lumMod val="49000"/>
                    </a:schemeClr>
                  </a:solidFill>
                  <a:ea typeface="Calibri"/>
                  <a:cs typeface="Calibri"/>
                </a:rPr>
                <a:t>Péremption</a:t>
              </a:r>
            </a:p>
            <a:p>
              <a:pPr algn="ctr"/>
              <a:r>
                <a:rPr lang="fr-FR" b="1">
                  <a:solidFill>
                    <a:schemeClr val="tx2">
                      <a:lumMod val="49000"/>
                    </a:schemeClr>
                  </a:solidFill>
                  <a:ea typeface="Calibri"/>
                  <a:cs typeface="Calibri"/>
                </a:rPr>
                <a:t>5 tests</a:t>
              </a:r>
              <a:endParaRPr lang="en-US" b="1">
                <a:solidFill>
                  <a:schemeClr val="tx2">
                    <a:lumMod val="49000"/>
                  </a:schemeClr>
                </a:solidFill>
                <a:ea typeface="Calibri"/>
                <a:cs typeface="Calibri"/>
              </a:endParaRPr>
            </a:p>
            <a:p>
              <a:pPr algn="l"/>
              <a:endParaRPr lang="fr-FR" b="1">
                <a:solidFill>
                  <a:schemeClr val="tx2">
                    <a:lumMod val="49000"/>
                  </a:schemeClr>
                </a:solidFill>
                <a:ea typeface="Calibri"/>
                <a:cs typeface="Calibri"/>
              </a:endParaRP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E9A52133-DE68-6138-20D0-BBCD274CD24A}"/>
                </a:ext>
              </a:extLst>
            </p:cNvPr>
            <p:cNvSpPr txBox="1"/>
            <p:nvPr/>
          </p:nvSpPr>
          <p:spPr>
            <a:xfrm>
              <a:off x="1233351" y="3248297"/>
              <a:ext cx="1660072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fr-FR" sz="1200">
                  <a:ea typeface="Calibri"/>
                  <a:cs typeface="Calibri"/>
                </a:rPr>
                <a:t>Lot stocké &gt; 365 jours</a:t>
              </a:r>
              <a:endParaRPr lang="fr-FR"/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9053C200-9EE6-97EE-37A5-CAFE7936FFA3}"/>
                </a:ext>
              </a:extLst>
            </p:cNvPr>
            <p:cNvSpPr txBox="1"/>
            <p:nvPr/>
          </p:nvSpPr>
          <p:spPr>
            <a:xfrm>
              <a:off x="1361802" y="3785491"/>
              <a:ext cx="1397724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1100">
                  <a:solidFill>
                    <a:srgbClr val="0B0B0B"/>
                  </a:solidFill>
                  <a:ea typeface="+mn-lt"/>
                  <a:cs typeface="+mn-lt"/>
                </a:rPr>
                <a:t>lot PERIME + alerte</a:t>
              </a:r>
              <a:endParaRPr lang="fr-FR"/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FE0EECC4-5336-D73B-E913-39EF714F87E4}"/>
              </a:ext>
            </a:extLst>
          </p:cNvPr>
          <p:cNvGrpSpPr/>
          <p:nvPr/>
        </p:nvGrpSpPr>
        <p:grpSpPr>
          <a:xfrm>
            <a:off x="6439989" y="2198913"/>
            <a:ext cx="2029097" cy="2099854"/>
            <a:chOff x="1008018" y="2198914"/>
            <a:chExt cx="2029097" cy="2099854"/>
          </a:xfrm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181A7030-3715-EE1A-06C9-9ACAC78E536F}"/>
                </a:ext>
              </a:extLst>
            </p:cNvPr>
            <p:cNvSpPr/>
            <p:nvPr/>
          </p:nvSpPr>
          <p:spPr>
            <a:xfrm>
              <a:off x="1008018" y="2198914"/>
              <a:ext cx="2029097" cy="2099854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0070C0"/>
                </a:solidFill>
                <a:ea typeface="Calibri"/>
                <a:cs typeface="Calibri"/>
              </a:endParaRP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5F5C7302-0A64-3A20-65D8-0A07F913CD47}"/>
                </a:ext>
              </a:extLst>
            </p:cNvPr>
            <p:cNvSpPr txBox="1"/>
            <p:nvPr/>
          </p:nvSpPr>
          <p:spPr>
            <a:xfrm>
              <a:off x="1288869" y="2294708"/>
              <a:ext cx="1468482" cy="89255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fr-FR" sz="1600" b="1">
                  <a:solidFill>
                    <a:schemeClr val="tx2">
                      <a:lumMod val="49000"/>
                    </a:schemeClr>
                  </a:solidFill>
                  <a:ea typeface="+mn-lt"/>
                  <a:cs typeface="+mn-lt"/>
                </a:rPr>
                <a:t>Seuils</a:t>
              </a:r>
              <a:endParaRPr lang="fr-FR" sz="1600" b="1">
                <a:solidFill>
                  <a:schemeClr val="tx2">
                    <a:lumMod val="49000"/>
                  </a:schemeClr>
                </a:solidFill>
                <a:ea typeface="Calibri"/>
                <a:cs typeface="Calibri"/>
              </a:endParaRPr>
            </a:p>
            <a:p>
              <a:pPr algn="ctr"/>
              <a:r>
                <a:rPr lang="fr-FR" b="1">
                  <a:solidFill>
                    <a:schemeClr val="tx2">
                      <a:lumMod val="49000"/>
                    </a:schemeClr>
                  </a:solidFill>
                  <a:ea typeface="Calibri"/>
                  <a:cs typeface="Calibri"/>
                </a:rPr>
                <a:t>4 tests</a:t>
              </a:r>
              <a:endParaRPr lang="en-US" b="1">
                <a:solidFill>
                  <a:schemeClr val="tx2">
                    <a:lumMod val="49000"/>
                  </a:schemeClr>
                </a:solidFill>
                <a:ea typeface="Calibri"/>
                <a:cs typeface="Calibri"/>
              </a:endParaRPr>
            </a:p>
            <a:p>
              <a:pPr algn="l"/>
              <a:endParaRPr lang="fr-FR" b="1">
                <a:solidFill>
                  <a:schemeClr val="tx2">
                    <a:lumMod val="49000"/>
                  </a:schemeClr>
                </a:solidFill>
                <a:ea typeface="Calibri"/>
                <a:cs typeface="Calibri"/>
              </a:endParaRPr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522998EA-89F5-59B6-05FF-73FE77AF6F89}"/>
                </a:ext>
              </a:extLst>
            </p:cNvPr>
            <p:cNvSpPr txBox="1"/>
            <p:nvPr/>
          </p:nvSpPr>
          <p:spPr>
            <a:xfrm>
              <a:off x="1233351" y="3248297"/>
              <a:ext cx="1660072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fr-FR" sz="1200">
                  <a:solidFill>
                    <a:srgbClr val="0B0B0B"/>
                  </a:solidFill>
                  <a:ea typeface="+mn-lt"/>
                  <a:cs typeface="+mn-lt"/>
                </a:rPr>
                <a:t>valeur = borne du pays</a:t>
              </a:r>
              <a:endParaRPr lang="fr-FR" sz="1200">
                <a:ea typeface="Calibri"/>
                <a:cs typeface="Calibri"/>
              </a:endParaRP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69EDD677-B01E-6F80-740D-BF61979BA2D7}"/>
                </a:ext>
              </a:extLst>
            </p:cNvPr>
            <p:cNvSpPr txBox="1"/>
            <p:nvPr/>
          </p:nvSpPr>
          <p:spPr>
            <a:xfrm>
              <a:off x="1372688" y="3763720"/>
              <a:ext cx="1397724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1100">
                  <a:solidFill>
                    <a:srgbClr val="0B0B0B"/>
                  </a:solidFill>
                  <a:ea typeface="+mn-lt"/>
                  <a:cs typeface="+mn-lt"/>
                </a:rPr>
                <a:t>dans la bande (≥, ≤)</a:t>
              </a:r>
              <a:endParaRPr lang="fr-FR"/>
            </a:p>
          </p:txBody>
        </p:sp>
      </p:grpSp>
      <p:sp>
        <p:nvSpPr>
          <p:cNvPr id="39" name="Flèche : bas 38">
            <a:extLst>
              <a:ext uri="{FF2B5EF4-FFF2-40B4-BE49-F238E27FC236}">
                <a16:creationId xmlns:a16="http://schemas.microsoft.com/office/drawing/2014/main" id="{999B23DF-C26E-D61D-D71C-E88799E7EDD6}"/>
              </a:ext>
            </a:extLst>
          </p:cNvPr>
          <p:cNvSpPr/>
          <p:nvPr/>
        </p:nvSpPr>
        <p:spPr>
          <a:xfrm>
            <a:off x="1965960" y="2964180"/>
            <a:ext cx="83820" cy="251460"/>
          </a:xfrm>
          <a:prstGeom prst="down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Flèche : bas 39">
            <a:extLst>
              <a:ext uri="{FF2B5EF4-FFF2-40B4-BE49-F238E27FC236}">
                <a16:creationId xmlns:a16="http://schemas.microsoft.com/office/drawing/2014/main" id="{EE3CEE02-B6F6-0C2D-F39B-58DCBE443C1E}"/>
              </a:ext>
            </a:extLst>
          </p:cNvPr>
          <p:cNvSpPr/>
          <p:nvPr/>
        </p:nvSpPr>
        <p:spPr>
          <a:xfrm>
            <a:off x="4834345" y="2964180"/>
            <a:ext cx="83820" cy="251460"/>
          </a:xfrm>
          <a:prstGeom prst="down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lèche : bas 40">
            <a:extLst>
              <a:ext uri="{FF2B5EF4-FFF2-40B4-BE49-F238E27FC236}">
                <a16:creationId xmlns:a16="http://schemas.microsoft.com/office/drawing/2014/main" id="{1EAA5D0F-C440-5B08-1A32-97172322E019}"/>
              </a:ext>
            </a:extLst>
          </p:cNvPr>
          <p:cNvSpPr/>
          <p:nvPr/>
        </p:nvSpPr>
        <p:spPr>
          <a:xfrm>
            <a:off x="7414259" y="2958737"/>
            <a:ext cx="83820" cy="251460"/>
          </a:xfrm>
          <a:prstGeom prst="down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lèche : droite 41">
            <a:extLst>
              <a:ext uri="{FF2B5EF4-FFF2-40B4-BE49-F238E27FC236}">
                <a16:creationId xmlns:a16="http://schemas.microsoft.com/office/drawing/2014/main" id="{BAB2F697-9432-C7AF-E9BB-ABC2DD33AD21}"/>
              </a:ext>
            </a:extLst>
          </p:cNvPr>
          <p:cNvSpPr/>
          <p:nvPr/>
        </p:nvSpPr>
        <p:spPr>
          <a:xfrm>
            <a:off x="4063637" y="3898174"/>
            <a:ext cx="190500" cy="45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lèche : droite 42">
            <a:extLst>
              <a:ext uri="{FF2B5EF4-FFF2-40B4-BE49-F238E27FC236}">
                <a16:creationId xmlns:a16="http://schemas.microsoft.com/office/drawing/2014/main" id="{ACF22A91-BDFE-0836-7396-E47343DDCF03}"/>
              </a:ext>
            </a:extLst>
          </p:cNvPr>
          <p:cNvSpPr/>
          <p:nvPr/>
        </p:nvSpPr>
        <p:spPr>
          <a:xfrm>
            <a:off x="6648994" y="3898174"/>
            <a:ext cx="190500" cy="45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3413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et industrialisation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 de test — isolation et consolidation (back-end central)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 couvrent l'isolation par pays et la consolidation multi-pays.</a:t>
            </a:r>
            <a:endParaRPr lang="en-US" sz="12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02920" y="1874520"/>
          <a:ext cx="8138160" cy="243230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 d'entrée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attendu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Portée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« tous pays » (*)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à n'importe quel pays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de son pays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BR interrogeant BR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autorisé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d'un autre pays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BR interrogeant EC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refusé (403)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multi-pays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lots de deux pays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lots fusionnés, tagués pays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Tolérance aux pannes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pays injoignable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ignoré, les autres renvoyés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Résilience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inconnu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pays invalide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 404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2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1B79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administrateur rattaché à un pays ne peut jamais consulter les données d'un autre pays.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14" name="Shape 11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5" name="Shape 12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3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285844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et industrialisation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Gestion des anomalies — cycle qualité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1417320" y="1524000"/>
            <a:ext cx="384048" cy="384048"/>
          </a:xfrm>
          <a:prstGeom prst="ellipse">
            <a:avLst/>
          </a:prstGeom>
          <a:solidFill>
            <a:srgbClr val="3968C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0" name="Text 8"/>
          <p:cNvSpPr/>
          <p:nvPr/>
        </p:nvSpPr>
        <p:spPr>
          <a:xfrm>
            <a:off x="1417320" y="1524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1965960" y="1485900"/>
            <a:ext cx="5760720" cy="45720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2" name="Text 10"/>
          <p:cNvSpPr/>
          <p:nvPr/>
        </p:nvSpPr>
        <p:spPr>
          <a:xfrm>
            <a:off x="2148840" y="14859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réussite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cas valide ses assertions ; la suite complète (31/31) doit être verte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417320" y="21844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4" name="Text 12"/>
          <p:cNvSpPr/>
          <p:nvPr/>
        </p:nvSpPr>
        <p:spPr>
          <a:xfrm>
            <a:off x="1417320" y="218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1965960" y="2146300"/>
            <a:ext cx="5760720" cy="457200"/>
          </a:xfrm>
          <a:prstGeom prst="rect">
            <a:avLst/>
          </a:prstGeom>
          <a:solidFill>
            <a:srgbClr val="E4F4EF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4"/>
          <p:cNvSpPr/>
          <p:nvPr/>
        </p:nvSpPr>
        <p:spPr>
          <a:xfrm>
            <a:off x="2148840" y="21463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&amp; correction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 échec ou dysfonctionnement signalé ; code corrigé, nouveau cas si besoin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1417320" y="28448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8" name="Text 16"/>
          <p:cNvSpPr/>
          <p:nvPr/>
        </p:nvSpPr>
        <p:spPr>
          <a:xfrm>
            <a:off x="1417320" y="284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1965960" y="2806700"/>
            <a:ext cx="5760720" cy="457200"/>
          </a:xfrm>
          <a:prstGeom prst="rect">
            <a:avLst/>
          </a:prstGeom>
          <a:solidFill>
            <a:srgbClr val="FBF1DD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0" name="Text 18"/>
          <p:cNvSpPr/>
          <p:nvPr/>
        </p:nvSpPr>
        <p:spPr>
          <a:xfrm>
            <a:off x="2148840" y="28067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&amp; non-régression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rejouée localement, puis systématiquement en CI à chaque commit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1417320" y="3505200"/>
            <a:ext cx="384048" cy="384048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1417320" y="3505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1965960" y="3467100"/>
            <a:ext cx="5760720" cy="457200"/>
          </a:xfrm>
          <a:prstGeom prst="rect">
            <a:avLst/>
          </a:prstGeom>
          <a:solidFill>
            <a:srgbClr val="ECE8F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4" name="Text 22"/>
          <p:cNvSpPr/>
          <p:nvPr/>
        </p:nvSpPr>
        <p:spPr>
          <a:xfrm>
            <a:off x="2148840" y="34671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publiés au format JUnit, consultables dans Jenkins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1417320" y="4165600"/>
            <a:ext cx="384048" cy="384048"/>
          </a:xfrm>
          <a:prstGeom prst="ellipse">
            <a:avLst/>
          </a:prstGeom>
          <a:solidFill>
            <a:srgbClr val="1B7967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4" name="Text 32"/>
          <p:cNvSpPr/>
          <p:nvPr/>
        </p:nvSpPr>
        <p:spPr>
          <a:xfrm>
            <a:off x="1417320" y="4165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1965960" y="4127500"/>
            <a:ext cx="5760720" cy="457200"/>
          </a:xfrm>
          <a:prstGeom prst="rect">
            <a:avLst/>
          </a:prstGeom>
          <a:solidFill>
            <a:srgbClr val="E9F3E4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6" name="Text 34"/>
          <p:cNvSpPr/>
          <p:nvPr/>
        </p:nvSpPr>
        <p:spPr>
          <a:xfrm>
            <a:off x="2148840" y="4127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  </a:t>
            </a:r>
            <a:r>
              <a:rPr lang="en-US" sz="9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 « anti-flapping » bloquerait toute régression future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0" name="Shape 38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1" name="Text 39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58697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et industrialisation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Chaîne d'intégration continue (CI)</a:t>
            </a:r>
            <a:endParaRPr lang="en-US" sz="260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0" name="Shape 8"/>
          <p:cNvSpPr/>
          <p:nvPr/>
        </p:nvSpPr>
        <p:spPr>
          <a:xfrm>
            <a:off x="685800" y="1741932"/>
            <a:ext cx="585216" cy="585216"/>
          </a:xfrm>
          <a:prstGeom prst="ellipse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1" name="Text 9"/>
          <p:cNvSpPr/>
          <p:nvPr/>
        </p:nvSpPr>
        <p:spPr>
          <a:xfrm>
            <a:off x="685800" y="17419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1417320" y="1709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Checkout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1417320" y="2039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du code depuis le dépôt Git.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709160" y="160020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5" name="Shape 13"/>
          <p:cNvSpPr/>
          <p:nvPr/>
        </p:nvSpPr>
        <p:spPr>
          <a:xfrm>
            <a:off x="4892040" y="1741932"/>
            <a:ext cx="585216" cy="585216"/>
          </a:xfrm>
          <a:prstGeom prst="ellipse">
            <a:avLst/>
          </a:prstGeom>
          <a:solidFill>
            <a:srgbClr val="503B7E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16" name="Text 14"/>
          <p:cNvSpPr/>
          <p:nvPr/>
        </p:nvSpPr>
        <p:spPr>
          <a:xfrm>
            <a:off x="4892040" y="17419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5623560" y="1709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623560" y="2039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tests automatisés, résultats publiés au format JUnit.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502920" y="2633472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0" name="Shape 18"/>
          <p:cNvSpPr/>
          <p:nvPr/>
        </p:nvSpPr>
        <p:spPr>
          <a:xfrm>
            <a:off x="685800" y="2775204"/>
            <a:ext cx="585216" cy="585216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1" name="Text 19"/>
          <p:cNvSpPr/>
          <p:nvPr/>
        </p:nvSpPr>
        <p:spPr>
          <a:xfrm>
            <a:off x="685800" y="27752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1417320" y="2743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Packaging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417320" y="30723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 JAR des back-ends + build de production du front.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709160" y="2633472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5" name="Shape 23"/>
          <p:cNvSpPr/>
          <p:nvPr/>
        </p:nvSpPr>
        <p:spPr>
          <a:xfrm>
            <a:off x="4892040" y="2775204"/>
            <a:ext cx="585216" cy="585216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26" name="Text 24"/>
          <p:cNvSpPr/>
          <p:nvPr/>
        </p:nvSpPr>
        <p:spPr>
          <a:xfrm>
            <a:off x="4892040" y="27752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5623560" y="2743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Images Docker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5623560" y="30723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des images conteneurisées des deux back-ends.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502920" y="3666744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30" name="Shape 28"/>
          <p:cNvSpPr/>
          <p:nvPr/>
        </p:nvSpPr>
        <p:spPr>
          <a:xfrm>
            <a:off x="685800" y="3808476"/>
            <a:ext cx="585216" cy="585216"/>
          </a:xfrm>
          <a:prstGeom prst="ellipse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1" name="Text 29"/>
          <p:cNvSpPr/>
          <p:nvPr/>
        </p:nvSpPr>
        <p:spPr>
          <a:xfrm>
            <a:off x="685800" y="38084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/>
          </a:p>
        </p:txBody>
      </p:sp>
      <p:sp>
        <p:nvSpPr>
          <p:cNvPr id="32" name="Text 30"/>
          <p:cNvSpPr/>
          <p:nvPr/>
        </p:nvSpPr>
        <p:spPr>
          <a:xfrm>
            <a:off x="1417320" y="37764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Archivage</a:t>
            </a:r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1417320" y="4105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des artefacts téléchargeables depuis Jenkins.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4709160" y="3666744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E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35" name="Shape 33"/>
          <p:cNvSpPr/>
          <p:nvPr/>
        </p:nvSpPr>
        <p:spPr>
          <a:xfrm>
            <a:off x="4892040" y="3808476"/>
            <a:ext cx="585216" cy="585216"/>
          </a:xfrm>
          <a:prstGeom prst="ellipse">
            <a:avLst/>
          </a:prstGeom>
          <a:solidFill>
            <a:srgbClr val="DEA345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6" name="Text 34"/>
          <p:cNvSpPr/>
          <p:nvPr/>
        </p:nvSpPr>
        <p:spPr>
          <a:xfrm>
            <a:off x="4892040" y="38084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✓</a:t>
            </a:r>
            <a:endParaRPr lang="en-US" sz="2200"/>
          </a:p>
        </p:txBody>
      </p:sp>
      <p:sp>
        <p:nvSpPr>
          <p:cNvPr id="37" name="Text 35"/>
          <p:cNvSpPr/>
          <p:nvPr/>
        </p:nvSpPr>
        <p:spPr>
          <a:xfrm>
            <a:off x="5623560" y="37764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B2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réussi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5623560" y="4105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d'échec d'une étape, le build est en erreur et rien n'est publié.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4" name="Shape 42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5" name="Text 43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611020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Qualité et industrialisation</a:t>
            </a:r>
            <a:endParaRPr lang="en-US" sz="15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9472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err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Preuves</a:t>
            </a:r>
            <a:r>
              <a:rPr lang="en-US" sz="24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2400" b="1" err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d'exécution</a:t>
            </a:r>
            <a:r>
              <a:rPr lang="en-US" sz="24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2400" b="1" err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intégration</a:t>
            </a:r>
            <a:r>
              <a:rPr lang="en-US" sz="24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 continue</a:t>
            </a:r>
            <a:endParaRPr lang="en-US" sz="2400">
              <a:latin typeface="Bookman Old Style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31" name="Shape 2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2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  <a:endParaRPr lang="en-US" sz="1100"/>
          </a:p>
        </p:txBody>
      </p:sp>
      <p:pic>
        <p:nvPicPr>
          <p:cNvPr id="34" name="Picture 33" descr="jenk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07" y="1165586"/>
            <a:ext cx="7548141" cy="345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880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Bookman Old Style"/>
                <a:ea typeface="Calibri"/>
                <a:cs typeface="Calibri"/>
              </a:rPr>
              <a:t>Qualité et industrialisation</a:t>
            </a:r>
            <a:endParaRPr lang="en-US" sz="15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B7967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Preuves d'exécution — déploiement Kubernetes</a:t>
            </a:r>
            <a:endParaRPr lang="en-US" sz="3000"/>
          </a:p>
        </p:txBody>
      </p:sp>
      <p:sp>
        <p:nvSpPr>
          <p:cNvPr id="29" name="Text 23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31" name="Shape 25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26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ea typeface="Calibri"/>
                <a:cs typeface="Calibri"/>
              </a:rPr>
              <a:t>27</a:t>
            </a:r>
          </a:p>
        </p:txBody>
      </p:sp>
      <p:sp>
        <p:nvSpPr>
          <p:cNvPr id="201" name="Caption"/>
          <p:cNvSpPr txBox="1"/>
          <p:nvPr/>
        </p:nvSpPr>
        <p:spPr>
          <a:xfrm>
            <a:off x="762000" y="43180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400" i="1">
                <a:solidFill>
                  <a:srgbClr val="2B2B3A"/>
                </a:solidFill>
                <a:latin typeface="Calibri" pitchFamily="34" charset="0"/>
              </a:rPr>
              <a:t>Tous les services Running ; redémarrages automatiques = auto-réparation.</a:t>
            </a:r>
          </a:p>
        </p:txBody>
      </p:sp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72EDB58-D363-9762-C103-DCC70A3E6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6039"/>
            <a:ext cx="7788727" cy="143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694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55F56A-5074-21B4-83DD-4FA8E7B28A89}"/>
              </a:ext>
            </a:extLst>
          </p:cNvPr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EDCD28-876B-3C8B-5DB6-562A302747A7}"/>
              </a:ext>
            </a:extLst>
          </p:cNvPr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6C195C-4E00-C7A1-609B-F6648A35CF96}"/>
              </a:ext>
            </a:extLst>
          </p:cNvPr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5A76CCD-287B-A041-83F0-D51CDF391B43}"/>
              </a:ext>
            </a:extLst>
          </p:cNvPr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819086-35C5-B500-9B9D-A23B5904798A}"/>
              </a:ext>
            </a:extLst>
          </p:cNvPr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D3AEEF-6E25-6267-2881-ADA9910FBAA9}"/>
              </a:ext>
            </a:extLst>
          </p:cNvPr>
          <p:cNvSpPr/>
          <p:nvPr/>
        </p:nvSpPr>
        <p:spPr>
          <a:xfrm>
            <a:off x="302198" y="0"/>
            <a:ext cx="3485313" cy="58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FFFFFF"/>
                </a:solidFill>
                <a:latin typeface="Bookman Old Style"/>
              </a:rPr>
              <a:t>Déploiement Kubernetes</a:t>
            </a:r>
            <a:endParaRPr lang="en-US" sz="1400">
              <a:solidFill>
                <a:srgbClr val="000000"/>
              </a:solidFill>
              <a:latin typeface="Bookman Old Style"/>
            </a:endParaRPr>
          </a:p>
          <a:p>
            <a:endParaRPr lang="en-US" sz="1050" b="1">
              <a:solidFill>
                <a:srgbClr val="FFFFFF"/>
              </a:solidFill>
              <a:latin typeface="Bookman Old Style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EE2CD52-224E-720F-341F-A120A19D374C}"/>
              </a:ext>
            </a:extLst>
          </p:cNvPr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AC675372-C9B3-D292-770B-D3398AF846BE}"/>
              </a:ext>
            </a:extLst>
          </p:cNvPr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04207210-19D6-0ACE-4245-9B78FC35D69E}"/>
              </a:ext>
            </a:extLst>
          </p:cNvPr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D40FD9C5-9114-6A91-7E29-18170EFE36B1}"/>
              </a:ext>
            </a:extLst>
          </p:cNvPr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91C2086B-5F2F-C200-AEF3-AF78CC6804EF}"/>
              </a:ext>
            </a:extLst>
          </p:cNvPr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ea typeface="Calibri"/>
                <a:cs typeface="Calibri"/>
              </a:rPr>
              <a:t>28</a:t>
            </a: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E1E7F9D-1E21-B294-4518-5D1557FBC7A3}"/>
              </a:ext>
            </a:extLst>
          </p:cNvPr>
          <p:cNvSpPr/>
          <p:nvPr/>
        </p:nvSpPr>
        <p:spPr>
          <a:xfrm>
            <a:off x="735807" y="1254166"/>
            <a:ext cx="2813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400" b="1" err="1">
                <a:solidFill>
                  <a:srgbClr val="0070C0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Mécanismes</a:t>
            </a:r>
            <a:r>
              <a:rPr lang="en-US" sz="1400" b="1">
                <a:solidFill>
                  <a:srgbClr val="0070C0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 de </a:t>
            </a:r>
            <a:r>
              <a:rPr lang="en-US" sz="1400" b="1" err="1">
                <a:solidFill>
                  <a:srgbClr val="0070C0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résilience</a:t>
            </a:r>
            <a:endParaRPr lang="en-US" sz="1400">
              <a:solidFill>
                <a:srgbClr val="0070C0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CB61457-46C4-D1F9-4022-F14CEA230FD6}"/>
              </a:ext>
            </a:extLst>
          </p:cNvPr>
          <p:cNvSpPr/>
          <p:nvPr/>
        </p:nvSpPr>
        <p:spPr>
          <a:xfrm>
            <a:off x="565990" y="1576929"/>
            <a:ext cx="2572293" cy="51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/>
              <a:buChar char="§"/>
            </a:pPr>
            <a:r>
              <a:rPr lang="en-US" sz="1050" b="1">
                <a:solidFill>
                  <a:srgbClr val="000000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Sondes liveness/readiness :</a:t>
            </a:r>
            <a:endParaRPr lang="en-US" sz="105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C0C448B-7F2D-A7FE-9EB6-83AF84B62E74}"/>
              </a:ext>
            </a:extLst>
          </p:cNvPr>
          <p:cNvSpPr/>
          <p:nvPr/>
        </p:nvSpPr>
        <p:spPr>
          <a:xfrm>
            <a:off x="734175" y="1870843"/>
            <a:ext cx="3429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err="1">
                <a:latin typeface="Calibri"/>
                <a:ea typeface="Calibri"/>
                <a:cs typeface="Calibri"/>
              </a:rPr>
              <a:t>Redémarrage</a:t>
            </a:r>
            <a:r>
              <a:rPr lang="en-US" sz="1200"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latin typeface="Calibri"/>
                <a:ea typeface="Calibri"/>
                <a:cs typeface="Calibri"/>
              </a:rPr>
              <a:t>automatique</a:t>
            </a:r>
            <a:r>
              <a:rPr lang="en-US" sz="1200">
                <a:latin typeface="Calibri"/>
                <a:ea typeface="Calibri"/>
                <a:cs typeface="Calibri"/>
              </a:rPr>
              <a:t> d'un </a:t>
            </a:r>
            <a:r>
              <a:rPr lang="en-US" sz="1200" err="1">
                <a:latin typeface="Calibri"/>
                <a:ea typeface="Calibri"/>
                <a:cs typeface="Calibri"/>
              </a:rPr>
              <a:t>conteneur</a:t>
            </a:r>
            <a:r>
              <a:rPr lang="en-US" sz="1200"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latin typeface="Calibri"/>
                <a:ea typeface="Calibri"/>
                <a:cs typeface="Calibri"/>
              </a:rPr>
              <a:t>défaillant</a:t>
            </a:r>
            <a:r>
              <a:rPr lang="en-US" sz="1200">
                <a:latin typeface="Calibri"/>
                <a:ea typeface="Calibri"/>
                <a:cs typeface="Calibri"/>
              </a:rPr>
              <a:t>;</a:t>
            </a: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6E43D8C-CF30-607F-D066-445B1EC6BBF7}"/>
              </a:ext>
            </a:extLst>
          </p:cNvPr>
          <p:cNvSpPr/>
          <p:nvPr/>
        </p:nvSpPr>
        <p:spPr>
          <a:xfrm>
            <a:off x="565990" y="2395534"/>
            <a:ext cx="14401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/>
              <a:buChar char="§"/>
            </a:pPr>
            <a:r>
              <a:rPr lang="en-US" sz="1050" b="1" err="1">
                <a:latin typeface="Bookman Old Style"/>
                <a:ea typeface="Bookman Old Style" pitchFamily="34" charset="-122"/>
                <a:cs typeface="Bookman Old Style" pitchFamily="34" charset="-120"/>
              </a:rPr>
              <a:t>Réplication</a:t>
            </a:r>
            <a:r>
              <a:rPr lang="en-US" sz="1050" b="1">
                <a:latin typeface="Bookman Old Style"/>
                <a:ea typeface="Bookman Old Style" pitchFamily="34" charset="-122"/>
                <a:cs typeface="Bookman Old Style" pitchFamily="34" charset="-120"/>
              </a:rPr>
              <a:t> :</a:t>
            </a:r>
            <a:endParaRPr lang="en-US" sz="1050" err="1">
              <a:latin typeface="Bookman Old Style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089E4781-7285-4F02-CE25-61C3856B5931}"/>
              </a:ext>
            </a:extLst>
          </p:cNvPr>
          <p:cNvSpPr/>
          <p:nvPr/>
        </p:nvSpPr>
        <p:spPr>
          <a:xfrm>
            <a:off x="734175" y="2624134"/>
            <a:ext cx="3429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 back-end central est </a:t>
            </a:r>
            <a:r>
              <a:rPr lang="en-US" sz="12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répliqué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2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plusieurs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instances);</a:t>
            </a: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D66B273E-C48C-84C8-B2D1-3035B5307CD5}"/>
              </a:ext>
            </a:extLst>
          </p:cNvPr>
          <p:cNvSpPr/>
          <p:nvPr/>
        </p:nvSpPr>
        <p:spPr>
          <a:xfrm>
            <a:off x="565991" y="3203253"/>
            <a:ext cx="1663335" cy="47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/>
              <a:buChar char="§"/>
            </a:pPr>
            <a:r>
              <a:rPr lang="en-US" sz="1050" b="1" err="1">
                <a:latin typeface="Bookman Old Style"/>
                <a:ea typeface="Bookman Old Style" pitchFamily="34" charset="-122"/>
                <a:cs typeface="Bookman Old Style" pitchFamily="34" charset="-120"/>
              </a:rPr>
              <a:t>ConfigMap</a:t>
            </a:r>
            <a:r>
              <a:rPr lang="en-US" sz="1050" b="1">
                <a:latin typeface="Bookman Old Style"/>
                <a:ea typeface="Bookman Old Style" pitchFamily="34" charset="-122"/>
                <a:cs typeface="Bookman Old Style" pitchFamily="34" charset="-120"/>
              </a:rPr>
              <a:t> / Secret :</a:t>
            </a:r>
            <a:endParaRPr lang="en-US" sz="1050" b="1">
              <a:latin typeface="Bookman Old Style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A1CD6C43-05F7-D250-1495-5E004C209B02}"/>
              </a:ext>
            </a:extLst>
          </p:cNvPr>
          <p:cNvSpPr/>
          <p:nvPr/>
        </p:nvSpPr>
        <p:spPr>
          <a:xfrm>
            <a:off x="734175" y="3437296"/>
            <a:ext cx="3429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latin typeface="Calibri"/>
                <a:ea typeface="Calibri"/>
                <a:cs typeface="Calibri"/>
              </a:rPr>
              <a:t>Configuration et secrets </a:t>
            </a:r>
            <a:r>
              <a:rPr lang="en-US" sz="1200" err="1">
                <a:latin typeface="Calibri"/>
                <a:ea typeface="Calibri"/>
                <a:cs typeface="Calibri"/>
              </a:rPr>
              <a:t>externalisés</a:t>
            </a:r>
            <a:r>
              <a:rPr lang="en-US" sz="1200">
                <a:latin typeface="Calibri"/>
                <a:ea typeface="Calibri"/>
                <a:cs typeface="Calibri"/>
              </a:rPr>
              <a:t>, </a:t>
            </a:r>
            <a:r>
              <a:rPr lang="en-US" sz="1200" err="1">
                <a:latin typeface="Calibri"/>
                <a:ea typeface="Calibri"/>
                <a:cs typeface="Calibri"/>
              </a:rPr>
              <a:t>séparés</a:t>
            </a:r>
            <a:r>
              <a:rPr lang="en-US" sz="1200">
                <a:latin typeface="Calibri"/>
                <a:ea typeface="Calibri"/>
                <a:cs typeface="Calibri"/>
              </a:rPr>
              <a:t> du code. </a:t>
            </a: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87C24FA0-2603-EEBB-7167-75A6C183E05C}"/>
              </a:ext>
            </a:extLst>
          </p:cNvPr>
          <p:cNvSpPr/>
          <p:nvPr/>
        </p:nvSpPr>
        <p:spPr>
          <a:xfrm>
            <a:off x="5724187" y="1297710"/>
            <a:ext cx="2149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err="1">
                <a:solidFill>
                  <a:srgbClr val="0070C0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Limites</a:t>
            </a:r>
            <a:r>
              <a:rPr lang="en-US" sz="1400" b="1">
                <a:solidFill>
                  <a:srgbClr val="0070C0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 &amp; perspectives</a:t>
            </a:r>
            <a:endParaRPr lang="en-US" sz="1400" b="1">
              <a:solidFill>
                <a:srgbClr val="0070C0"/>
              </a:solidFill>
              <a:latin typeface="Bookman Old Style"/>
            </a:endParaRPr>
          </a:p>
        </p:txBody>
      </p:sp>
      <p:sp>
        <p:nvSpPr>
          <p:cNvPr id="57" name="Text 30">
            <a:extLst>
              <a:ext uri="{FF2B5EF4-FFF2-40B4-BE49-F238E27FC236}">
                <a16:creationId xmlns:a16="http://schemas.microsoft.com/office/drawing/2014/main" id="{385E67F9-F662-6CB5-2129-C24C16E11EE8}"/>
              </a:ext>
            </a:extLst>
          </p:cNvPr>
          <p:cNvSpPr/>
          <p:nvPr/>
        </p:nvSpPr>
        <p:spPr>
          <a:xfrm>
            <a:off x="565446" y="4037100"/>
            <a:ext cx="7406640" cy="57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Rolling updates sans interruption de service : les mises à jour progressives </a:t>
            </a:r>
            <a:r>
              <a:rPr lang="en-US" sz="1200" b="1" err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complètent</a:t>
            </a:r>
            <a:r>
              <a:rPr lang="en-US"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 le </a:t>
            </a:r>
            <a:r>
              <a:rPr lang="en-US" sz="1200" b="1" err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dispositif</a:t>
            </a:r>
            <a:r>
              <a:rPr lang="en-US"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200" b="1" err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résilience</a:t>
            </a:r>
            <a:r>
              <a:rPr lang="en-US" sz="12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034C9AB-4D37-9AE8-9413-3D711B40199A}"/>
              </a:ext>
            </a:extLst>
          </p:cNvPr>
          <p:cNvSpPr txBox="1"/>
          <p:nvPr/>
        </p:nvSpPr>
        <p:spPr>
          <a:xfrm>
            <a:off x="5722620" y="1735181"/>
            <a:ext cx="2506980" cy="14487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200">
                <a:ea typeface="+mn-lt"/>
                <a:cs typeface="+mn-lt"/>
              </a:rPr>
              <a:t>Cluster local uniquement </a:t>
            </a:r>
            <a:endParaRPr lang="fr-FR" sz="12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200">
                <a:ea typeface="+mn-lt"/>
                <a:cs typeface="+mn-lt"/>
              </a:rPr>
              <a:t>Cloud non provisionné</a:t>
            </a:r>
            <a:endParaRPr lang="fr-FR" sz="12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200">
                <a:ea typeface="+mn-lt"/>
                <a:cs typeface="+mn-lt"/>
              </a:rPr>
              <a:t>Déploiement manuel </a:t>
            </a:r>
            <a:endParaRPr lang="fr-FR" sz="12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200">
                <a:ea typeface="+mn-lt"/>
                <a:cs typeface="+mn-lt"/>
              </a:rPr>
              <a:t>Sécurité à renforcer</a:t>
            </a:r>
            <a:endParaRPr lang="fr-FR" sz="1200">
              <a:ea typeface="Calibri"/>
              <a:cs typeface="Calibri"/>
            </a:endParaRPr>
          </a:p>
          <a:p>
            <a:pPr algn="l">
              <a:lnSpc>
                <a:spcPct val="150000"/>
              </a:lnSpc>
            </a:pPr>
            <a:endParaRPr lang="fr-FR" sz="1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5739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66928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3246120" y="0"/>
            <a:ext cx="777240" cy="566928"/>
          </a:xfrm>
          <a:prstGeom prst="chevron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0" y="603504"/>
            <a:ext cx="3337560" cy="182880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971800" y="603504"/>
            <a:ext cx="640080" cy="182880"/>
          </a:xfrm>
          <a:prstGeom prst="chevron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502920" cy="274320"/>
          </a:xfrm>
          <a:prstGeom prst="chevron">
            <a:avLst/>
          </a:prstGeom>
          <a:solidFill>
            <a:srgbClr val="2E235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7" name="Text 5"/>
          <p:cNvSpPr/>
          <p:nvPr/>
        </p:nvSpPr>
        <p:spPr>
          <a:xfrm>
            <a:off x="274320" y="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Qualité et industrialisation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57200" y="211908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79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Démonstration technique — live</a:t>
            </a:r>
            <a:endParaRPr lang="en-US" sz="2600"/>
          </a:p>
        </p:txBody>
      </p:sp>
      <p:sp>
        <p:nvSpPr>
          <p:cNvPr id="37" name="Text 35"/>
          <p:cNvSpPr/>
          <p:nvPr/>
        </p:nvSpPr>
        <p:spPr>
          <a:xfrm>
            <a:off x="3200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5A5A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FutureKawa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industrialisation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1234440" cy="146304"/>
          </a:xfrm>
          <a:prstGeom prst="rect">
            <a:avLst/>
          </a:prstGeom>
          <a:solidFill>
            <a:srgbClr val="D0C6E8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0" name="Shape 38"/>
          <p:cNvSpPr/>
          <p:nvPr/>
        </p:nvSpPr>
        <p:spPr>
          <a:xfrm>
            <a:off x="8229600" y="4773168"/>
            <a:ext cx="914400" cy="365760"/>
          </a:xfrm>
          <a:prstGeom prst="chevron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1" name="Text 39"/>
          <p:cNvSpPr/>
          <p:nvPr/>
        </p:nvSpPr>
        <p:spPr>
          <a:xfrm>
            <a:off x="8229600" y="4773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853329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3A2B62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4069080" y="1234440"/>
            <a:ext cx="1005840" cy="1005840"/>
          </a:xfrm>
          <a:prstGeom prst="ellipse">
            <a:avLst/>
          </a:prstGeom>
          <a:solidFill>
            <a:srgbClr val="22A890"/>
          </a:solidFill>
          <a:ln/>
        </p:spPr>
        <p:txBody>
          <a:bodyPr/>
          <a:lstStyle/>
          <a:p>
            <a:endParaRPr lang="fr-D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657" y="150601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23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Merci de </a:t>
            </a:r>
            <a:r>
              <a:rPr lang="en-US" sz="4200" b="1" err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votre</a:t>
            </a:r>
            <a:r>
              <a:rPr lang="en-US" sz="4200" b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attention</a:t>
            </a:r>
            <a:endParaRPr lang="en-US"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2237B36-DC85-4BDF-A9EC-2B28B047FF04}">
  <we:reference id="WA200010725" version="1.0.0.1" store="en-US" storeType="omex"/>
  <we:alternateReferences>
    <we:reference id="WA200010725" version="1.0.0.1" store="omex" storeType="omex"/>
  </we:alternateReferences>
  <we:properties>
    <we:property name="claude.fileId" value="&quot;57660fdc-96c8-442e-90af-5d0be9bda90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66CDCF9E3F4D4B9CE571FDE9A90EB0" ma:contentTypeVersion="8" ma:contentTypeDescription="Crée un document." ma:contentTypeScope="" ma:versionID="01b90f627406228a96dff9a1019d02eb">
  <xsd:schema xmlns:xsd="http://www.w3.org/2001/XMLSchema" xmlns:xs="http://www.w3.org/2001/XMLSchema" xmlns:p="http://schemas.microsoft.com/office/2006/metadata/properties" xmlns:ns3="af54c5cc-3f77-4341-8269-1bbefab4c925" targetNamespace="http://schemas.microsoft.com/office/2006/metadata/properties" ma:root="true" ma:fieldsID="ec647b6ca6f058e385c8172a17048833" ns3:_="">
    <xsd:import namespace="af54c5cc-3f77-4341-8269-1bbefab4c92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54c5cc-3f77-4341-8269-1bbefab4c92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54c5cc-3f77-4341-8269-1bbefab4c925" xsi:nil="true"/>
  </documentManagement>
</p:properties>
</file>

<file path=customXml/itemProps1.xml><?xml version="1.0" encoding="utf-8"?>
<ds:datastoreItem xmlns:ds="http://schemas.openxmlformats.org/officeDocument/2006/customXml" ds:itemID="{480F5FBE-5F47-40FC-B30E-45921382AB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7F832C-62DC-41EE-830D-7A8C76120E71}">
  <ds:schemaRefs>
    <ds:schemaRef ds:uri="af54c5cc-3f77-4341-8269-1bbefab4c9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A9FB042-1A2C-4E12-AE79-428283D4C3F2}">
  <ds:schemaRefs>
    <ds:schemaRef ds:uri="af54c5cc-3f77-4341-8269-1bbefab4c9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2406</Words>
  <Application>Microsoft Office PowerPoint</Application>
  <PresentationFormat>Affichage à l'écran (16:9)</PresentationFormat>
  <Paragraphs>440</Paragraphs>
  <Slides>30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43" baseType="lpstr">
      <vt:lpstr>Arial</vt:lpstr>
      <vt:lpstr>Bookman Old Style</vt:lpstr>
      <vt:lpstr>Calibri</vt:lpstr>
      <vt:lpstr>Calibri (MS)</vt:lpstr>
      <vt:lpstr>Calibri (MS) Bold</vt:lpstr>
      <vt:lpstr>Inter</vt:lpstr>
      <vt:lpstr>Inter Bold</vt:lpstr>
      <vt:lpstr>Telegraf</vt:lpstr>
      <vt:lpstr>Times New Roman</vt:lpstr>
      <vt:lpstr>TT Phobos Bold</vt:lpstr>
      <vt:lpstr>TT Phobos Italics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GouvData — Soutenance MSPR Big Data &amp; BI</dc:title>
  <dc:subject>PptxGenJS Presentation</dc:subject>
  <dc:creator>Equipe GouvData</dc:creator>
  <cp:lastModifiedBy>CHELGHOUM Sofiane</cp:lastModifiedBy>
  <cp:revision>24</cp:revision>
  <dcterms:created xsi:type="dcterms:W3CDTF">2026-06-16T15:49:18Z</dcterms:created>
  <dcterms:modified xsi:type="dcterms:W3CDTF">2026-07-09T06:57:12Z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0x0101003566CDCF9E3F4D4B9CE571FDE9A90EB0</vt:lpwstr>
  </property>
</Properties>
</file>